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7e49d21d7541df" /><Relationship Type="http://schemas.openxmlformats.org/officeDocument/2006/relationships/extended-properties" Target="/docProps/app.xml" Id="Rced3de20b5274256" /><Relationship Type="http://schemas.openxmlformats.org/officeDocument/2006/relationships/officeDocument" Target="/ppt/presentation.xml" Id="R2f7803fa351b4bb2" /></Relationships>
</file>

<file path=ppt/presentation.xml><?xml version="1.0" encoding="utf-8"?>
<p:presentation xmlns:p="http://schemas.openxmlformats.org/presentationml/2006/main">
  <p:sldMasterIdLst>
    <p:sldMasterId xmlns:r="http://schemas.openxmlformats.org/officeDocument/2006/relationships" id="2147483648" r:id="R2a3eac85b16e4185"/>
  </p:sldMasterIdLst>
  <p:notesMasterIdLst>
    <p:notesMasterId xmlns:r="http://schemas.openxmlformats.org/officeDocument/2006/relationships" r:id="Rea866ba76afa4dcb"/>
  </p:notesMasterIdLst>
  <p:sldIdLst>
    <p:sldId xmlns:r="http://schemas.openxmlformats.org/officeDocument/2006/relationships" id="256" r:id="Rb5cde904cec34529"/>
    <p:sldId xmlns:r="http://schemas.openxmlformats.org/officeDocument/2006/relationships" id="257" r:id="R99f1d402a4ff4f56"/>
    <p:sldId xmlns:r="http://schemas.openxmlformats.org/officeDocument/2006/relationships" id="258" r:id="R0a0cddaeb2a14265"/>
    <p:sldId xmlns:r="http://schemas.openxmlformats.org/officeDocument/2006/relationships" id="259" r:id="R929ce5dae8384f17"/>
    <p:sldId xmlns:r="http://schemas.openxmlformats.org/officeDocument/2006/relationships" id="260" r:id="R276d3cc085c1451f"/>
    <p:sldId xmlns:r="http://schemas.openxmlformats.org/officeDocument/2006/relationships" id="261" r:id="R22a9126c265d46f0"/>
    <p:sldId xmlns:r="http://schemas.openxmlformats.org/officeDocument/2006/relationships" id="262" r:id="Rc8d6b2faee524d0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1186ada6e14140" /><Relationship Type="http://schemas.openxmlformats.org/officeDocument/2006/relationships/slideMaster" Target="/ppt/slideMasters/slideMaster1.xml" Id="R2a3eac85b16e4185" /><Relationship Type="http://schemas.openxmlformats.org/officeDocument/2006/relationships/notesMaster" Target="/ppt/notesMasters/notesMaster1.xml" Id="Rea866ba76afa4dcb" /><Relationship Type="http://schemas.openxmlformats.org/officeDocument/2006/relationships/presProps" Target="/ppt/presProps.xml" Id="R8a8f95d0c36b407f" /><Relationship Type="http://schemas.openxmlformats.org/officeDocument/2006/relationships/tableStyles" Target="/ppt/tableStyles.xml" Id="R2302a5ce12484273" /><Relationship Type="http://schemas.openxmlformats.org/officeDocument/2006/relationships/slide" Target="/ppt/slides/slide1.xml" Id="Rb5cde904cec34529" /><Relationship Type="http://schemas.openxmlformats.org/officeDocument/2006/relationships/slide" Target="/ppt/slides/slide2.xml" Id="R99f1d402a4ff4f56" /><Relationship Type="http://schemas.openxmlformats.org/officeDocument/2006/relationships/slide" Target="/ppt/slides/slide3.xml" Id="R0a0cddaeb2a14265" /><Relationship Type="http://schemas.openxmlformats.org/officeDocument/2006/relationships/slide" Target="/ppt/slides/slide4.xml" Id="R929ce5dae8384f17" /><Relationship Type="http://schemas.openxmlformats.org/officeDocument/2006/relationships/slide" Target="/ppt/slides/slide5.xml" Id="R276d3cc085c1451f" /><Relationship Type="http://schemas.openxmlformats.org/officeDocument/2006/relationships/slide" Target="/ppt/slides/slide6.xml" Id="R22a9126c265d46f0" /><Relationship Type="http://schemas.openxmlformats.org/officeDocument/2006/relationships/slide" Target="/ppt/slides/slide7.xml" Id="Rc8d6b2faee524d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7405a0c26648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29d5bbe35d4211" /><Relationship Type="http://schemas.openxmlformats.org/officeDocument/2006/relationships/notesMaster" Target="/ppt/notesMasters/notesMaster1.xml" Id="R27bca1c299ee40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23f7c25738449b" /><Relationship Type="http://schemas.openxmlformats.org/officeDocument/2006/relationships/notesMaster" Target="/ppt/notesMasters/notesMaster1.xml" Id="Rc4a83fcd5fd446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9485078f784785" /><Relationship Type="http://schemas.openxmlformats.org/officeDocument/2006/relationships/notesMaster" Target="/ppt/notesMasters/notesMaster1.xml" Id="Rb2ed5725ed884b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4065b793dc4dae" /><Relationship Type="http://schemas.openxmlformats.org/officeDocument/2006/relationships/notesMaster" Target="/ppt/notesMasters/notesMaster1.xml" Id="Rd919caba45aa42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487323bea34e3f" /><Relationship Type="http://schemas.openxmlformats.org/officeDocument/2006/relationships/notesMaster" Target="/ppt/notesMasters/notesMaster1.xml" Id="Rb5fcbe7d513944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65ce6ecc6c4ecc" /><Relationship Type="http://schemas.openxmlformats.org/officeDocument/2006/relationships/notesMaster" Target="/ppt/notesMasters/notesMaster1.xml" Id="Re82e13a72def49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8fb0b0bf104ea1" /><Relationship Type="http://schemas.openxmlformats.org/officeDocument/2006/relationships/notesMaster" Target="/ppt/notesMasters/notesMaster1.xml" Id="Rf322255301ea4e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Open Consulting logo. Generated unbranded laptop support asset. Native website screenshot inserted into its screen. Product is in preparation. Original source: prototypes/single/previews/desktop.jpg. Russian above Turkish. Native UI elements are illustrative product mockups explicitly requested by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concept based on owner requirements. Vacancy names, cities and experience details are examples, not live listings. Interactive role switch shows both sides of the proposed product. No adoption or performance claims. Russian above Turkish. Native UI elements are illustrative product mockups explicitly requested by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 illustration is generated, not a real person, application or recorded video. Questions and recorder controls demonstrate the planned format. Video optional. Full-body view is an example recording format. No automated judgment of appearance or hiring. Russian above Turkish. Native UI elements are illustrative product mockups explicitly requested by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application flow: vacancy details, reusable profile, application. Profile fields and name are demo examples. No real application is sent from this presentation. Russian above Turkish. Native UI elements are illustrative product mockups explicitly requested by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employer workspace. Candidate names, locations, experience and content are demo data. Employer reviews profiles and decides whom to invite and hire. No actual invitation is sent. Russian above Turkish. Native UI elements are illustrative product mockups explicitly requested by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browser access on desktop and mobile. Planned languages Russian, Kazakh, Turkish and English. Planned geography Kazakhstan, Turkey and unspecified CIS countries. No native application or launch date is promised. Phone support asset generated and screen represents a concept. Russian above Turkish. Native UI elements are illustrative product mockups explicitly requested by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summary of proposed Open Consulting recruiting platform. Product is forthcoming, no launch date, commercial terms or partner commitments stated. Russian above Turkish. Native UI elements are illustrative product mockups explicitly requested by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a0c2635b7640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f814806c894fdc" /><Relationship Type="http://schemas.openxmlformats.org/officeDocument/2006/relationships/slideLayout" Target="/ppt/slideLayouts/slideLayout1.xml" Id="R0df01e50d62040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f01e50d62040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d9202f54a945ce" /><Relationship Type="http://schemas.openxmlformats.org/officeDocument/2006/relationships/image" Target="/ppt/media/image.png" Id="R7e9180d8e3ef4e16" /><Relationship Type="http://schemas.openxmlformats.org/officeDocument/2006/relationships/image" Target="/ppt/media/image2.png" Id="R49ca0355465f41b9" /><Relationship Type="http://schemas.openxmlformats.org/officeDocument/2006/relationships/image" Target="/ppt/media/image3.png" Id="R1bea03ca65584b49" /><Relationship Type="http://schemas.openxmlformats.org/officeDocument/2006/relationships/notesSlide" Target="/ppt/notesSlides/notesSlide1.xml" Id="Rc9a7f22f671240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e1de9bffd44d4a" /><Relationship Type="http://schemas.openxmlformats.org/officeDocument/2006/relationships/image" Target="/ppt/media/image4.png" Id="R80b000193c95406f" /><Relationship Type="http://schemas.openxmlformats.org/officeDocument/2006/relationships/notesSlide" Target="/ppt/notesSlides/notesSlide2.xml" Id="Rb1dfd5a1df4a43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630a1775cc4607" /><Relationship Type="http://schemas.openxmlformats.org/officeDocument/2006/relationships/image" Target="/ppt/media/image5.png" Id="Rca9e19b78fb24856" /><Relationship Type="http://schemas.openxmlformats.org/officeDocument/2006/relationships/image" Target="/ppt/media/image6.png" Id="R9778afc518d74f83" /><Relationship Type="http://schemas.openxmlformats.org/officeDocument/2006/relationships/notesSlide" Target="/ppt/notesSlides/notesSlide3.xml" Id="R3896c46f3e4c41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560e0d6c3246e8" /><Relationship Type="http://schemas.openxmlformats.org/officeDocument/2006/relationships/image" Target="/ppt/media/image7.png" Id="R75b9f60d53594968" /><Relationship Type="http://schemas.openxmlformats.org/officeDocument/2006/relationships/notesSlide" Target="/ppt/notesSlides/notesSlide4.xml" Id="R978de8b3f60b4c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eb9ecf4b304ba8" /><Relationship Type="http://schemas.openxmlformats.org/officeDocument/2006/relationships/image" Target="/ppt/media/image8.png" Id="R75ff121c664a44b2" /><Relationship Type="http://schemas.openxmlformats.org/officeDocument/2006/relationships/notesSlide" Target="/ppt/notesSlides/notesSlide5.xml" Id="Ra8e9ff8e4fe04b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1065376924412d" /><Relationship Type="http://schemas.openxmlformats.org/officeDocument/2006/relationships/image" Target="/ppt/media/image9.png" Id="Rb3fb5a4b71734d82" /><Relationship Type="http://schemas.openxmlformats.org/officeDocument/2006/relationships/image" Target="/ppt/media/image10.png" Id="R1f0de48f72c848ce" /><Relationship Type="http://schemas.openxmlformats.org/officeDocument/2006/relationships/notesSlide" Target="/ppt/notesSlides/notesSlide6.xml" Id="Rd38cb67c22dd43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c53b50db1e4f18" /><Relationship Type="http://schemas.openxmlformats.org/officeDocument/2006/relationships/image" Target="/ppt/media/image11.png" Id="Rc7e03888778849d4" /><Relationship Type="http://schemas.openxmlformats.org/officeDocument/2006/relationships/notesSlide" Target="/ppt/notesSlides/notesSlide7.xml" Id="R353c02b5dd114b2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e9180d8e3ef4e16"/>
          <a:srcRect xmlns:a="http://schemas.openxmlformats.org/drawingml/2006/main" l="0" t="37298" r="0" b="37298"/>
          <a:stretch xmlns:a="http://schemas.openxmlformats.org/drawingml/2006/main">
            <a:fillRect l="0" t="0" r="0" b="0"/>
          </a:stretch>
        </p:blipFill>
        <p:spPr>
          <a:xfrm xmlns:a="http://schemas.openxmlformats.org/drawingml/2006/main">
            <a:off x="723900" y="438150"/>
            <a:ext cx="2362200" cy="600075"/>
          </a:xfrm>
          <a:prstGeom xmlns:a="http://schemas.openxmlformats.org/drawingml/2006/main" prst="rect">
            <a:avLst/>
          </a:prstGeom>
        </p:spPr>
      </p:pic>
      <p:sp>
        <p:nvSpPr>
          <p:cNvPr id="2" name="ru-title">
            <a:extLst xmlns:a="http://schemas.openxmlformats.org/drawingml/2006/main">
              <a:ext uri="{FF2B5EF4-FFF2-40B4-BE49-F238E27FC236}">
                <a16:creationId xmlns:a16="http://schemas.microsoft.com/office/drawing/2014/main" id="{EAD71A20-E418-4E31-982E-8FC0FB4FC21D}"/>
              </a:ext>
            </a:extLst>
          </p:cNvPr>
          <p:cNvSpPr>
            <a:spLocks xmlns:a="http://schemas.openxmlformats.org/drawingml/2006/main" noGrp="1"/>
          </p:cNvSpPr>
          <p:nvPr/>
        </p:nvSpPr>
        <p:spPr>
          <a:xfrm xmlns:a="http://schemas.openxmlformats.org/drawingml/2006/main">
            <a:off x="723900" y="1695450"/>
            <a:ext cx="6381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202226"/>
                </a:solidFill>
                <a:latin typeface="Arial"/>
                <a:ea typeface="Arial"/>
                <a:cs typeface="Arial"/>
              </a:defRPr>
            </a:pPr>
            <a:r>
              <a:rPr sz="4875" b="1">
                <a:solidFill>
                  <a:srgbClr val="202226"/>
                </a:solidFill>
                <a:latin typeface="Arial"/>
                <a:ea typeface="Arial"/>
                <a:cs typeface="Arial"/>
              </a:rPr>
              <a:t>Поиск работы.</a:t>
            </a:r>
          </a:p>
          <a:p xmlns:a="http://schemas.openxmlformats.org/drawingml/2006/main">
            <a:pPr>
              <a:defRPr sz="4875" b="1">
                <a:solidFill>
                  <a:srgbClr val="202226"/>
                </a:solidFill>
                <a:latin typeface="Arial"/>
                <a:ea typeface="Arial"/>
                <a:cs typeface="Arial"/>
              </a:defRPr>
            </a:pPr>
            <a:r>
              <a:rPr sz="4875" b="1">
                <a:solidFill>
                  <a:srgbClr val="202226"/>
                </a:solidFill>
                <a:latin typeface="Arial"/>
                <a:ea typeface="Arial"/>
                <a:cs typeface="Arial"/>
              </a:rPr>
              <a:t>Знакомство</a:t>
            </a:r>
          </a:p>
          <a:p xmlns:a="http://schemas.openxmlformats.org/drawingml/2006/main">
            <a:pPr>
              <a:defRPr sz="4875" b="1">
                <a:solidFill>
                  <a:srgbClr val="202226"/>
                </a:solidFill>
                <a:latin typeface="Arial"/>
                <a:ea typeface="Arial"/>
                <a:cs typeface="Arial"/>
              </a:defRPr>
            </a:pPr>
            <a:r>
              <a:rPr sz="4875" b="1">
                <a:solidFill>
                  <a:srgbClr val="202226"/>
                </a:solidFill>
                <a:latin typeface="Arial"/>
                <a:ea typeface="Arial"/>
                <a:cs typeface="Arial"/>
              </a:rPr>
              <a:t>с кандидатом.</a:t>
            </a:r>
          </a:p>
        </p:txBody>
      </p:sp>
      <p:sp>
        <p:nvSpPr>
          <p:cNvPr id="3" name="ru-body">
            <a:extLst xmlns:a="http://schemas.openxmlformats.org/drawingml/2006/main">
              <a:ext uri="{FF2B5EF4-FFF2-40B4-BE49-F238E27FC236}">
                <a16:creationId xmlns:a16="http://schemas.microsoft.com/office/drawing/2014/main" id="{803B1194-D12D-45DB-9058-0A7FD627266C}"/>
              </a:ext>
            </a:extLst>
          </p:cNvPr>
          <p:cNvSpPr>
            <a:spLocks xmlns:a="http://schemas.openxmlformats.org/drawingml/2006/main" noGrp="1"/>
          </p:cNvSpPr>
          <p:nvPr/>
        </p:nvSpPr>
        <p:spPr>
          <a:xfrm xmlns:a="http://schemas.openxmlformats.org/drawingml/2006/main">
            <a:off x="723900" y="4019550"/>
            <a:ext cx="647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2676D"/>
                </a:solidFill>
                <a:latin typeface="Arial"/>
                <a:ea typeface="Arial"/>
                <a:cs typeface="Arial"/>
              </a:defRPr>
            </a:pPr>
            <a:r>
              <a:rPr sz="2175" b="0">
                <a:solidFill>
                  <a:srgbClr val="62676D"/>
                </a:solidFill>
                <a:latin typeface="Arial"/>
                <a:ea typeface="Arial"/>
                <a:cs typeface="Arial"/>
              </a:rPr>
              <a:t>Мы создаём платформу с вакансиями,</a:t>
            </a:r>
          </a:p>
          <a:p xmlns:a="http://schemas.openxmlformats.org/drawingml/2006/main">
            <a:pPr>
              <a:defRPr sz="2175" b="0">
                <a:solidFill>
                  <a:srgbClr val="62676D"/>
                </a:solidFill>
                <a:latin typeface="Arial"/>
                <a:ea typeface="Arial"/>
                <a:cs typeface="Arial"/>
              </a:defRPr>
            </a:pPr>
            <a:r>
              <a:rPr sz="2175" b="0">
                <a:solidFill>
                  <a:srgbClr val="62676D"/>
                </a:solidFill>
                <a:latin typeface="Arial"/>
                <a:ea typeface="Arial"/>
                <a:cs typeface="Arial"/>
              </a:rPr>
              <a:t>анкетами и видеоответами.</a:t>
            </a:r>
          </a:p>
        </p:txBody>
      </p:sp>
      <p:sp>
        <p:nvSpPr>
          <p:cNvPr id="4" name="tr-title">
            <a:extLst xmlns:a="http://schemas.openxmlformats.org/drawingml/2006/main">
              <a:ext uri="{FF2B5EF4-FFF2-40B4-BE49-F238E27FC236}">
                <a16:creationId xmlns:a16="http://schemas.microsoft.com/office/drawing/2014/main" id="{71AA4305-7452-4D17-BA8F-193D408C7C67}"/>
              </a:ext>
            </a:extLst>
          </p:cNvPr>
          <p:cNvSpPr>
            <a:spLocks xmlns:a="http://schemas.openxmlformats.org/drawingml/2006/main" noGrp="1"/>
          </p:cNvSpPr>
          <p:nvPr/>
        </p:nvSpPr>
        <p:spPr>
          <a:xfrm xmlns:a="http://schemas.openxmlformats.org/drawingml/2006/main">
            <a:off x="723900" y="5676900"/>
            <a:ext cx="638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02226"/>
                </a:solidFill>
                <a:latin typeface="Arial"/>
                <a:ea typeface="Arial"/>
                <a:cs typeface="Arial"/>
              </a:defRPr>
            </a:pPr>
            <a:r>
              <a:rPr sz="3225" b="1">
                <a:solidFill>
                  <a:srgbClr val="202226"/>
                </a:solidFill>
                <a:latin typeface="Arial"/>
                <a:ea typeface="Arial"/>
                <a:cs typeface="Arial"/>
              </a:rPr>
              <a:t>İş arama.</a:t>
            </a:r>
          </a:p>
          <a:p xmlns:a="http://schemas.openxmlformats.org/drawingml/2006/main">
            <a:pPr>
              <a:defRPr sz="3225" b="1">
                <a:solidFill>
                  <a:srgbClr val="202226"/>
                </a:solidFill>
                <a:latin typeface="Arial"/>
                <a:ea typeface="Arial"/>
                <a:cs typeface="Arial"/>
              </a:defRPr>
            </a:pPr>
            <a:r>
              <a:rPr sz="3225" b="1">
                <a:solidFill>
                  <a:srgbClr val="202226"/>
                </a:solidFill>
                <a:latin typeface="Arial"/>
                <a:ea typeface="Arial"/>
                <a:cs typeface="Arial"/>
              </a:rPr>
              <a:t>Adaylarla tanışma.</a:t>
            </a:r>
          </a:p>
        </p:txBody>
      </p:sp>
      <p:sp>
        <p:nvSpPr>
          <p:cNvPr id="5" name="tr-body">
            <a:extLst xmlns:a="http://schemas.openxmlformats.org/drawingml/2006/main">
              <a:ext uri="{FF2B5EF4-FFF2-40B4-BE49-F238E27FC236}">
                <a16:creationId xmlns:a16="http://schemas.microsoft.com/office/drawing/2014/main" id="{555AA86F-01E0-4943-B7A8-71BA1A7F9D4D}"/>
              </a:ext>
            </a:extLst>
          </p:cNvPr>
          <p:cNvSpPr>
            <a:spLocks xmlns:a="http://schemas.openxmlformats.org/drawingml/2006/main" noGrp="1"/>
          </p:cNvSpPr>
          <p:nvPr/>
        </p:nvSpPr>
        <p:spPr>
          <a:xfrm xmlns:a="http://schemas.openxmlformats.org/drawingml/2006/main">
            <a:off x="723900" y="6962775"/>
            <a:ext cx="657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76D"/>
                </a:solidFill>
                <a:latin typeface="Arial"/>
                <a:ea typeface="Arial"/>
                <a:cs typeface="Arial"/>
              </a:defRPr>
            </a:pPr>
            <a:r>
              <a:rPr sz="1950" b="0">
                <a:solidFill>
                  <a:srgbClr val="62676D"/>
                </a:solidFill>
                <a:latin typeface="Arial"/>
                <a:ea typeface="Arial"/>
                <a:cs typeface="Arial"/>
              </a:rPr>
              <a:t>İş ilanlarını, aday profillerini ve video</a:t>
            </a:r>
          </a:p>
          <a:p xmlns:a="http://schemas.openxmlformats.org/drawingml/2006/main">
            <a:pPr>
              <a:defRPr sz="1950" b="0">
                <a:solidFill>
                  <a:srgbClr val="62676D"/>
                </a:solidFill>
                <a:latin typeface="Arial"/>
                <a:ea typeface="Arial"/>
                <a:cs typeface="Arial"/>
              </a:defRPr>
            </a:pPr>
            <a:r>
              <a:rPr sz="1950" b="0">
                <a:solidFill>
                  <a:srgbClr val="62676D"/>
                </a:solidFill>
                <a:latin typeface="Arial"/>
                <a:ea typeface="Arial"/>
                <a:cs typeface="Arial"/>
              </a:rPr>
              <a:t>yanıtlarını bir araya getiren bir platform.</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9ca0355465f41b9"/>
          <a:stretch xmlns:a="http://schemas.openxmlformats.org/drawingml/2006/main"/>
        </p:blipFill>
        <p:spPr>
          <a:xfrm xmlns:a="http://schemas.openxmlformats.org/drawingml/2006/main">
            <a:off x="6762750" y="1962150"/>
            <a:ext cx="8286750" cy="55245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bea03ca65584b49"/>
          <a:stretch xmlns:a="http://schemas.openxmlformats.org/drawingml/2006/main"/>
        </p:blipFill>
        <p:spPr>
          <a:xfrm xmlns:a="http://schemas.openxmlformats.org/drawingml/2006/main">
            <a:off x="7680315" y="2426018"/>
            <a:ext cx="6451620" cy="3614738"/>
          </a:xfrm>
          <a:prstGeom xmlns:a="http://schemas.openxmlformats.org/drawingml/2006/main" prst="rect">
            <a:avLst/>
          </a:prstGeom>
        </p:spPr>
      </p:pic>
      <p:sp>
        <p:nvSpPr>
          <p:cNvPr id="8" name="disclosure-ru">
            <a:extLst xmlns:a="http://schemas.openxmlformats.org/drawingml/2006/main">
              <a:ext uri="{FF2B5EF4-FFF2-40B4-BE49-F238E27FC236}">
                <a16:creationId xmlns:a16="http://schemas.microsoft.com/office/drawing/2014/main" id="{83CC3F4E-810B-4A0B-99CF-998DED2DFA34}"/>
              </a:ext>
            </a:extLst>
          </p:cNvPr>
          <p:cNvSpPr>
            <a:spLocks xmlns:a="http://schemas.openxmlformats.org/drawingml/2006/main" noGrp="1"/>
          </p:cNvSpPr>
          <p:nvPr/>
        </p:nvSpPr>
        <p:spPr>
          <a:xfrm xmlns:a="http://schemas.openxmlformats.org/drawingml/2006/main">
            <a:off x="9096375" y="74485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2676D"/>
                </a:solidFill>
                <a:latin typeface="Arial"/>
                <a:ea typeface="Arial"/>
                <a:cs typeface="Arial"/>
              </a:defRPr>
            </a:pPr>
            <a:r>
              <a:rPr sz="1425" b="0">
                <a:solidFill>
                  <a:srgbClr val="62676D"/>
                </a:solidFill>
                <a:latin typeface="Arial"/>
                <a:ea typeface="Arial"/>
                <a:cs typeface="Arial"/>
              </a:rPr>
              <a:t>Предварительный интерфейс</a:t>
            </a:r>
          </a:p>
        </p:txBody>
      </p:sp>
      <p:sp>
        <p:nvSpPr>
          <p:cNvPr id="9" name="disclosure-tr">
            <a:extLst xmlns:a="http://schemas.openxmlformats.org/drawingml/2006/main">
              <a:ext uri="{FF2B5EF4-FFF2-40B4-BE49-F238E27FC236}">
                <a16:creationId xmlns:a16="http://schemas.microsoft.com/office/drawing/2014/main" id="{802F43A2-8556-4A36-A884-2AB10B290C63}"/>
              </a:ext>
            </a:extLst>
          </p:cNvPr>
          <p:cNvSpPr>
            <a:spLocks xmlns:a="http://schemas.openxmlformats.org/drawingml/2006/main" noGrp="1"/>
          </p:cNvSpPr>
          <p:nvPr/>
        </p:nvSpPr>
        <p:spPr>
          <a:xfrm xmlns:a="http://schemas.openxmlformats.org/drawingml/2006/main">
            <a:off x="9096375" y="77533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2676D"/>
                </a:solidFill>
                <a:latin typeface="Arial"/>
                <a:ea typeface="Arial"/>
                <a:cs typeface="Arial"/>
              </a:defRPr>
            </a:pPr>
            <a:r>
              <a:rPr sz="1425" b="0">
                <a:solidFill>
                  <a:srgbClr val="62676D"/>
                </a:solidFill>
                <a:latin typeface="Arial"/>
                <a:ea typeface="Arial"/>
                <a:cs typeface="Arial"/>
              </a:rPr>
              <a:t>Ön tasarım</a:t>
            </a:r>
          </a:p>
        </p:txBody>
      </p:sp>
    </p:spTree>
    <p:extLst>
      <p:ext uri="{BB962C8B-B14F-4D97-AF65-F5344CB8AC3E}">
        <p14:creationId xmlns:p14="http://schemas.microsoft.com/office/powerpoint/2010/main" val="813839280"/>
      </p:ext>
    </p:extLst>
  </p:cSld>
</p:sld>
</file>

<file path=ppt/slides/slide2.xml><?xml version="1.0" encoding="utf-8"?>
<p:sld xmlns:p="http://schemas.openxmlformats.org/presentationml/2006/main">
  <p:cSld>
    <p:bg>
      <p:bgPr>
        <a:solidFill xmlns:a="http://schemas.openxmlformats.org/drawingml/2006/main">
          <a:srgbClr val="202226"/>
        </a:solidFill>
      </p:bgPr>
    </p:bg>
    <p:spTree>
      <p:nvGrpSpPr>
        <p:cNvPr id="1" name=""/>
        <p:cNvGrpSpPr/>
        <p:nvPr/>
      </p:nvGrpSpPr>
      <p:grpSpPr>
        <a:xfrm xmlns:a="http://schemas.openxmlformats.org/drawingml/2006/main"/>
      </p:grpSpPr>
      <p:sp>
        <p:nvSpPr>
          <p:cNvPr id="34" name="editorial-left">
            <a:extLst xmlns:a="http://schemas.openxmlformats.org/drawingml/2006/main">
              <a:ext uri="{FF2B5EF4-FFF2-40B4-BE49-F238E27FC236}">
                <a16:creationId xmlns:a16="http://schemas.microsoft.com/office/drawing/2014/main" id="{70C31E27-B9C2-4D43-96B4-ACB4B6EA7D8B}"/>
              </a:ext>
            </a:extLst>
          </p:cNvPr>
          <p:cNvSpPr>
            <a:spLocks xmlns:a="http://schemas.openxmlformats.org/drawingml/2006/main" noGrp="1"/>
          </p:cNvSpPr>
          <p:nvPr/>
        </p:nvSpPr>
        <p:spPr>
          <a:xfrm xmlns:a="http://schemas.openxmlformats.org/drawingml/2006/main">
            <a:off x="0" y="1333500"/>
            <a:ext cx="6191250" cy="7239000"/>
          </a:xfrm>
          <a:prstGeom xmlns:a="http://schemas.openxmlformats.org/drawingml/2006/main" prst="rect">
            <a:avLst/>
          </a:prstGeom>
          <a:solidFill xmlns:a="http://schemas.openxmlformats.org/drawingml/2006/main">
            <a:srgbClr val="ED3027"/>
          </a:solidFill>
          <a:ln xmlns:a="http://schemas.openxmlformats.org/drawingml/2006/main" w="0">
            <a:noFill/>
          </a:ln>
        </p:spPr>
      </p:sp>
      <p:sp>
        <p:nvSpPr>
          <p:cNvPr id="2" name="product-stage">
            <a:extLst xmlns:a="http://schemas.openxmlformats.org/drawingml/2006/main">
              <a:ext uri="{FF2B5EF4-FFF2-40B4-BE49-F238E27FC236}">
                <a16:creationId xmlns:a16="http://schemas.microsoft.com/office/drawing/2014/main" id="{ABBD3634-1BF3-4051-91B1-41D8D9A3542A}"/>
              </a:ext>
            </a:extLst>
          </p:cNvPr>
          <p:cNvSpPr>
            <a:spLocks xmlns:a="http://schemas.openxmlformats.org/drawingml/2006/main" noGrp="1"/>
          </p:cNvSpPr>
          <p:nvPr/>
        </p:nvSpPr>
        <p:spPr>
          <a:xfrm xmlns:a="http://schemas.openxmlformats.org/drawingml/2006/main">
            <a:off x="6191250" y="1333500"/>
            <a:ext cx="9048750" cy="7239000"/>
          </a:xfrm>
          <a:prstGeom xmlns:a="http://schemas.openxmlformats.org/drawingml/2006/main" prst="rect">
            <a:avLst/>
          </a:prstGeom>
          <a:solidFill xmlns:a="http://schemas.openxmlformats.org/drawingml/2006/main">
            <a:srgbClr val="F3F0EB"/>
          </a:solidFill>
          <a:ln xmlns:a="http://schemas.openxmlformats.org/drawingml/2006/main" w="0">
            <a:noFill/>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0b000193c95406f"/>
          <a:srcRect xmlns:a="http://schemas.openxmlformats.org/drawingml/2006/main" l="0" t="37298" r="0" b="37298"/>
          <a:stretch xmlns:a="http://schemas.openxmlformats.org/drawingml/2006/main">
            <a:fillRect l="0" t="0" r="0" b="0"/>
          </a:stretch>
        </p:blipFill>
        <p:spPr>
          <a:xfrm xmlns:a="http://schemas.openxmlformats.org/drawingml/2006/main">
            <a:off x="723900" y="438150"/>
            <a:ext cx="2362200" cy="600075"/>
          </a:xfrm>
          <a:prstGeom xmlns:a="http://schemas.openxmlformats.org/drawingml/2006/main" prst="rect">
            <a:avLst/>
          </a:prstGeom>
        </p:spPr>
      </p:pic>
      <p:sp>
        <p:nvSpPr>
          <p:cNvPr id="4" name="section">
            <a:extLst xmlns:a="http://schemas.openxmlformats.org/drawingml/2006/main">
              <a:ext uri="{FF2B5EF4-FFF2-40B4-BE49-F238E27FC236}">
                <a16:creationId xmlns:a16="http://schemas.microsoft.com/office/drawing/2014/main" id="{8D22BD3C-3911-4B65-BE7D-559B110C0945}"/>
              </a:ext>
            </a:extLst>
          </p:cNvPr>
          <p:cNvSpPr>
            <a:spLocks xmlns:a="http://schemas.openxmlformats.org/drawingml/2006/main" noGrp="1"/>
          </p:cNvSpPr>
          <p:nvPr/>
        </p:nvSpPr>
        <p:spPr>
          <a:xfrm xmlns:a="http://schemas.openxmlformats.org/drawingml/2006/main">
            <a:off x="9572625" y="5905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9DCDF"/>
                </a:solidFill>
                <a:latin typeface="Arial"/>
                <a:ea typeface="Arial"/>
                <a:cs typeface="Arial"/>
              </a:defRPr>
            </a:pPr>
            <a:r>
              <a:rPr sz="1650" b="0">
                <a:solidFill>
                  <a:srgbClr val="D9DCDF"/>
                </a:solidFill>
                <a:latin typeface="Arial"/>
                <a:ea typeface="Arial"/>
                <a:cs typeface="Arial"/>
              </a:rPr>
              <a:t>Платформа для найма / İşe alım platformu</a:t>
            </a:r>
          </a:p>
        </p:txBody>
      </p:sp>
      <p:sp>
        <p:nvSpPr>
          <p:cNvPr id="5" name="ru-title">
            <a:extLst xmlns:a="http://schemas.openxmlformats.org/drawingml/2006/main">
              <a:ext uri="{FF2B5EF4-FFF2-40B4-BE49-F238E27FC236}">
                <a16:creationId xmlns:a16="http://schemas.microsoft.com/office/drawing/2014/main" id="{BA942154-47F2-4521-98DF-AAC6CA838EB8}"/>
              </a:ext>
            </a:extLst>
          </p:cNvPr>
          <p:cNvSpPr>
            <a:spLocks xmlns:a="http://schemas.openxmlformats.org/drawingml/2006/main" noGrp="1"/>
          </p:cNvSpPr>
          <p:nvPr/>
        </p:nvSpPr>
        <p:spPr>
          <a:xfrm xmlns:a="http://schemas.openxmlformats.org/drawingml/2006/main">
            <a:off x="723900" y="1704975"/>
            <a:ext cx="50958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Поиск работы</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и подбор</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сотрудников</a:t>
            </a:r>
          </a:p>
        </p:txBody>
      </p:sp>
      <p:sp>
        <p:nvSpPr>
          <p:cNvPr id="6" name="ru-body">
            <a:extLst xmlns:a="http://schemas.openxmlformats.org/drawingml/2006/main">
              <a:ext uri="{FF2B5EF4-FFF2-40B4-BE49-F238E27FC236}">
                <a16:creationId xmlns:a16="http://schemas.microsoft.com/office/drawing/2014/main" id="{C639E4D8-3DD1-4CF0-9439-748324600670}"/>
              </a:ext>
            </a:extLst>
          </p:cNvPr>
          <p:cNvSpPr>
            <a:spLocks xmlns:a="http://schemas.openxmlformats.org/drawingml/2006/main" noGrp="1"/>
          </p:cNvSpPr>
          <p:nvPr/>
        </p:nvSpPr>
        <p:spPr>
          <a:xfrm xmlns:a="http://schemas.openxmlformats.org/drawingml/2006/main">
            <a:off x="723900" y="4410075"/>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Вакансии, анкеты и видеоответы</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в одном продукте.</a:t>
            </a:r>
          </a:p>
        </p:txBody>
      </p:sp>
      <p:sp>
        <p:nvSpPr>
          <p:cNvPr id="7" name="tr-title">
            <a:extLst xmlns:a="http://schemas.openxmlformats.org/drawingml/2006/main">
              <a:ext uri="{FF2B5EF4-FFF2-40B4-BE49-F238E27FC236}">
                <a16:creationId xmlns:a16="http://schemas.microsoft.com/office/drawing/2014/main" id="{E192F1EC-7734-4069-9DA3-90CDCC2557DD}"/>
              </a:ext>
            </a:extLst>
          </p:cNvPr>
          <p:cNvSpPr>
            <a:spLocks xmlns:a="http://schemas.openxmlformats.org/drawingml/2006/main" noGrp="1"/>
          </p:cNvSpPr>
          <p:nvPr/>
        </p:nvSpPr>
        <p:spPr>
          <a:xfrm xmlns:a="http://schemas.openxmlformats.org/drawingml/2006/main">
            <a:off x="723900" y="6057900"/>
            <a:ext cx="5000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İş arama ve</a:t>
            </a:r>
          </a:p>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çalışan bulma</a:t>
            </a:r>
          </a:p>
        </p:txBody>
      </p:sp>
      <p:sp>
        <p:nvSpPr>
          <p:cNvPr id="8" name="tr-body">
            <a:extLst xmlns:a="http://schemas.openxmlformats.org/drawingml/2006/main">
              <a:ext uri="{FF2B5EF4-FFF2-40B4-BE49-F238E27FC236}">
                <a16:creationId xmlns:a16="http://schemas.microsoft.com/office/drawing/2014/main" id="{867945AE-BA6D-4F7A-BA3B-48E11A3DE052}"/>
              </a:ext>
            </a:extLst>
          </p:cNvPr>
          <p:cNvSpPr>
            <a:spLocks xmlns:a="http://schemas.openxmlformats.org/drawingml/2006/main" noGrp="1"/>
          </p:cNvSpPr>
          <p:nvPr/>
        </p:nvSpPr>
        <p:spPr>
          <a:xfrm xmlns:a="http://schemas.openxmlformats.org/drawingml/2006/main">
            <a:off x="723900" y="7410450"/>
            <a:ext cx="504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E6E3"/>
                </a:solidFill>
                <a:latin typeface="Arial"/>
                <a:ea typeface="Arial"/>
                <a:cs typeface="Arial"/>
              </a:defRPr>
            </a:pPr>
            <a:r>
              <a:rPr sz="1800" b="0">
                <a:solidFill>
                  <a:srgbClr val="FFE6E3"/>
                </a:solidFill>
                <a:latin typeface="Arial"/>
                <a:ea typeface="Arial"/>
                <a:cs typeface="Arial"/>
              </a:rPr>
              <a:t>İş ilanları, aday profilleri ve video</a:t>
            </a:r>
          </a:p>
          <a:p xmlns:a="http://schemas.openxmlformats.org/drawingml/2006/main">
            <a:pPr>
              <a:defRPr sz="1800" b="0">
                <a:solidFill>
                  <a:srgbClr val="FFE6E3"/>
                </a:solidFill>
                <a:latin typeface="Arial"/>
                <a:ea typeface="Arial"/>
                <a:cs typeface="Arial"/>
              </a:defRPr>
            </a:pPr>
            <a:r>
              <a:rPr sz="1800" b="0">
                <a:solidFill>
                  <a:srgbClr val="FFE6E3"/>
                </a:solidFill>
                <a:latin typeface="Arial"/>
                <a:ea typeface="Arial"/>
                <a:cs typeface="Arial"/>
              </a:rPr>
              <a:t>yanıtları tek bir platformda.</a:t>
            </a:r>
          </a:p>
        </p:txBody>
      </p:sp>
      <p:sp>
        <p:nvSpPr>
          <p:cNvPr id="9" name="screen">
            <a:extLst xmlns:a="http://schemas.openxmlformats.org/drawingml/2006/main">
              <a:ext uri="{FF2B5EF4-FFF2-40B4-BE49-F238E27FC236}">
                <a16:creationId xmlns:a16="http://schemas.microsoft.com/office/drawing/2014/main" id="{8B126774-C5A3-4254-B887-638AFE1869D1}"/>
              </a:ext>
            </a:extLst>
          </p:cNvPr>
          <p:cNvSpPr>
            <a:spLocks xmlns:a="http://schemas.openxmlformats.org/drawingml/2006/main" noGrp="1"/>
          </p:cNvSpPr>
          <p:nvPr/>
        </p:nvSpPr>
        <p:spPr>
          <a:xfrm xmlns:a="http://schemas.openxmlformats.org/drawingml/2006/main">
            <a:off x="6781800" y="2238375"/>
            <a:ext cx="786765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EDBD5"/>
            </a:solidFill>
          </a:ln>
        </p:spPr>
      </p:sp>
      <p:sp>
        <p:nvSpPr>
          <p:cNvPr id="10" name="screen-header">
            <a:extLst xmlns:a="http://schemas.openxmlformats.org/drawingml/2006/main">
              <a:ext uri="{FF2B5EF4-FFF2-40B4-BE49-F238E27FC236}">
                <a16:creationId xmlns:a16="http://schemas.microsoft.com/office/drawing/2014/main" id="{E1F99151-63C5-41AC-9932-6D9A1014115F}"/>
              </a:ext>
            </a:extLst>
          </p:cNvPr>
          <p:cNvSpPr>
            <a:spLocks xmlns:a="http://schemas.openxmlformats.org/drawingml/2006/main" noGrp="1"/>
          </p:cNvSpPr>
          <p:nvPr/>
        </p:nvSpPr>
        <p:spPr>
          <a:xfrm xmlns:a="http://schemas.openxmlformats.org/drawingml/2006/main">
            <a:off x="6781800" y="2238375"/>
            <a:ext cx="7867650" cy="752475"/>
          </a:xfrm>
          <a:prstGeom xmlns:a="http://schemas.openxmlformats.org/drawingml/2006/main" prst="rect">
            <a:avLst/>
          </a:prstGeom>
          <a:solidFill xmlns:a="http://schemas.openxmlformats.org/drawingml/2006/main">
            <a:srgbClr val="FAF9F7"/>
          </a:solidFill>
          <a:ln xmlns:a="http://schemas.openxmlformats.org/drawingml/2006/main" w="0">
            <a:noFill/>
          </a:ln>
        </p:spPr>
      </p:sp>
      <p:sp>
        <p:nvSpPr>
          <p:cNvPr id="11" name="screen-brand">
            <a:extLst xmlns:a="http://schemas.openxmlformats.org/drawingml/2006/main">
              <a:ext uri="{FF2B5EF4-FFF2-40B4-BE49-F238E27FC236}">
                <a16:creationId xmlns:a16="http://schemas.microsoft.com/office/drawing/2014/main" id="{D544E3ED-573D-4968-AF21-5BC5FBDE3085}"/>
              </a:ext>
            </a:extLst>
          </p:cNvPr>
          <p:cNvSpPr>
            <a:spLocks xmlns:a="http://schemas.openxmlformats.org/drawingml/2006/main" noGrp="1"/>
          </p:cNvSpPr>
          <p:nvPr/>
        </p:nvSpPr>
        <p:spPr>
          <a:xfrm xmlns:a="http://schemas.openxmlformats.org/drawingml/2006/main">
            <a:off x="7067550" y="2438400"/>
            <a:ext cx="2838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02226"/>
                </a:solidFill>
                <a:latin typeface="Arial"/>
                <a:ea typeface="Arial"/>
                <a:cs typeface="Arial"/>
              </a:defRPr>
            </a:pPr>
            <a:r>
              <a:rPr sz="1800" b="1">
                <a:solidFill>
                  <a:srgbClr val="202226"/>
                </a:solidFill>
                <a:latin typeface="Arial"/>
                <a:ea typeface="Arial"/>
                <a:cs typeface="Arial"/>
              </a:rPr>
              <a:t>OPEN consulting</a:t>
            </a:r>
          </a:p>
        </p:txBody>
      </p:sp>
      <p:sp>
        <p:nvSpPr>
          <p:cNvPr id="12" name="screen-nav">
            <a:extLst xmlns:a="http://schemas.openxmlformats.org/drawingml/2006/main">
              <a:ext uri="{FF2B5EF4-FFF2-40B4-BE49-F238E27FC236}">
                <a16:creationId xmlns:a16="http://schemas.microsoft.com/office/drawing/2014/main" id="{77427FB2-66D8-4198-B20A-8E636A597AA5}"/>
              </a:ext>
            </a:extLst>
          </p:cNvPr>
          <p:cNvSpPr>
            <a:spLocks xmlns:a="http://schemas.openxmlformats.org/drawingml/2006/main" noGrp="1"/>
          </p:cNvSpPr>
          <p:nvPr/>
        </p:nvSpPr>
        <p:spPr>
          <a:xfrm xmlns:a="http://schemas.openxmlformats.org/drawingml/2006/main">
            <a:off x="10267950" y="24955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3777B"/>
                </a:solidFill>
                <a:latin typeface="Arial"/>
                <a:ea typeface="Arial"/>
                <a:cs typeface="Arial"/>
              </a:defRPr>
            </a:pPr>
            <a:r>
              <a:rPr sz="1500" b="0">
                <a:solidFill>
                  <a:srgbClr val="73777B"/>
                </a:solidFill>
                <a:latin typeface="Arial"/>
                <a:ea typeface="Arial"/>
                <a:cs typeface="Arial"/>
              </a:rPr>
              <a:t>Вакансии     Моя анкета</a:t>
            </a:r>
          </a:p>
        </p:txBody>
      </p:sp>
      <p:sp>
        <p:nvSpPr>
          <p:cNvPr id="13" name="role-context">
            <a:extLst xmlns:a="http://schemas.openxmlformats.org/drawingml/2006/main">
              <a:ext uri="{FF2B5EF4-FFF2-40B4-BE49-F238E27FC236}">
                <a16:creationId xmlns:a16="http://schemas.microsoft.com/office/drawing/2014/main" id="{405CAE19-B074-4B8C-AE05-49FE6FDABB43}"/>
              </a:ext>
            </a:extLst>
          </p:cNvPr>
          <p:cNvSpPr>
            <a:spLocks xmlns:a="http://schemas.openxmlformats.org/drawingml/2006/main" noGrp="1"/>
          </p:cNvSpPr>
          <p:nvPr/>
        </p:nvSpPr>
        <p:spPr>
          <a:xfrm xmlns:a="http://schemas.openxmlformats.org/drawingml/2006/main">
            <a:off x="6953250" y="1552575"/>
            <a:ext cx="6762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02226"/>
                </a:solidFill>
                <a:latin typeface="Arial"/>
                <a:ea typeface="Arial"/>
                <a:cs typeface="Arial"/>
              </a:defRPr>
            </a:pPr>
            <a:r>
              <a:rPr sz="1800" b="1">
                <a:solidFill>
                  <a:srgbClr val="202226"/>
                </a:solidFill>
                <a:latin typeface="Arial"/>
                <a:ea typeface="Arial"/>
                <a:cs typeface="Arial"/>
              </a:rPr>
              <a:t>Соискателю / İş arayan</a:t>
            </a:r>
          </a:p>
        </p:txBody>
      </p:sp>
      <p:sp>
        <p:nvSpPr>
          <p:cNvPr id="14" name="screen-title">
            <a:extLst xmlns:a="http://schemas.openxmlformats.org/drawingml/2006/main">
              <a:ext uri="{FF2B5EF4-FFF2-40B4-BE49-F238E27FC236}">
                <a16:creationId xmlns:a16="http://schemas.microsoft.com/office/drawing/2014/main" id="{5070B73E-AF7E-45B8-B03C-3D85720673E0}"/>
              </a:ext>
            </a:extLst>
          </p:cNvPr>
          <p:cNvSpPr>
            <a:spLocks xmlns:a="http://schemas.openxmlformats.org/drawingml/2006/main" noGrp="1"/>
          </p:cNvSpPr>
          <p:nvPr/>
        </p:nvSpPr>
        <p:spPr>
          <a:xfrm xmlns:a="http://schemas.openxmlformats.org/drawingml/2006/main">
            <a:off x="7067550" y="3190875"/>
            <a:ext cx="7000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226"/>
                </a:solidFill>
                <a:latin typeface="Arial"/>
                <a:ea typeface="Arial"/>
                <a:cs typeface="Arial"/>
              </a:defRPr>
            </a:pPr>
            <a:r>
              <a:rPr sz="2625" b="1">
                <a:solidFill>
                  <a:srgbClr val="202226"/>
                </a:solidFill>
                <a:latin typeface="Arial"/>
                <a:ea typeface="Arial"/>
                <a:cs typeface="Arial"/>
              </a:rPr>
              <a:t>Вакансии для вас</a:t>
            </a:r>
          </a:p>
        </p:txBody>
      </p:sp>
      <p:sp>
        <p:nvSpPr>
          <p:cNvPr id="15" name="search-field">
            <a:extLst xmlns:a="http://schemas.openxmlformats.org/drawingml/2006/main">
              <a:ext uri="{FF2B5EF4-FFF2-40B4-BE49-F238E27FC236}">
                <a16:creationId xmlns:a16="http://schemas.microsoft.com/office/drawing/2014/main" id="{594FFB5C-E33D-4878-A002-BEBCE2964CAD}"/>
              </a:ext>
            </a:extLst>
          </p:cNvPr>
          <p:cNvSpPr>
            <a:spLocks xmlns:a="http://schemas.openxmlformats.org/drawingml/2006/main" noGrp="1"/>
          </p:cNvSpPr>
          <p:nvPr/>
        </p:nvSpPr>
        <p:spPr>
          <a:xfrm xmlns:a="http://schemas.openxmlformats.org/drawingml/2006/main">
            <a:off x="7153275" y="3867150"/>
            <a:ext cx="4752975" cy="476250"/>
          </a:xfrm>
          <a:prstGeom xmlns:a="http://schemas.openxmlformats.org/drawingml/2006/main" prst="roundRect">
            <a:avLst>
              <a:gd name="adj" fmla="val 12000"/>
            </a:avLst>
          </a:prstGeom>
          <a:solidFill xmlns:a="http://schemas.openxmlformats.org/drawingml/2006/main">
            <a:srgbClr val="F3F4F5"/>
          </a:solidFill>
          <a:ln xmlns:a="http://schemas.openxmlformats.org/drawingml/2006/main" w="0">
            <a:noFill/>
          </a:ln>
        </p:spPr>
      </p:sp>
      <p:sp>
        <p:nvSpPr>
          <p:cNvPr id="16" name="search-value">
            <a:extLst xmlns:a="http://schemas.openxmlformats.org/drawingml/2006/main">
              <a:ext uri="{FF2B5EF4-FFF2-40B4-BE49-F238E27FC236}">
                <a16:creationId xmlns:a16="http://schemas.microsoft.com/office/drawing/2014/main" id="{F2D9DACC-4A25-4421-BC92-2067F8B1585F}"/>
              </a:ext>
            </a:extLst>
          </p:cNvPr>
          <p:cNvSpPr>
            <a:spLocks xmlns:a="http://schemas.openxmlformats.org/drawingml/2006/main" noGrp="1"/>
          </p:cNvSpPr>
          <p:nvPr/>
        </p:nvSpPr>
        <p:spPr>
          <a:xfrm xmlns:a="http://schemas.openxmlformats.org/drawingml/2006/main">
            <a:off x="7286625" y="3914775"/>
            <a:ext cx="438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73777B"/>
                </a:solidFill>
                <a:latin typeface="Arial"/>
                <a:ea typeface="Arial"/>
                <a:cs typeface="Arial"/>
              </a:defRPr>
            </a:pPr>
            <a:r>
              <a:rPr sz="1575" b="0">
                <a:solidFill>
                  <a:srgbClr val="73777B"/>
                </a:solidFill>
                <a:latin typeface="Arial"/>
                <a:ea typeface="Arial"/>
                <a:cs typeface="Arial"/>
              </a:rPr>
              <a:t>Должность или компания</a:t>
            </a:r>
          </a:p>
        </p:txBody>
      </p:sp>
      <p:sp>
        <p:nvSpPr>
          <p:cNvPr id="17" name="search-button-surface">
            <a:extLst xmlns:a="http://schemas.openxmlformats.org/drawingml/2006/main">
              <a:ext uri="{FF2B5EF4-FFF2-40B4-BE49-F238E27FC236}">
                <a16:creationId xmlns:a16="http://schemas.microsoft.com/office/drawing/2014/main" id="{6E2E36C4-1520-4623-A4A3-99CAE3C73AF0}"/>
              </a:ext>
            </a:extLst>
          </p:cNvPr>
          <p:cNvSpPr>
            <a:spLocks xmlns:a="http://schemas.openxmlformats.org/drawingml/2006/main" noGrp="1"/>
          </p:cNvSpPr>
          <p:nvPr/>
        </p:nvSpPr>
        <p:spPr>
          <a:xfrm xmlns:a="http://schemas.openxmlformats.org/drawingml/2006/main">
            <a:off x="12030075" y="3867150"/>
            <a:ext cx="2257425" cy="476250"/>
          </a:xfrm>
          <a:prstGeom xmlns:a="http://schemas.openxmlformats.org/drawingml/2006/main" prst="roundRect">
            <a:avLst>
              <a:gd name="adj" fmla="val 16000"/>
            </a:avLst>
          </a:prstGeom>
          <a:solidFill xmlns:a="http://schemas.openxmlformats.org/drawingml/2006/main">
            <a:srgbClr val="ED3027"/>
          </a:solidFill>
          <a:ln xmlns:a="http://schemas.openxmlformats.org/drawingml/2006/main" w="0">
            <a:noFill/>
          </a:ln>
        </p:spPr>
      </p:sp>
      <p:sp>
        <p:nvSpPr>
          <p:cNvPr id="18" name="search-button">
            <a:extLst xmlns:a="http://schemas.openxmlformats.org/drawingml/2006/main">
              <a:ext uri="{FF2B5EF4-FFF2-40B4-BE49-F238E27FC236}">
                <a16:creationId xmlns:a16="http://schemas.microsoft.com/office/drawing/2014/main" id="{9DEF17C1-964A-4042-BFE1-9B96AF58D365}"/>
              </a:ext>
            </a:extLst>
          </p:cNvPr>
          <p:cNvSpPr>
            <a:spLocks xmlns:a="http://schemas.openxmlformats.org/drawingml/2006/main" noGrp="1"/>
          </p:cNvSpPr>
          <p:nvPr/>
        </p:nvSpPr>
        <p:spPr>
          <a:xfrm xmlns:a="http://schemas.openxmlformats.org/drawingml/2006/main">
            <a:off x="12144375" y="3952875"/>
            <a:ext cx="2028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Найти</a:t>
            </a:r>
          </a:p>
        </p:txBody>
      </p:sp>
      <p:sp>
        <p:nvSpPr>
          <p:cNvPr id="19" name="job-0">
            <a:extLst xmlns:a="http://schemas.openxmlformats.org/drawingml/2006/main">
              <a:ext uri="{FF2B5EF4-FFF2-40B4-BE49-F238E27FC236}">
                <a16:creationId xmlns:a16="http://schemas.microsoft.com/office/drawing/2014/main" id="{576B1813-E69E-48D6-89B9-47E21684AD7E}"/>
              </a:ext>
            </a:extLst>
          </p:cNvPr>
          <p:cNvSpPr>
            <a:spLocks xmlns:a="http://schemas.openxmlformats.org/drawingml/2006/main" noGrp="1"/>
          </p:cNvSpPr>
          <p:nvPr/>
        </p:nvSpPr>
        <p:spPr>
          <a:xfrm xmlns:a="http://schemas.openxmlformats.org/drawingml/2006/main">
            <a:off x="7067550" y="45434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02226"/>
                </a:solidFill>
                <a:latin typeface="Arial"/>
                <a:ea typeface="Arial"/>
                <a:cs typeface="Arial"/>
              </a:defRPr>
            </a:pPr>
            <a:r>
              <a:rPr sz="1800" b="1">
                <a:solidFill>
                  <a:srgbClr val="202226"/>
                </a:solidFill>
                <a:latin typeface="Arial"/>
                <a:ea typeface="Arial"/>
                <a:cs typeface="Arial"/>
              </a:rPr>
              <a:t>Менеджер по продажам</a:t>
            </a:r>
          </a:p>
        </p:txBody>
      </p:sp>
      <p:sp>
        <p:nvSpPr>
          <p:cNvPr id="20" name="job-city-0">
            <a:extLst xmlns:a="http://schemas.openxmlformats.org/drawingml/2006/main">
              <a:ext uri="{FF2B5EF4-FFF2-40B4-BE49-F238E27FC236}">
                <a16:creationId xmlns:a16="http://schemas.microsoft.com/office/drawing/2014/main" id="{893757A1-D547-48C3-AABD-2D049604C4A5}"/>
              </a:ext>
            </a:extLst>
          </p:cNvPr>
          <p:cNvSpPr>
            <a:spLocks xmlns:a="http://schemas.openxmlformats.org/drawingml/2006/main" noGrp="1"/>
          </p:cNvSpPr>
          <p:nvPr/>
        </p:nvSpPr>
        <p:spPr>
          <a:xfrm xmlns:a="http://schemas.openxmlformats.org/drawingml/2006/main">
            <a:off x="11049000" y="4581525"/>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3777B"/>
                </a:solidFill>
                <a:latin typeface="Arial"/>
                <a:ea typeface="Arial"/>
                <a:cs typeface="Arial"/>
              </a:defRPr>
            </a:pPr>
            <a:r>
              <a:rPr sz="1500" b="0">
                <a:solidFill>
                  <a:srgbClr val="73777B"/>
                </a:solidFill>
                <a:latin typeface="Arial"/>
                <a:ea typeface="Arial"/>
                <a:cs typeface="Arial"/>
              </a:rPr>
              <a:t>Алматы</a:t>
            </a:r>
          </a:p>
        </p:txBody>
      </p:sp>
      <p:sp>
        <p:nvSpPr>
          <p:cNvPr id="21" name="job-info-0">
            <a:extLst xmlns:a="http://schemas.openxmlformats.org/drawingml/2006/main">
              <a:ext uri="{FF2B5EF4-FFF2-40B4-BE49-F238E27FC236}">
                <a16:creationId xmlns:a16="http://schemas.microsoft.com/office/drawing/2014/main" id="{16EA3106-4116-4FC3-9CC7-6E8B23B4FFB4}"/>
              </a:ext>
            </a:extLst>
          </p:cNvPr>
          <p:cNvSpPr>
            <a:spLocks xmlns:a="http://schemas.openxmlformats.org/drawingml/2006/main" noGrp="1"/>
          </p:cNvSpPr>
          <p:nvPr/>
        </p:nvSpPr>
        <p:spPr>
          <a:xfrm xmlns:a="http://schemas.openxmlformats.org/drawingml/2006/main">
            <a:off x="12287250" y="4581525"/>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3777B"/>
                </a:solidFill>
                <a:latin typeface="Arial"/>
                <a:ea typeface="Arial"/>
                <a:cs typeface="Arial"/>
              </a:defRPr>
            </a:pPr>
            <a:r>
              <a:rPr sz="1425" b="0">
                <a:solidFill>
                  <a:srgbClr val="73777B"/>
                </a:solidFill>
                <a:latin typeface="Arial"/>
                <a:ea typeface="Arial"/>
                <a:cs typeface="Arial"/>
              </a:rPr>
              <a:t>Опыт 1–3 года</a:t>
            </a:r>
          </a:p>
        </p:txBody>
      </p:sp>
      <p:sp>
        <p:nvSpPr>
          <p:cNvPr id="22" name="job-line-0">
            <a:extLst xmlns:a="http://schemas.openxmlformats.org/drawingml/2006/main">
              <a:ext uri="{FF2B5EF4-FFF2-40B4-BE49-F238E27FC236}">
                <a16:creationId xmlns:a16="http://schemas.microsoft.com/office/drawing/2014/main" id="{958A731E-6DE0-4569-8F87-2E1773895FD4}"/>
              </a:ext>
            </a:extLst>
          </p:cNvPr>
          <p:cNvSpPr>
            <a:spLocks xmlns:a="http://schemas.openxmlformats.org/drawingml/2006/main" noGrp="1"/>
          </p:cNvSpPr>
          <p:nvPr/>
        </p:nvSpPr>
        <p:spPr>
          <a:xfrm xmlns:a="http://schemas.openxmlformats.org/drawingml/2006/main">
            <a:off x="7153275" y="5105400"/>
            <a:ext cx="7134225" cy="9525"/>
          </a:xfrm>
          <a:prstGeom xmlns:a="http://schemas.openxmlformats.org/drawingml/2006/main" prst="rect">
            <a:avLst/>
          </a:prstGeom>
          <a:solidFill xmlns:a="http://schemas.openxmlformats.org/drawingml/2006/main">
            <a:srgbClr val="E6E6E6"/>
          </a:solidFill>
          <a:ln xmlns:a="http://schemas.openxmlformats.org/drawingml/2006/main" w="0">
            <a:noFill/>
          </a:ln>
        </p:spPr>
      </p:sp>
      <p:sp>
        <p:nvSpPr>
          <p:cNvPr id="23" name="job-1">
            <a:extLst xmlns:a="http://schemas.openxmlformats.org/drawingml/2006/main">
              <a:ext uri="{FF2B5EF4-FFF2-40B4-BE49-F238E27FC236}">
                <a16:creationId xmlns:a16="http://schemas.microsoft.com/office/drawing/2014/main" id="{4FBF4BA9-B17D-4976-8ECB-BF6257367F05}"/>
              </a:ext>
            </a:extLst>
          </p:cNvPr>
          <p:cNvSpPr>
            <a:spLocks xmlns:a="http://schemas.openxmlformats.org/drawingml/2006/main" noGrp="1"/>
          </p:cNvSpPr>
          <p:nvPr/>
        </p:nvSpPr>
        <p:spPr>
          <a:xfrm xmlns:a="http://schemas.openxmlformats.org/drawingml/2006/main">
            <a:off x="7067550" y="52673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02226"/>
                </a:solidFill>
                <a:latin typeface="Arial"/>
                <a:ea typeface="Arial"/>
                <a:cs typeface="Arial"/>
              </a:defRPr>
            </a:pPr>
            <a:r>
              <a:rPr sz="1800" b="1">
                <a:solidFill>
                  <a:srgbClr val="202226"/>
                </a:solidFill>
                <a:latin typeface="Arial"/>
                <a:ea typeface="Arial"/>
                <a:cs typeface="Arial"/>
              </a:rPr>
              <a:t>Администратор</a:t>
            </a:r>
          </a:p>
        </p:txBody>
      </p:sp>
      <p:sp>
        <p:nvSpPr>
          <p:cNvPr id="24" name="job-city-1">
            <a:extLst xmlns:a="http://schemas.openxmlformats.org/drawingml/2006/main">
              <a:ext uri="{FF2B5EF4-FFF2-40B4-BE49-F238E27FC236}">
                <a16:creationId xmlns:a16="http://schemas.microsoft.com/office/drawing/2014/main" id="{A9BDF908-5E61-4CAE-80A0-5FC5505314EC}"/>
              </a:ext>
            </a:extLst>
          </p:cNvPr>
          <p:cNvSpPr>
            <a:spLocks xmlns:a="http://schemas.openxmlformats.org/drawingml/2006/main" noGrp="1"/>
          </p:cNvSpPr>
          <p:nvPr/>
        </p:nvSpPr>
        <p:spPr>
          <a:xfrm xmlns:a="http://schemas.openxmlformats.org/drawingml/2006/main">
            <a:off x="11049000" y="5305425"/>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3777B"/>
                </a:solidFill>
                <a:latin typeface="Arial"/>
                <a:ea typeface="Arial"/>
                <a:cs typeface="Arial"/>
              </a:defRPr>
            </a:pPr>
            <a:r>
              <a:rPr sz="1500" b="0">
                <a:solidFill>
                  <a:srgbClr val="73777B"/>
                </a:solidFill>
                <a:latin typeface="Arial"/>
                <a:ea typeface="Arial"/>
                <a:cs typeface="Arial"/>
              </a:rPr>
              <a:t>Астана</a:t>
            </a:r>
          </a:p>
        </p:txBody>
      </p:sp>
      <p:sp>
        <p:nvSpPr>
          <p:cNvPr id="25" name="job-info-1">
            <a:extLst xmlns:a="http://schemas.openxmlformats.org/drawingml/2006/main">
              <a:ext uri="{FF2B5EF4-FFF2-40B4-BE49-F238E27FC236}">
                <a16:creationId xmlns:a16="http://schemas.microsoft.com/office/drawing/2014/main" id="{77382430-F19F-434A-8502-1745E94EDE2E}"/>
              </a:ext>
            </a:extLst>
          </p:cNvPr>
          <p:cNvSpPr>
            <a:spLocks xmlns:a="http://schemas.openxmlformats.org/drawingml/2006/main" noGrp="1"/>
          </p:cNvSpPr>
          <p:nvPr/>
        </p:nvSpPr>
        <p:spPr>
          <a:xfrm xmlns:a="http://schemas.openxmlformats.org/drawingml/2006/main">
            <a:off x="12287250" y="5305425"/>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3777B"/>
                </a:solidFill>
                <a:latin typeface="Arial"/>
                <a:ea typeface="Arial"/>
                <a:cs typeface="Arial"/>
              </a:defRPr>
            </a:pPr>
            <a:r>
              <a:rPr sz="1425" b="0">
                <a:solidFill>
                  <a:srgbClr val="73777B"/>
                </a:solidFill>
                <a:latin typeface="Arial"/>
                <a:ea typeface="Arial"/>
                <a:cs typeface="Arial"/>
              </a:rPr>
              <a:t>Без опыта</a:t>
            </a:r>
          </a:p>
        </p:txBody>
      </p:sp>
      <p:sp>
        <p:nvSpPr>
          <p:cNvPr id="26" name="job-line-1">
            <a:extLst xmlns:a="http://schemas.openxmlformats.org/drawingml/2006/main">
              <a:ext uri="{FF2B5EF4-FFF2-40B4-BE49-F238E27FC236}">
                <a16:creationId xmlns:a16="http://schemas.microsoft.com/office/drawing/2014/main" id="{0DA75229-69EB-40ED-82BD-E449BB6AAA1E}"/>
              </a:ext>
            </a:extLst>
          </p:cNvPr>
          <p:cNvSpPr>
            <a:spLocks xmlns:a="http://schemas.openxmlformats.org/drawingml/2006/main" noGrp="1"/>
          </p:cNvSpPr>
          <p:nvPr/>
        </p:nvSpPr>
        <p:spPr>
          <a:xfrm xmlns:a="http://schemas.openxmlformats.org/drawingml/2006/main">
            <a:off x="7153275" y="5829300"/>
            <a:ext cx="7134225" cy="9525"/>
          </a:xfrm>
          <a:prstGeom xmlns:a="http://schemas.openxmlformats.org/drawingml/2006/main" prst="rect">
            <a:avLst/>
          </a:prstGeom>
          <a:solidFill xmlns:a="http://schemas.openxmlformats.org/drawingml/2006/main">
            <a:srgbClr val="E6E6E6"/>
          </a:solidFill>
          <a:ln xmlns:a="http://schemas.openxmlformats.org/drawingml/2006/main" w="0">
            <a:noFill/>
          </a:ln>
        </p:spPr>
      </p:sp>
      <p:sp>
        <p:nvSpPr>
          <p:cNvPr id="27" name="job-2">
            <a:extLst xmlns:a="http://schemas.openxmlformats.org/drawingml/2006/main">
              <a:ext uri="{FF2B5EF4-FFF2-40B4-BE49-F238E27FC236}">
                <a16:creationId xmlns:a16="http://schemas.microsoft.com/office/drawing/2014/main" id="{34A5FB01-3749-4F70-8694-71CF06037494}"/>
              </a:ext>
            </a:extLst>
          </p:cNvPr>
          <p:cNvSpPr>
            <a:spLocks xmlns:a="http://schemas.openxmlformats.org/drawingml/2006/main" noGrp="1"/>
          </p:cNvSpPr>
          <p:nvPr/>
        </p:nvSpPr>
        <p:spPr>
          <a:xfrm xmlns:a="http://schemas.openxmlformats.org/drawingml/2006/main">
            <a:off x="7067550" y="59912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02226"/>
                </a:solidFill>
                <a:latin typeface="Arial"/>
                <a:ea typeface="Arial"/>
                <a:cs typeface="Arial"/>
              </a:defRPr>
            </a:pPr>
            <a:r>
              <a:rPr sz="1800" b="1">
                <a:solidFill>
                  <a:srgbClr val="202226"/>
                </a:solidFill>
                <a:latin typeface="Arial"/>
                <a:ea typeface="Arial"/>
                <a:cs typeface="Arial"/>
              </a:rPr>
              <a:t>Повар</a:t>
            </a:r>
          </a:p>
        </p:txBody>
      </p:sp>
      <p:sp>
        <p:nvSpPr>
          <p:cNvPr id="28" name="job-city-2">
            <a:extLst xmlns:a="http://schemas.openxmlformats.org/drawingml/2006/main">
              <a:ext uri="{FF2B5EF4-FFF2-40B4-BE49-F238E27FC236}">
                <a16:creationId xmlns:a16="http://schemas.microsoft.com/office/drawing/2014/main" id="{417FFA51-CF27-4978-9BEB-06966070E185}"/>
              </a:ext>
            </a:extLst>
          </p:cNvPr>
          <p:cNvSpPr>
            <a:spLocks xmlns:a="http://schemas.openxmlformats.org/drawingml/2006/main" noGrp="1"/>
          </p:cNvSpPr>
          <p:nvPr/>
        </p:nvSpPr>
        <p:spPr>
          <a:xfrm xmlns:a="http://schemas.openxmlformats.org/drawingml/2006/main">
            <a:off x="11049000" y="6029325"/>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3777B"/>
                </a:solidFill>
                <a:latin typeface="Arial"/>
                <a:ea typeface="Arial"/>
                <a:cs typeface="Arial"/>
              </a:defRPr>
            </a:pPr>
            <a:r>
              <a:rPr sz="1500" b="0">
                <a:solidFill>
                  <a:srgbClr val="73777B"/>
                </a:solidFill>
                <a:latin typeface="Arial"/>
                <a:ea typeface="Arial"/>
                <a:cs typeface="Arial"/>
              </a:rPr>
              <a:t>Алматы</a:t>
            </a:r>
          </a:p>
        </p:txBody>
      </p:sp>
      <p:sp>
        <p:nvSpPr>
          <p:cNvPr id="29" name="job-info-2">
            <a:extLst xmlns:a="http://schemas.openxmlformats.org/drawingml/2006/main">
              <a:ext uri="{FF2B5EF4-FFF2-40B4-BE49-F238E27FC236}">
                <a16:creationId xmlns:a16="http://schemas.microsoft.com/office/drawing/2014/main" id="{8ED19018-EC87-4BD5-B71E-F9DCCE3FDE37}"/>
              </a:ext>
            </a:extLst>
          </p:cNvPr>
          <p:cNvSpPr>
            <a:spLocks xmlns:a="http://schemas.openxmlformats.org/drawingml/2006/main" noGrp="1"/>
          </p:cNvSpPr>
          <p:nvPr/>
        </p:nvSpPr>
        <p:spPr>
          <a:xfrm xmlns:a="http://schemas.openxmlformats.org/drawingml/2006/main">
            <a:off x="12287250" y="6029325"/>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3777B"/>
                </a:solidFill>
                <a:latin typeface="Arial"/>
                <a:ea typeface="Arial"/>
                <a:cs typeface="Arial"/>
              </a:defRPr>
            </a:pPr>
            <a:r>
              <a:rPr sz="1425" b="0">
                <a:solidFill>
                  <a:srgbClr val="73777B"/>
                </a:solidFill>
                <a:latin typeface="Arial"/>
                <a:ea typeface="Arial"/>
                <a:cs typeface="Arial"/>
              </a:rPr>
              <a:t>Сменный график</a:t>
            </a:r>
          </a:p>
        </p:txBody>
      </p:sp>
      <p:sp>
        <p:nvSpPr>
          <p:cNvPr id="30" name="job-line-2">
            <a:extLst xmlns:a="http://schemas.openxmlformats.org/drawingml/2006/main">
              <a:ext uri="{FF2B5EF4-FFF2-40B4-BE49-F238E27FC236}">
                <a16:creationId xmlns:a16="http://schemas.microsoft.com/office/drawing/2014/main" id="{2607E84C-6100-4BB7-9262-7A2B2D0F6159}"/>
              </a:ext>
            </a:extLst>
          </p:cNvPr>
          <p:cNvSpPr>
            <a:spLocks xmlns:a="http://schemas.openxmlformats.org/drawingml/2006/main" noGrp="1"/>
          </p:cNvSpPr>
          <p:nvPr/>
        </p:nvSpPr>
        <p:spPr>
          <a:xfrm xmlns:a="http://schemas.openxmlformats.org/drawingml/2006/main">
            <a:off x="7153275" y="6553200"/>
            <a:ext cx="7134225" cy="9525"/>
          </a:xfrm>
          <a:prstGeom xmlns:a="http://schemas.openxmlformats.org/drawingml/2006/main" prst="rect">
            <a:avLst/>
          </a:prstGeom>
          <a:solidFill xmlns:a="http://schemas.openxmlformats.org/drawingml/2006/main">
            <a:srgbClr val="E6E6E6"/>
          </a:solidFill>
          <a:ln xmlns:a="http://schemas.openxmlformats.org/drawingml/2006/main" w="0">
            <a:noFill/>
          </a:ln>
        </p:spPr>
      </p:sp>
      <p:sp>
        <p:nvSpPr>
          <p:cNvPr id="31" name="screen-example">
            <a:extLst xmlns:a="http://schemas.openxmlformats.org/drawingml/2006/main">
              <a:ext uri="{FF2B5EF4-FFF2-40B4-BE49-F238E27FC236}">
                <a16:creationId xmlns:a16="http://schemas.microsoft.com/office/drawing/2014/main" id="{1370AE14-3166-4347-8F38-B81B942CC9A7}"/>
              </a:ext>
            </a:extLst>
          </p:cNvPr>
          <p:cNvSpPr>
            <a:spLocks xmlns:a="http://schemas.openxmlformats.org/drawingml/2006/main" noGrp="1"/>
          </p:cNvSpPr>
          <p:nvPr/>
        </p:nvSpPr>
        <p:spPr>
          <a:xfrm xmlns:a="http://schemas.openxmlformats.org/drawingml/2006/main">
            <a:off x="7067550" y="6677025"/>
            <a:ext cx="381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3777B"/>
                </a:solidFill>
                <a:latin typeface="Arial"/>
                <a:ea typeface="Arial"/>
                <a:cs typeface="Arial"/>
              </a:defRPr>
            </a:pPr>
            <a:r>
              <a:rPr sz="1275" b="0">
                <a:solidFill>
                  <a:srgbClr val="73777B"/>
                </a:solidFill>
                <a:latin typeface="Arial"/>
                <a:ea typeface="Arial"/>
                <a:cs typeface="Arial"/>
              </a:rPr>
              <a:t>Примеры вакансий</a:t>
            </a:r>
          </a:p>
        </p:txBody>
      </p:sp>
      <p:sp>
        <p:nvSpPr>
          <p:cNvPr id="32" name="ru-result">
            <a:extLst xmlns:a="http://schemas.openxmlformats.org/drawingml/2006/main">
              <a:ext uri="{FF2B5EF4-FFF2-40B4-BE49-F238E27FC236}">
                <a16:creationId xmlns:a16="http://schemas.microsoft.com/office/drawing/2014/main" id="{F602398C-E712-4956-B4ED-BA7BD934B819}"/>
              </a:ext>
            </a:extLst>
          </p:cNvPr>
          <p:cNvSpPr>
            <a:spLocks xmlns:a="http://schemas.openxmlformats.org/drawingml/2006/main" noGrp="1"/>
          </p:cNvSpPr>
          <p:nvPr/>
        </p:nvSpPr>
        <p:spPr>
          <a:xfrm xmlns:a="http://schemas.openxmlformats.org/drawingml/2006/main">
            <a:off x="6953250" y="7258050"/>
            <a:ext cx="742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2226"/>
                </a:solidFill>
                <a:latin typeface="Arial"/>
                <a:ea typeface="Arial"/>
                <a:cs typeface="Arial"/>
              </a:defRPr>
            </a:pPr>
            <a:r>
              <a:rPr sz="2025" b="1">
                <a:solidFill>
                  <a:srgbClr val="202226"/>
                </a:solidFill>
                <a:latin typeface="Arial"/>
                <a:ea typeface="Arial"/>
                <a:cs typeface="Arial"/>
              </a:rPr>
              <a:t>Соискатель находит работу.</a:t>
            </a:r>
          </a:p>
          <a:p xmlns:a="http://schemas.openxmlformats.org/drawingml/2006/main">
            <a:pPr>
              <a:defRPr sz="2025" b="1">
                <a:solidFill>
                  <a:srgbClr val="202226"/>
                </a:solidFill>
                <a:latin typeface="Arial"/>
                <a:ea typeface="Arial"/>
                <a:cs typeface="Arial"/>
              </a:defRPr>
            </a:pPr>
            <a:r>
              <a:rPr sz="2025" b="1">
                <a:solidFill>
                  <a:srgbClr val="202226"/>
                </a:solidFill>
                <a:latin typeface="Arial"/>
                <a:ea typeface="Arial"/>
                <a:cs typeface="Arial"/>
              </a:rPr>
              <a:t>Компания знакомится с кандидатом.</a:t>
            </a:r>
          </a:p>
        </p:txBody>
      </p:sp>
      <p:sp>
        <p:nvSpPr>
          <p:cNvPr id="33" name="tr-result">
            <a:extLst xmlns:a="http://schemas.openxmlformats.org/drawingml/2006/main">
              <a:ext uri="{FF2B5EF4-FFF2-40B4-BE49-F238E27FC236}">
                <a16:creationId xmlns:a16="http://schemas.microsoft.com/office/drawing/2014/main" id="{81AD970B-D12E-4723-B149-5616F6587F8C}"/>
              </a:ext>
            </a:extLst>
          </p:cNvPr>
          <p:cNvSpPr>
            <a:spLocks xmlns:a="http://schemas.openxmlformats.org/drawingml/2006/main" noGrp="1"/>
          </p:cNvSpPr>
          <p:nvPr/>
        </p:nvSpPr>
        <p:spPr>
          <a:xfrm xmlns:a="http://schemas.openxmlformats.org/drawingml/2006/main">
            <a:off x="6953250" y="8086725"/>
            <a:ext cx="742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73777B"/>
                </a:solidFill>
                <a:latin typeface="Arial"/>
                <a:ea typeface="Arial"/>
                <a:cs typeface="Arial"/>
              </a:defRPr>
            </a:pPr>
            <a:r>
              <a:rPr sz="1650" b="0">
                <a:solidFill>
                  <a:srgbClr val="73777B"/>
                </a:solidFill>
                <a:latin typeface="Arial"/>
                <a:ea typeface="Arial"/>
                <a:cs typeface="Arial"/>
              </a:rPr>
              <a:t>İş arayan iş bulur. Şirket adayla tanışır.</a:t>
            </a:r>
          </a:p>
        </p:txBody>
      </p:sp>
    </p:spTree>
    <p:extLst>
      <p:ext uri="{BB962C8B-B14F-4D97-AF65-F5344CB8AC3E}">
        <p14:creationId xmlns:p14="http://schemas.microsoft.com/office/powerpoint/2010/main" val="1488936509"/>
      </p:ext>
    </p:extLst>
  </p:cSld>
</p:sld>
</file>

<file path=ppt/slides/slide3.xml><?xml version="1.0" encoding="utf-8"?>
<p:sld xmlns:p="http://schemas.openxmlformats.org/presentationml/2006/main">
  <p:cSld>
    <p:bg>
      <p:bgPr>
        <a:solidFill xmlns:a="http://schemas.openxmlformats.org/drawingml/2006/main">
          <a:srgbClr val="202226"/>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a9e19b78fb24856"/>
          <a:srcRect xmlns:a="http://schemas.openxmlformats.org/drawingml/2006/main" l="0" t="37298" r="0" b="37298"/>
          <a:stretch xmlns:a="http://schemas.openxmlformats.org/drawingml/2006/main">
            <a:fillRect l="0" t="0" r="0" b="0"/>
          </a:stretch>
        </p:blipFill>
        <p:spPr>
          <a:xfrm xmlns:a="http://schemas.openxmlformats.org/drawingml/2006/main">
            <a:off x="723900" y="438150"/>
            <a:ext cx="2362200" cy="600075"/>
          </a:xfrm>
          <a:prstGeom xmlns:a="http://schemas.openxmlformats.org/drawingml/2006/main" prst="rect">
            <a:avLst/>
          </a:prstGeom>
        </p:spPr>
      </p:pic>
      <p:sp>
        <p:nvSpPr>
          <p:cNvPr id="2" name="ru-title">
            <a:extLst xmlns:a="http://schemas.openxmlformats.org/drawingml/2006/main">
              <a:ext uri="{FF2B5EF4-FFF2-40B4-BE49-F238E27FC236}">
                <a16:creationId xmlns:a16="http://schemas.microsoft.com/office/drawing/2014/main" id="{D0E89D51-11B8-41B3-8E98-6EEB8CFC46E6}"/>
              </a:ext>
            </a:extLst>
          </p:cNvPr>
          <p:cNvSpPr>
            <a:spLocks xmlns:a="http://schemas.openxmlformats.org/drawingml/2006/main" noGrp="1"/>
          </p:cNvSpPr>
          <p:nvPr/>
        </p:nvSpPr>
        <p:spPr>
          <a:xfrm xmlns:a="http://schemas.openxmlformats.org/drawingml/2006/main">
            <a:off x="723900" y="1590675"/>
            <a:ext cx="5810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Видеоанкета</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с вопросами</a:t>
            </a:r>
          </a:p>
        </p:txBody>
      </p:sp>
      <p:sp>
        <p:nvSpPr>
          <p:cNvPr id="3" name="ru-body">
            <a:extLst xmlns:a="http://schemas.openxmlformats.org/drawingml/2006/main">
              <a:ext uri="{FF2B5EF4-FFF2-40B4-BE49-F238E27FC236}">
                <a16:creationId xmlns:a16="http://schemas.microsoft.com/office/drawing/2014/main" id="{123A4266-888A-4A9E-80BA-030C60FBE5D9}"/>
              </a:ext>
            </a:extLst>
          </p:cNvPr>
          <p:cNvSpPr>
            <a:spLocks xmlns:a="http://schemas.openxmlformats.org/drawingml/2006/main" noGrp="1"/>
          </p:cNvSpPr>
          <p:nvPr/>
        </p:nvSpPr>
        <p:spPr>
          <a:xfrm xmlns:a="http://schemas.openxmlformats.org/drawingml/2006/main">
            <a:off x="723900" y="3448050"/>
            <a:ext cx="5810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9DCDF"/>
                </a:solidFill>
                <a:latin typeface="Arial"/>
                <a:ea typeface="Arial"/>
                <a:cs typeface="Arial"/>
              </a:defRPr>
            </a:pPr>
            <a:r>
              <a:rPr sz="2175" b="0">
                <a:solidFill>
                  <a:srgbClr val="D9DCDF"/>
                </a:solidFill>
                <a:latin typeface="Arial"/>
                <a:ea typeface="Arial"/>
                <a:cs typeface="Arial"/>
              </a:rPr>
              <a:t>Вопросы помогут рассказать</a:t>
            </a:r>
          </a:p>
          <a:p xmlns:a="http://schemas.openxmlformats.org/drawingml/2006/main">
            <a:pPr>
              <a:defRPr sz="2175" b="0">
                <a:solidFill>
                  <a:srgbClr val="D9DCDF"/>
                </a:solidFill>
                <a:latin typeface="Arial"/>
                <a:ea typeface="Arial"/>
                <a:cs typeface="Arial"/>
              </a:defRPr>
            </a:pPr>
            <a:r>
              <a:rPr sz="2175" b="0">
                <a:solidFill>
                  <a:srgbClr val="D9DCDF"/>
                </a:solidFill>
                <a:latin typeface="Arial"/>
                <a:ea typeface="Arial"/>
                <a:cs typeface="Arial"/>
              </a:rPr>
              <a:t>об опыте и рабочих задачах.</a:t>
            </a:r>
          </a:p>
        </p:txBody>
      </p:sp>
      <p:sp>
        <p:nvSpPr>
          <p:cNvPr id="4" name="ru-options">
            <a:extLst xmlns:a="http://schemas.openxmlformats.org/drawingml/2006/main">
              <a:ext uri="{FF2B5EF4-FFF2-40B4-BE49-F238E27FC236}">
                <a16:creationId xmlns:a16="http://schemas.microsoft.com/office/drawing/2014/main" id="{803607BF-39A7-49DC-8354-969FB1F27972}"/>
              </a:ext>
            </a:extLst>
          </p:cNvPr>
          <p:cNvSpPr>
            <a:spLocks xmlns:a="http://schemas.openxmlformats.org/drawingml/2006/main" noGrp="1"/>
          </p:cNvSpPr>
          <p:nvPr/>
        </p:nvSpPr>
        <p:spPr>
          <a:xfrm xmlns:a="http://schemas.openxmlformats.org/drawingml/2006/main">
            <a:off x="723900" y="4610100"/>
            <a:ext cx="58102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8C83"/>
                </a:solidFill>
                <a:latin typeface="Arial"/>
                <a:ea typeface="Arial"/>
                <a:cs typeface="Arial"/>
              </a:defRPr>
            </a:pPr>
            <a:r>
              <a:rPr sz="2025" b="0">
                <a:solidFill>
                  <a:srgbClr val="FF8C83"/>
                </a:solidFill>
                <a:latin typeface="Arial"/>
                <a:ea typeface="Arial"/>
                <a:cs typeface="Arial"/>
              </a:rPr>
              <a:t>Вопросы по профессии</a:t>
            </a:r>
          </a:p>
          <a:p xmlns:a="http://schemas.openxmlformats.org/drawingml/2006/main">
            <a:pPr>
              <a:defRPr sz="2025" b="0">
                <a:solidFill>
                  <a:srgbClr val="FF8C83"/>
                </a:solidFill>
                <a:latin typeface="Arial"/>
                <a:ea typeface="Arial"/>
                <a:cs typeface="Arial"/>
              </a:defRPr>
            </a:pPr>
            <a:r>
              <a:rPr sz="2025" b="0">
                <a:solidFill>
                  <a:srgbClr val="FF8C83"/>
                </a:solidFill>
                <a:latin typeface="Arial"/>
                <a:ea typeface="Arial"/>
                <a:cs typeface="Arial"/>
              </a:rPr>
              <a:t>Просмотр и повторная запись</a:t>
            </a:r>
          </a:p>
          <a:p xmlns:a="http://schemas.openxmlformats.org/drawingml/2006/main">
            <a:pPr>
              <a:defRPr sz="2025" b="0">
                <a:solidFill>
                  <a:srgbClr val="FF8C83"/>
                </a:solidFill>
                <a:latin typeface="Arial"/>
                <a:ea typeface="Arial"/>
                <a:cs typeface="Arial"/>
              </a:defRPr>
            </a:pPr>
            <a:r>
              <a:rPr sz="2025" b="0">
                <a:solidFill>
                  <a:srgbClr val="FF8C83"/>
                </a:solidFill>
                <a:latin typeface="Arial"/>
                <a:ea typeface="Arial"/>
                <a:cs typeface="Arial"/>
              </a:rPr>
              <a:t>Видео по желанию</a:t>
            </a:r>
          </a:p>
        </p:txBody>
      </p:sp>
      <p:sp>
        <p:nvSpPr>
          <p:cNvPr id="5" name="tr-title">
            <a:extLst xmlns:a="http://schemas.openxmlformats.org/drawingml/2006/main">
              <a:ext uri="{FF2B5EF4-FFF2-40B4-BE49-F238E27FC236}">
                <a16:creationId xmlns:a16="http://schemas.microsoft.com/office/drawing/2014/main" id="{D2BCF69F-DCCA-4136-9615-9A6E0D43C8C3}"/>
              </a:ext>
            </a:extLst>
          </p:cNvPr>
          <p:cNvSpPr>
            <a:spLocks xmlns:a="http://schemas.openxmlformats.org/drawingml/2006/main" noGrp="1"/>
          </p:cNvSpPr>
          <p:nvPr/>
        </p:nvSpPr>
        <p:spPr>
          <a:xfrm xmlns:a="http://schemas.openxmlformats.org/drawingml/2006/main">
            <a:off x="723900" y="6257925"/>
            <a:ext cx="5810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Sorularla</a:t>
            </a:r>
          </a:p>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video profil</a:t>
            </a:r>
          </a:p>
        </p:txBody>
      </p:sp>
      <p:sp>
        <p:nvSpPr>
          <p:cNvPr id="6" name="tr-body">
            <a:extLst xmlns:a="http://schemas.openxmlformats.org/drawingml/2006/main">
              <a:ext uri="{FF2B5EF4-FFF2-40B4-BE49-F238E27FC236}">
                <a16:creationId xmlns:a16="http://schemas.microsoft.com/office/drawing/2014/main" id="{E8D2CC63-3568-4EB7-BAFA-B3F1F86055B5}"/>
              </a:ext>
            </a:extLst>
          </p:cNvPr>
          <p:cNvSpPr>
            <a:spLocks xmlns:a="http://schemas.openxmlformats.org/drawingml/2006/main" noGrp="1"/>
          </p:cNvSpPr>
          <p:nvPr/>
        </p:nvSpPr>
        <p:spPr>
          <a:xfrm xmlns:a="http://schemas.openxmlformats.org/drawingml/2006/main">
            <a:off x="723900" y="7448550"/>
            <a:ext cx="581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9DCDF"/>
                </a:solidFill>
                <a:latin typeface="Arial"/>
                <a:ea typeface="Arial"/>
                <a:cs typeface="Arial"/>
              </a:defRPr>
            </a:pPr>
            <a:r>
              <a:rPr sz="1800" b="0">
                <a:solidFill>
                  <a:srgbClr val="D9DCDF"/>
                </a:solidFill>
                <a:latin typeface="Arial"/>
                <a:ea typeface="Arial"/>
                <a:cs typeface="Arial"/>
              </a:rPr>
              <a:t>Mesleğe göre sorular. Yanıtı izleme</a:t>
            </a:r>
          </a:p>
          <a:p xmlns:a="http://schemas.openxmlformats.org/drawingml/2006/main">
            <a:pPr>
              <a:defRPr sz="1800" b="0">
                <a:solidFill>
                  <a:srgbClr val="D9DCDF"/>
                </a:solidFill>
                <a:latin typeface="Arial"/>
                <a:ea typeface="Arial"/>
                <a:cs typeface="Arial"/>
              </a:defRPr>
            </a:pPr>
            <a:r>
              <a:rPr sz="1800" b="0">
                <a:solidFill>
                  <a:srgbClr val="D9DCDF"/>
                </a:solidFill>
                <a:latin typeface="Arial"/>
                <a:ea typeface="Arial"/>
                <a:cs typeface="Arial"/>
              </a:rPr>
              <a:t>ve yeniden çekme. Video isteğe bağlı.</a:t>
            </a:r>
          </a:p>
        </p:txBody>
      </p:sp>
      <p:sp>
        <p:nvSpPr>
          <p:cNvPr id="7" name="recorder">
            <a:extLst xmlns:a="http://schemas.openxmlformats.org/drawingml/2006/main">
              <a:ext uri="{FF2B5EF4-FFF2-40B4-BE49-F238E27FC236}">
                <a16:creationId xmlns:a16="http://schemas.microsoft.com/office/drawing/2014/main" id="{7D16B160-1A72-4A26-8074-C25F09874964}"/>
              </a:ext>
            </a:extLst>
          </p:cNvPr>
          <p:cNvSpPr>
            <a:spLocks xmlns:a="http://schemas.openxmlformats.org/drawingml/2006/main" noGrp="1"/>
          </p:cNvSpPr>
          <p:nvPr/>
        </p:nvSpPr>
        <p:spPr>
          <a:xfrm xmlns:a="http://schemas.openxmlformats.org/drawingml/2006/main">
            <a:off x="6838950" y="1343025"/>
            <a:ext cx="7677150" cy="6248400"/>
          </a:xfrm>
          <a:prstGeom xmlns:a="http://schemas.openxmlformats.org/drawingml/2006/main" prst="roundRect">
            <a:avLst>
              <a:gd name="adj" fmla="val 2134"/>
            </a:avLst>
          </a:prstGeom>
          <a:solidFill xmlns:a="http://schemas.openxmlformats.org/drawingml/2006/main">
            <a:srgbClr val="303235"/>
          </a:solidFill>
          <a:ln xmlns:a="http://schemas.openxmlformats.org/drawingml/2006/main" w="9525">
            <a:solidFill>
              <a:srgbClr val="45474A"/>
            </a:solidFill>
          </a:ln>
        </p:spPr>
      </p:sp>
      <p:sp>
        <p:nvSpPr>
          <p:cNvPr id="8" name="recorder-title">
            <a:extLst xmlns:a="http://schemas.openxmlformats.org/drawingml/2006/main">
              <a:ext uri="{FF2B5EF4-FFF2-40B4-BE49-F238E27FC236}">
                <a16:creationId xmlns:a16="http://schemas.microsoft.com/office/drawing/2014/main" id="{78EFAB88-809C-46CA-A800-51FE8ED37FA0}"/>
              </a:ext>
            </a:extLst>
          </p:cNvPr>
          <p:cNvSpPr>
            <a:spLocks xmlns:a="http://schemas.openxmlformats.org/drawingml/2006/main" noGrp="1"/>
          </p:cNvSpPr>
          <p:nvPr/>
        </p:nvSpPr>
        <p:spPr>
          <a:xfrm xmlns:a="http://schemas.openxmlformats.org/drawingml/2006/main">
            <a:off x="7086600" y="152400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Arial"/>
                <a:ea typeface="Arial"/>
                <a:cs typeface="Arial"/>
              </a:defRPr>
            </a:pPr>
            <a:r>
              <a:rPr sz="1800" b="1">
                <a:solidFill>
                  <a:srgbClr val="FFFFFF"/>
                </a:solidFill>
                <a:latin typeface="Arial"/>
                <a:ea typeface="Arial"/>
                <a:cs typeface="Arial"/>
              </a:rPr>
              <a:t>Видеоответ</a:t>
            </a:r>
          </a:p>
        </p:txBody>
      </p:sp>
      <p:sp>
        <p:nvSpPr>
          <p:cNvPr id="9" name="recorder-status">
            <a:extLst xmlns:a="http://schemas.openxmlformats.org/drawingml/2006/main">
              <a:ext uri="{FF2B5EF4-FFF2-40B4-BE49-F238E27FC236}">
                <a16:creationId xmlns:a16="http://schemas.microsoft.com/office/drawing/2014/main" id="{B3159A45-0AD0-4BBB-9E42-D057461BC8CE}"/>
              </a:ext>
            </a:extLst>
          </p:cNvPr>
          <p:cNvSpPr>
            <a:spLocks xmlns:a="http://schemas.openxmlformats.org/drawingml/2006/main" noGrp="1"/>
          </p:cNvSpPr>
          <p:nvPr/>
        </p:nvSpPr>
        <p:spPr>
          <a:xfrm xmlns:a="http://schemas.openxmlformats.org/drawingml/2006/main">
            <a:off x="12382500" y="1552575"/>
            <a:ext cx="1943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4C7CB"/>
                </a:solidFill>
                <a:latin typeface="Arial"/>
                <a:ea typeface="Arial"/>
                <a:cs typeface="Arial"/>
              </a:defRPr>
            </a:pPr>
            <a:r>
              <a:rPr sz="1500" b="0">
                <a:solidFill>
                  <a:srgbClr val="C4C7CB"/>
                </a:solidFill>
                <a:latin typeface="Arial"/>
                <a:ea typeface="Arial"/>
                <a:cs typeface="Arial"/>
              </a:rPr>
              <a:t>Предпросмотр</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778afc518d74f83"/>
          <a:stretch xmlns:a="http://schemas.openxmlformats.org/drawingml/2006/main"/>
        </p:blipFill>
        <p:spPr>
          <a:xfrm xmlns:a="http://schemas.openxmlformats.org/drawingml/2006/main">
            <a:off x="7891463" y="2047875"/>
            <a:ext cx="5572125" cy="3714750"/>
          </a:xfrm>
          <a:prstGeom xmlns:a="http://schemas.openxmlformats.org/drawingml/2006/main" prst="rect">
            <a:avLst/>
          </a:prstGeom>
        </p:spPr>
      </p:pic>
      <p:sp>
        <p:nvSpPr>
          <p:cNvPr id="11" name="prompter">
            <a:extLst xmlns:a="http://schemas.openxmlformats.org/drawingml/2006/main">
              <a:ext uri="{FF2B5EF4-FFF2-40B4-BE49-F238E27FC236}">
                <a16:creationId xmlns:a16="http://schemas.microsoft.com/office/drawing/2014/main" id="{FCFB1C3B-673C-48A8-9D05-67447C187930}"/>
              </a:ext>
            </a:extLst>
          </p:cNvPr>
          <p:cNvSpPr>
            <a:spLocks xmlns:a="http://schemas.openxmlformats.org/drawingml/2006/main" noGrp="1"/>
          </p:cNvSpPr>
          <p:nvPr/>
        </p:nvSpPr>
        <p:spPr>
          <a:xfrm xmlns:a="http://schemas.openxmlformats.org/drawingml/2006/main">
            <a:off x="7143750" y="5886450"/>
            <a:ext cx="7067550" cy="933450"/>
          </a:xfrm>
          <a:prstGeom xmlns:a="http://schemas.openxmlformats.org/drawingml/2006/main" prst="roundRect">
            <a:avLst>
              <a:gd name="adj" fmla="val 8163"/>
            </a:avLst>
          </a:prstGeom>
          <a:solidFill xmlns:a="http://schemas.openxmlformats.org/drawingml/2006/main">
            <a:srgbClr val="202226"/>
          </a:solidFill>
          <a:ln xmlns:a="http://schemas.openxmlformats.org/drawingml/2006/main" w="0">
            <a:noFill/>
          </a:ln>
        </p:spPr>
      </p:sp>
      <p:sp>
        <p:nvSpPr>
          <p:cNvPr id="12" name="question-counter">
            <a:extLst xmlns:a="http://schemas.openxmlformats.org/drawingml/2006/main">
              <a:ext uri="{FF2B5EF4-FFF2-40B4-BE49-F238E27FC236}">
                <a16:creationId xmlns:a16="http://schemas.microsoft.com/office/drawing/2014/main" id="{5687B613-03DA-42A1-A267-CB7F48CAA384}"/>
              </a:ext>
            </a:extLst>
          </p:cNvPr>
          <p:cNvSpPr>
            <a:spLocks xmlns:a="http://schemas.openxmlformats.org/drawingml/2006/main" noGrp="1"/>
          </p:cNvSpPr>
          <p:nvPr/>
        </p:nvSpPr>
        <p:spPr>
          <a:xfrm xmlns:a="http://schemas.openxmlformats.org/drawingml/2006/main">
            <a:off x="7334250" y="5972175"/>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FF8C83"/>
                </a:solidFill>
                <a:latin typeface="Arial"/>
                <a:ea typeface="Arial"/>
                <a:cs typeface="Arial"/>
              </a:defRPr>
            </a:pPr>
            <a:r>
              <a:rPr sz="1275" b="0">
                <a:solidFill>
                  <a:srgbClr val="FF8C83"/>
                </a:solidFill>
                <a:latin typeface="Arial"/>
                <a:ea typeface="Arial"/>
                <a:cs typeface="Arial"/>
              </a:rPr>
              <a:t>Вопрос 1 из 3 / Soru 1 / 3</a:t>
            </a:r>
          </a:p>
        </p:txBody>
      </p:sp>
      <p:sp>
        <p:nvSpPr>
          <p:cNvPr id="13" name="question-text">
            <a:extLst xmlns:a="http://schemas.openxmlformats.org/drawingml/2006/main">
              <a:ext uri="{FF2B5EF4-FFF2-40B4-BE49-F238E27FC236}">
                <a16:creationId xmlns:a16="http://schemas.microsoft.com/office/drawing/2014/main" id="{01DAF4C7-4351-447F-9E10-787B7B48A509}"/>
              </a:ext>
            </a:extLst>
          </p:cNvPr>
          <p:cNvSpPr>
            <a:spLocks xmlns:a="http://schemas.openxmlformats.org/drawingml/2006/main" noGrp="1"/>
          </p:cNvSpPr>
          <p:nvPr/>
        </p:nvSpPr>
        <p:spPr>
          <a:xfrm xmlns:a="http://schemas.openxmlformats.org/drawingml/2006/main">
            <a:off x="7334250" y="6296025"/>
            <a:ext cx="647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Расскажите о вашем опыте работы</a:t>
            </a:r>
          </a:p>
        </p:txBody>
      </p:sp>
      <p:sp>
        <p:nvSpPr>
          <p:cNvPr id="14" name="question-next-surface">
            <a:extLst xmlns:a="http://schemas.openxmlformats.org/drawingml/2006/main">
              <a:ext uri="{FF2B5EF4-FFF2-40B4-BE49-F238E27FC236}">
                <a16:creationId xmlns:a16="http://schemas.microsoft.com/office/drawing/2014/main" id="{868C4F0E-D44A-4A43-A952-05B9473EE4C5}"/>
              </a:ext>
            </a:extLst>
          </p:cNvPr>
          <p:cNvSpPr>
            <a:spLocks xmlns:a="http://schemas.openxmlformats.org/drawingml/2006/main" noGrp="1"/>
          </p:cNvSpPr>
          <p:nvPr/>
        </p:nvSpPr>
        <p:spPr>
          <a:xfrm xmlns:a="http://schemas.openxmlformats.org/drawingml/2006/main">
            <a:off x="7143750" y="6981825"/>
            <a:ext cx="2952750" cy="447675"/>
          </a:xfrm>
          <a:prstGeom xmlns:a="http://schemas.openxmlformats.org/drawingml/2006/main" prst="roundRect">
            <a:avLst>
              <a:gd name="adj" fmla="val 17021"/>
            </a:avLst>
          </a:prstGeom>
          <a:solidFill xmlns:a="http://schemas.openxmlformats.org/drawingml/2006/main">
            <a:srgbClr val="ED3027"/>
          </a:solidFill>
          <a:ln xmlns:a="http://schemas.openxmlformats.org/drawingml/2006/main" w="0">
            <a:noFill/>
          </a:ln>
        </p:spPr>
      </p:sp>
      <p:sp>
        <p:nvSpPr>
          <p:cNvPr id="15" name="question-next">
            <a:extLst xmlns:a="http://schemas.openxmlformats.org/drawingml/2006/main">
              <a:ext uri="{FF2B5EF4-FFF2-40B4-BE49-F238E27FC236}">
                <a16:creationId xmlns:a16="http://schemas.microsoft.com/office/drawing/2014/main" id="{F990EE76-AA22-498D-B5B4-DF6FB183B124}"/>
              </a:ext>
            </a:extLst>
          </p:cNvPr>
          <p:cNvSpPr>
            <a:spLocks xmlns:a="http://schemas.openxmlformats.org/drawingml/2006/main" noGrp="1"/>
          </p:cNvSpPr>
          <p:nvPr/>
        </p:nvSpPr>
        <p:spPr>
          <a:xfrm xmlns:a="http://schemas.openxmlformats.org/drawingml/2006/main">
            <a:off x="7258050" y="7067550"/>
            <a:ext cx="2724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Следующий вопрос</a:t>
            </a:r>
          </a:p>
        </p:txBody>
      </p:sp>
      <p:sp>
        <p:nvSpPr>
          <p:cNvPr id="16" name="recorder-preview-surface">
            <a:extLst xmlns:a="http://schemas.openxmlformats.org/drawingml/2006/main">
              <a:ext uri="{FF2B5EF4-FFF2-40B4-BE49-F238E27FC236}">
                <a16:creationId xmlns:a16="http://schemas.microsoft.com/office/drawing/2014/main" id="{4B19918F-7425-47F7-927F-534421D69B98}"/>
              </a:ext>
            </a:extLst>
          </p:cNvPr>
          <p:cNvSpPr>
            <a:spLocks xmlns:a="http://schemas.openxmlformats.org/drawingml/2006/main" noGrp="1"/>
          </p:cNvSpPr>
          <p:nvPr/>
        </p:nvSpPr>
        <p:spPr>
          <a:xfrm xmlns:a="http://schemas.openxmlformats.org/drawingml/2006/main">
            <a:off x="10258425" y="6981825"/>
            <a:ext cx="2200275" cy="447675"/>
          </a:xfrm>
          <a:prstGeom xmlns:a="http://schemas.openxmlformats.org/drawingml/2006/main" prst="roundRect">
            <a:avLst>
              <a:gd name="adj" fmla="val 17021"/>
            </a:avLst>
          </a:prstGeom>
          <a:solidFill xmlns:a="http://schemas.openxmlformats.org/drawingml/2006/main">
            <a:srgbClr val="484A4D"/>
          </a:solidFill>
          <a:ln xmlns:a="http://schemas.openxmlformats.org/drawingml/2006/main" w="0">
            <a:noFill/>
          </a:ln>
        </p:spPr>
      </p:sp>
      <p:sp>
        <p:nvSpPr>
          <p:cNvPr id="17" name="recorder-preview">
            <a:extLst xmlns:a="http://schemas.openxmlformats.org/drawingml/2006/main">
              <a:ext uri="{FF2B5EF4-FFF2-40B4-BE49-F238E27FC236}">
                <a16:creationId xmlns:a16="http://schemas.microsoft.com/office/drawing/2014/main" id="{91D958C7-A8AF-4276-8202-904DB53E8293}"/>
              </a:ext>
            </a:extLst>
          </p:cNvPr>
          <p:cNvSpPr>
            <a:spLocks xmlns:a="http://schemas.openxmlformats.org/drawingml/2006/main" noGrp="1"/>
          </p:cNvSpPr>
          <p:nvPr/>
        </p:nvSpPr>
        <p:spPr>
          <a:xfrm xmlns:a="http://schemas.openxmlformats.org/drawingml/2006/main">
            <a:off x="10372725" y="7067550"/>
            <a:ext cx="19716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Просмотр</a:t>
            </a:r>
          </a:p>
        </p:txBody>
      </p:sp>
      <p:sp>
        <p:nvSpPr>
          <p:cNvPr id="18" name="recorder-repeat">
            <a:extLst xmlns:a="http://schemas.openxmlformats.org/drawingml/2006/main">
              <a:ext uri="{FF2B5EF4-FFF2-40B4-BE49-F238E27FC236}">
                <a16:creationId xmlns:a16="http://schemas.microsoft.com/office/drawing/2014/main" id="{F8B32F40-A91D-42FF-B051-E818E90C750E}"/>
              </a:ext>
            </a:extLst>
          </p:cNvPr>
          <p:cNvSpPr>
            <a:spLocks xmlns:a="http://schemas.openxmlformats.org/drawingml/2006/main" noGrp="1"/>
          </p:cNvSpPr>
          <p:nvPr/>
        </p:nvSpPr>
        <p:spPr>
          <a:xfrm xmlns:a="http://schemas.openxmlformats.org/drawingml/2006/main">
            <a:off x="12573000" y="70580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9DCDF"/>
                </a:solidFill>
                <a:latin typeface="Arial"/>
                <a:ea typeface="Arial"/>
                <a:cs typeface="Arial"/>
              </a:defRPr>
            </a:pPr>
            <a:r>
              <a:rPr sz="1575" b="0">
                <a:solidFill>
                  <a:srgbClr val="D9DCDF"/>
                </a:solidFill>
                <a:latin typeface="Arial"/>
                <a:ea typeface="Arial"/>
                <a:cs typeface="Arial"/>
              </a:rPr>
              <a:t>Переснять</a:t>
            </a:r>
          </a:p>
        </p:txBody>
      </p:sp>
      <p:sp>
        <p:nvSpPr>
          <p:cNvPr id="19" name="illustration-disclosure">
            <a:extLst xmlns:a="http://schemas.openxmlformats.org/drawingml/2006/main">
              <a:ext uri="{FF2B5EF4-FFF2-40B4-BE49-F238E27FC236}">
                <a16:creationId xmlns:a16="http://schemas.microsoft.com/office/drawing/2014/main" id="{1CD4E2CA-5FC2-4EAE-AD7E-D552611CDDC5}"/>
              </a:ext>
            </a:extLst>
          </p:cNvPr>
          <p:cNvSpPr>
            <a:spLocks xmlns:a="http://schemas.openxmlformats.org/drawingml/2006/main" noGrp="1"/>
          </p:cNvSpPr>
          <p:nvPr/>
        </p:nvSpPr>
        <p:spPr>
          <a:xfrm xmlns:a="http://schemas.openxmlformats.org/drawingml/2006/main">
            <a:off x="7067550" y="771525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A9ADB2"/>
                </a:solidFill>
                <a:latin typeface="Arial"/>
                <a:ea typeface="Arial"/>
                <a:cs typeface="Arial"/>
              </a:defRPr>
            </a:pPr>
            <a:r>
              <a:rPr sz="1425" b="0">
                <a:solidFill>
                  <a:srgbClr val="A9ADB2"/>
                </a:solidFill>
                <a:latin typeface="Arial"/>
                <a:ea typeface="Arial"/>
                <a:cs typeface="Arial"/>
              </a:rPr>
              <a:t>Иллюстрация формата / Örnek gösterim</a:t>
            </a:r>
          </a:p>
        </p:txBody>
      </p:sp>
    </p:spTree>
    <p:extLst>
      <p:ext uri="{BB962C8B-B14F-4D97-AF65-F5344CB8AC3E}">
        <p14:creationId xmlns:p14="http://schemas.microsoft.com/office/powerpoint/2010/main" val="152058306"/>
      </p:ext>
    </p:extLst>
  </p:cSld>
</p:sld>
</file>

<file path=ppt/slides/slide4.xml><?xml version="1.0" encoding="utf-8"?>
<p:sld xmlns:p="http://schemas.openxmlformats.org/presentationml/2006/main">
  <p:cSld>
    <p:bg>
      <p:bgPr>
        <a:solidFill xmlns:a="http://schemas.openxmlformats.org/drawingml/2006/main">
          <a:srgbClr val="F3F0EB"/>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5b9f60d53594968"/>
          <a:srcRect xmlns:a="http://schemas.openxmlformats.org/drawingml/2006/main" l="0" t="37298" r="0" b="37298"/>
          <a:stretch xmlns:a="http://schemas.openxmlformats.org/drawingml/2006/main">
            <a:fillRect l="0" t="0" r="0" b="0"/>
          </a:stretch>
        </p:blipFill>
        <p:spPr>
          <a:xfrm xmlns:a="http://schemas.openxmlformats.org/drawingml/2006/main">
            <a:off x="723900" y="438150"/>
            <a:ext cx="2362200" cy="600075"/>
          </a:xfrm>
          <a:prstGeom xmlns:a="http://schemas.openxmlformats.org/drawingml/2006/main" prst="rect">
            <a:avLst/>
          </a:prstGeom>
        </p:spPr>
      </p:pic>
      <p:sp>
        <p:nvSpPr>
          <p:cNvPr id="2" name="ru-title">
            <a:extLst xmlns:a="http://schemas.openxmlformats.org/drawingml/2006/main">
              <a:ext uri="{FF2B5EF4-FFF2-40B4-BE49-F238E27FC236}">
                <a16:creationId xmlns:a16="http://schemas.microsoft.com/office/drawing/2014/main" id="{AFBD3E74-9599-46C8-9E21-DA56A1AC399A}"/>
              </a:ext>
            </a:extLst>
          </p:cNvPr>
          <p:cNvSpPr>
            <a:spLocks xmlns:a="http://schemas.openxmlformats.org/drawingml/2006/main" noGrp="1"/>
          </p:cNvSpPr>
          <p:nvPr/>
        </p:nvSpPr>
        <p:spPr>
          <a:xfrm xmlns:a="http://schemas.openxmlformats.org/drawingml/2006/main">
            <a:off x="723900" y="1743075"/>
            <a:ext cx="57626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202226"/>
                </a:solidFill>
                <a:latin typeface="Arial"/>
                <a:ea typeface="Arial"/>
                <a:cs typeface="Arial"/>
              </a:defRPr>
            </a:pPr>
            <a:r>
              <a:rPr sz="4575" b="1">
                <a:solidFill>
                  <a:srgbClr val="202226"/>
                </a:solidFill>
                <a:latin typeface="Arial"/>
                <a:ea typeface="Arial"/>
                <a:cs typeface="Arial"/>
              </a:rPr>
              <a:t>Одна анкета.</a:t>
            </a:r>
          </a:p>
          <a:p xmlns:a="http://schemas.openxmlformats.org/drawingml/2006/main">
            <a:pPr>
              <a:defRPr sz="4575" b="1">
                <a:solidFill>
                  <a:srgbClr val="202226"/>
                </a:solidFill>
                <a:latin typeface="Arial"/>
                <a:ea typeface="Arial"/>
                <a:cs typeface="Arial"/>
              </a:defRPr>
            </a:pPr>
            <a:r>
              <a:rPr sz="4575" b="1">
                <a:solidFill>
                  <a:srgbClr val="202226"/>
                </a:solidFill>
                <a:latin typeface="Arial"/>
                <a:ea typeface="Arial"/>
                <a:cs typeface="Arial"/>
              </a:rPr>
              <a:t>Разные вакансии.</a:t>
            </a:r>
          </a:p>
        </p:txBody>
      </p:sp>
      <p:sp>
        <p:nvSpPr>
          <p:cNvPr id="3" name="ru-body">
            <a:extLst xmlns:a="http://schemas.openxmlformats.org/drawingml/2006/main">
              <a:ext uri="{FF2B5EF4-FFF2-40B4-BE49-F238E27FC236}">
                <a16:creationId xmlns:a16="http://schemas.microsoft.com/office/drawing/2014/main" id="{E13E1493-0CA6-4971-B4F9-35E2247036CB}"/>
              </a:ext>
            </a:extLst>
          </p:cNvPr>
          <p:cNvSpPr>
            <a:spLocks xmlns:a="http://schemas.openxmlformats.org/drawingml/2006/main" noGrp="1"/>
          </p:cNvSpPr>
          <p:nvPr/>
        </p:nvSpPr>
        <p:spPr>
          <a:xfrm xmlns:a="http://schemas.openxmlformats.org/drawingml/2006/main">
            <a:off x="723900" y="3705225"/>
            <a:ext cx="5619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73777B"/>
                </a:solidFill>
                <a:latin typeface="Arial"/>
                <a:ea typeface="Arial"/>
                <a:cs typeface="Arial"/>
              </a:defRPr>
            </a:pPr>
            <a:r>
              <a:rPr sz="2025" b="0">
                <a:solidFill>
                  <a:srgbClr val="73777B"/>
                </a:solidFill>
                <a:latin typeface="Arial"/>
                <a:ea typeface="Arial"/>
                <a:cs typeface="Arial"/>
              </a:rPr>
              <a:t>Опыт и навыки останутся в профиле.</a:t>
            </a:r>
          </a:p>
          <a:p xmlns:a="http://schemas.openxmlformats.org/drawingml/2006/main">
            <a:pPr>
              <a:defRPr sz="2025" b="0">
                <a:solidFill>
                  <a:srgbClr val="73777B"/>
                </a:solidFill>
                <a:latin typeface="Arial"/>
                <a:ea typeface="Arial"/>
                <a:cs typeface="Arial"/>
              </a:defRPr>
            </a:pPr>
            <a:r>
              <a:rPr sz="2025" b="0">
                <a:solidFill>
                  <a:srgbClr val="73777B"/>
                </a:solidFill>
                <a:latin typeface="Arial"/>
                <a:ea typeface="Arial"/>
                <a:cs typeface="Arial"/>
              </a:rPr>
              <a:t>Видео можно добавить по желанию.</a:t>
            </a:r>
          </a:p>
        </p:txBody>
      </p:sp>
      <p:sp>
        <p:nvSpPr>
          <p:cNvPr id="4" name="ru-help">
            <a:extLst xmlns:a="http://schemas.openxmlformats.org/drawingml/2006/main">
              <a:ext uri="{FF2B5EF4-FFF2-40B4-BE49-F238E27FC236}">
                <a16:creationId xmlns:a16="http://schemas.microsoft.com/office/drawing/2014/main" id="{30BA532A-1D7D-49A0-92A0-A755AFB98EE3}"/>
              </a:ext>
            </a:extLst>
          </p:cNvPr>
          <p:cNvSpPr>
            <a:spLocks xmlns:a="http://schemas.openxmlformats.org/drawingml/2006/main" noGrp="1"/>
          </p:cNvSpPr>
          <p:nvPr/>
        </p:nvSpPr>
        <p:spPr>
          <a:xfrm xmlns:a="http://schemas.openxmlformats.org/drawingml/2006/main">
            <a:off x="723900" y="5000625"/>
            <a:ext cx="552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D3027"/>
                </a:solidFill>
                <a:latin typeface="Arial"/>
                <a:ea typeface="Arial"/>
                <a:cs typeface="Arial"/>
              </a:defRPr>
            </a:pPr>
            <a:r>
              <a:rPr sz="2025" b="1">
                <a:solidFill>
                  <a:srgbClr val="ED3027"/>
                </a:solidFill>
                <a:latin typeface="Arial"/>
                <a:ea typeface="Arial"/>
                <a:cs typeface="Arial"/>
              </a:rPr>
              <a:t>Видеоинструкция поможет</a:t>
            </a:r>
          </a:p>
          <a:p xmlns:a="http://schemas.openxmlformats.org/drawingml/2006/main">
            <a:pPr>
              <a:defRPr sz="2025" b="1">
                <a:solidFill>
                  <a:srgbClr val="ED3027"/>
                </a:solidFill>
                <a:latin typeface="Arial"/>
                <a:ea typeface="Arial"/>
                <a:cs typeface="Arial"/>
              </a:defRPr>
            </a:pPr>
            <a:r>
              <a:rPr sz="2025" b="1">
                <a:solidFill>
                  <a:srgbClr val="ED3027"/>
                </a:solidFill>
                <a:latin typeface="Arial"/>
                <a:ea typeface="Arial"/>
                <a:cs typeface="Arial"/>
              </a:rPr>
              <a:t>заполнить анкету.</a:t>
            </a:r>
          </a:p>
        </p:txBody>
      </p:sp>
      <p:sp>
        <p:nvSpPr>
          <p:cNvPr id="5" name="tr-title">
            <a:extLst xmlns:a="http://schemas.openxmlformats.org/drawingml/2006/main">
              <a:ext uri="{FF2B5EF4-FFF2-40B4-BE49-F238E27FC236}">
                <a16:creationId xmlns:a16="http://schemas.microsoft.com/office/drawing/2014/main" id="{2A545D4A-6C19-4180-8C1E-6E3DF2FC5D63}"/>
              </a:ext>
            </a:extLst>
          </p:cNvPr>
          <p:cNvSpPr>
            <a:spLocks xmlns:a="http://schemas.openxmlformats.org/drawingml/2006/main" noGrp="1"/>
          </p:cNvSpPr>
          <p:nvPr/>
        </p:nvSpPr>
        <p:spPr>
          <a:xfrm xmlns:a="http://schemas.openxmlformats.org/drawingml/2006/main">
            <a:off x="723900" y="6324600"/>
            <a:ext cx="5667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2226"/>
                </a:solidFill>
                <a:latin typeface="Arial"/>
                <a:ea typeface="Arial"/>
                <a:cs typeface="Arial"/>
              </a:defRPr>
            </a:pPr>
            <a:r>
              <a:rPr sz="3000" b="1">
                <a:solidFill>
                  <a:srgbClr val="202226"/>
                </a:solidFill>
                <a:latin typeface="Arial"/>
                <a:ea typeface="Arial"/>
                <a:cs typeface="Arial"/>
              </a:rPr>
              <a:t>Tek profil.</a:t>
            </a:r>
          </a:p>
          <a:p xmlns:a="http://schemas.openxmlformats.org/drawingml/2006/main">
            <a:pPr>
              <a:defRPr sz="3000" b="1">
                <a:solidFill>
                  <a:srgbClr val="202226"/>
                </a:solidFill>
                <a:latin typeface="Arial"/>
                <a:ea typeface="Arial"/>
                <a:cs typeface="Arial"/>
              </a:defRPr>
            </a:pPr>
            <a:r>
              <a:rPr sz="3000" b="1">
                <a:solidFill>
                  <a:srgbClr val="202226"/>
                </a:solidFill>
                <a:latin typeface="Arial"/>
                <a:ea typeface="Arial"/>
                <a:cs typeface="Arial"/>
              </a:rPr>
              <a:t>Farklı iş ilanları.</a:t>
            </a:r>
          </a:p>
        </p:txBody>
      </p:sp>
      <p:sp>
        <p:nvSpPr>
          <p:cNvPr id="6" name="tr-body">
            <a:extLst xmlns:a="http://schemas.openxmlformats.org/drawingml/2006/main">
              <a:ext uri="{FF2B5EF4-FFF2-40B4-BE49-F238E27FC236}">
                <a16:creationId xmlns:a16="http://schemas.microsoft.com/office/drawing/2014/main" id="{84FA1309-4443-404E-BD83-AAB4FA91A75E}"/>
              </a:ext>
            </a:extLst>
          </p:cNvPr>
          <p:cNvSpPr>
            <a:spLocks xmlns:a="http://schemas.openxmlformats.org/drawingml/2006/main" noGrp="1"/>
          </p:cNvSpPr>
          <p:nvPr/>
        </p:nvSpPr>
        <p:spPr>
          <a:xfrm xmlns:a="http://schemas.openxmlformats.org/drawingml/2006/main">
            <a:off x="723900" y="7639050"/>
            <a:ext cx="590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73777B"/>
                </a:solidFill>
                <a:latin typeface="Arial"/>
                <a:ea typeface="Arial"/>
                <a:cs typeface="Arial"/>
              </a:defRPr>
            </a:pPr>
            <a:r>
              <a:rPr sz="1725" b="0">
                <a:solidFill>
                  <a:srgbClr val="73777B"/>
                </a:solidFill>
                <a:latin typeface="Arial"/>
                <a:ea typeface="Arial"/>
                <a:cs typeface="Arial"/>
              </a:rPr>
              <a:t>Deneyim ve beceriler profilde kalır.</a:t>
            </a:r>
          </a:p>
          <a:p xmlns:a="http://schemas.openxmlformats.org/drawingml/2006/main">
            <a:pPr>
              <a:defRPr sz="1725" b="0">
                <a:solidFill>
                  <a:srgbClr val="73777B"/>
                </a:solidFill>
                <a:latin typeface="Arial"/>
                <a:ea typeface="Arial"/>
                <a:cs typeface="Arial"/>
              </a:defRPr>
            </a:pPr>
            <a:r>
              <a:rPr sz="1725" b="0">
                <a:solidFill>
                  <a:srgbClr val="73777B"/>
                </a:solidFill>
                <a:latin typeface="Arial"/>
                <a:ea typeface="Arial"/>
                <a:cs typeface="Arial"/>
              </a:rPr>
              <a:t>Video isteğe bağlı olarak eklenebilir.</a:t>
            </a:r>
          </a:p>
        </p:txBody>
      </p:sp>
      <p:sp>
        <p:nvSpPr>
          <p:cNvPr id="7" name="profile-screen">
            <a:extLst xmlns:a="http://schemas.openxmlformats.org/drawingml/2006/main">
              <a:ext uri="{FF2B5EF4-FFF2-40B4-BE49-F238E27FC236}">
                <a16:creationId xmlns:a16="http://schemas.microsoft.com/office/drawing/2014/main" id="{F1414B4B-0793-49F0-8B66-1909118C6809}"/>
              </a:ext>
            </a:extLst>
          </p:cNvPr>
          <p:cNvSpPr>
            <a:spLocks xmlns:a="http://schemas.openxmlformats.org/drawingml/2006/main" noGrp="1"/>
          </p:cNvSpPr>
          <p:nvPr/>
        </p:nvSpPr>
        <p:spPr>
          <a:xfrm xmlns:a="http://schemas.openxmlformats.org/drawingml/2006/main">
            <a:off x="7010400" y="1752600"/>
            <a:ext cx="7505700" cy="5276850"/>
          </a:xfrm>
          <a:prstGeom xmlns:a="http://schemas.openxmlformats.org/drawingml/2006/main" prst="roundRect">
            <a:avLst>
              <a:gd name="adj" fmla="val 2166"/>
            </a:avLst>
          </a:prstGeom>
          <a:solidFill xmlns:a="http://schemas.openxmlformats.org/drawingml/2006/main">
            <a:srgbClr val="FFFFFF"/>
          </a:solidFill>
          <a:ln xmlns:a="http://schemas.openxmlformats.org/drawingml/2006/main" w="9525">
            <a:solidFill>
              <a:srgbClr val="DFDCD6"/>
            </a:solidFill>
          </a:ln>
        </p:spPr>
      </p:sp>
      <p:sp>
        <p:nvSpPr>
          <p:cNvPr id="8" name="screen-title">
            <a:extLst xmlns:a="http://schemas.openxmlformats.org/drawingml/2006/main">
              <a:ext uri="{FF2B5EF4-FFF2-40B4-BE49-F238E27FC236}">
                <a16:creationId xmlns:a16="http://schemas.microsoft.com/office/drawing/2014/main" id="{637E89E9-6D93-43A4-A9ED-08581B228714}"/>
              </a:ext>
            </a:extLst>
          </p:cNvPr>
          <p:cNvSpPr>
            <a:spLocks xmlns:a="http://schemas.openxmlformats.org/drawingml/2006/main" noGrp="1"/>
          </p:cNvSpPr>
          <p:nvPr/>
        </p:nvSpPr>
        <p:spPr>
          <a:xfrm xmlns:a="http://schemas.openxmlformats.org/drawingml/2006/main">
            <a:off x="7324725" y="2009775"/>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226"/>
                </a:solidFill>
                <a:latin typeface="Arial"/>
                <a:ea typeface="Arial"/>
                <a:cs typeface="Arial"/>
              </a:defRPr>
            </a:pPr>
            <a:r>
              <a:rPr sz="2625" b="1">
                <a:solidFill>
                  <a:srgbClr val="202226"/>
                </a:solidFill>
                <a:latin typeface="Arial"/>
                <a:ea typeface="Arial"/>
                <a:cs typeface="Arial"/>
              </a:rPr>
              <a:t>Ваша анкета</a:t>
            </a:r>
          </a:p>
        </p:txBody>
      </p:sp>
      <p:sp>
        <p:nvSpPr>
          <p:cNvPr id="9" name="profile-help">
            <a:extLst xmlns:a="http://schemas.openxmlformats.org/drawingml/2006/main">
              <a:ext uri="{FF2B5EF4-FFF2-40B4-BE49-F238E27FC236}">
                <a16:creationId xmlns:a16="http://schemas.microsoft.com/office/drawing/2014/main" id="{2DB0A25E-A1B5-4A6B-BA52-9ACD90FD4501}"/>
              </a:ext>
            </a:extLst>
          </p:cNvPr>
          <p:cNvSpPr>
            <a:spLocks xmlns:a="http://schemas.openxmlformats.org/drawingml/2006/main" noGrp="1"/>
          </p:cNvSpPr>
          <p:nvPr/>
        </p:nvSpPr>
        <p:spPr>
          <a:xfrm xmlns:a="http://schemas.openxmlformats.org/drawingml/2006/main">
            <a:off x="7324725" y="2609850"/>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ED3027"/>
                </a:solidFill>
                <a:latin typeface="Arial"/>
                <a:ea typeface="Arial"/>
                <a:cs typeface="Arial"/>
              </a:defRPr>
            </a:pPr>
            <a:r>
              <a:rPr sz="1575" b="0">
                <a:solidFill>
                  <a:srgbClr val="ED3027"/>
                </a:solidFill>
                <a:latin typeface="Arial"/>
                <a:ea typeface="Arial"/>
                <a:cs typeface="Arial"/>
              </a:rPr>
              <a:t>Инструкция по заполнению</a:t>
            </a:r>
          </a:p>
        </p:txBody>
      </p:sp>
      <p:sp>
        <p:nvSpPr>
          <p:cNvPr id="10" name="profile-name-label">
            <a:extLst xmlns:a="http://schemas.openxmlformats.org/drawingml/2006/main">
              <a:ext uri="{FF2B5EF4-FFF2-40B4-BE49-F238E27FC236}">
                <a16:creationId xmlns:a16="http://schemas.microsoft.com/office/drawing/2014/main" id="{EF8AFD4C-49AD-4B91-839D-C9CF2C369341}"/>
              </a:ext>
            </a:extLst>
          </p:cNvPr>
          <p:cNvSpPr>
            <a:spLocks xmlns:a="http://schemas.openxmlformats.org/drawingml/2006/main" noGrp="1"/>
          </p:cNvSpPr>
          <p:nvPr/>
        </p:nvSpPr>
        <p:spPr>
          <a:xfrm xmlns:a="http://schemas.openxmlformats.org/drawingml/2006/main">
            <a:off x="7410450" y="3238500"/>
            <a:ext cx="3181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3777B"/>
                </a:solidFill>
                <a:latin typeface="Arial"/>
                <a:ea typeface="Arial"/>
                <a:cs typeface="Arial"/>
              </a:defRPr>
            </a:pPr>
            <a:r>
              <a:rPr sz="1425" b="0">
                <a:solidFill>
                  <a:srgbClr val="73777B"/>
                </a:solidFill>
                <a:latin typeface="Arial"/>
                <a:ea typeface="Arial"/>
                <a:cs typeface="Arial"/>
              </a:rPr>
              <a:t>Имя</a:t>
            </a:r>
          </a:p>
        </p:txBody>
      </p:sp>
      <p:sp>
        <p:nvSpPr>
          <p:cNvPr id="11" name="profile-name-field">
            <a:extLst xmlns:a="http://schemas.openxmlformats.org/drawingml/2006/main">
              <a:ext uri="{FF2B5EF4-FFF2-40B4-BE49-F238E27FC236}">
                <a16:creationId xmlns:a16="http://schemas.microsoft.com/office/drawing/2014/main" id="{6398FEFD-9E47-42DD-A44E-D6C0F5DA7311}"/>
              </a:ext>
            </a:extLst>
          </p:cNvPr>
          <p:cNvSpPr>
            <a:spLocks xmlns:a="http://schemas.openxmlformats.org/drawingml/2006/main" noGrp="1"/>
          </p:cNvSpPr>
          <p:nvPr/>
        </p:nvSpPr>
        <p:spPr>
          <a:xfrm xmlns:a="http://schemas.openxmlformats.org/drawingml/2006/main">
            <a:off x="7410450" y="3590925"/>
            <a:ext cx="31813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DDDF"/>
            </a:solidFill>
          </a:ln>
        </p:spPr>
      </p:sp>
      <p:sp>
        <p:nvSpPr>
          <p:cNvPr id="12" name="profile-name-value">
            <a:extLst xmlns:a="http://schemas.openxmlformats.org/drawingml/2006/main">
              <a:ext uri="{FF2B5EF4-FFF2-40B4-BE49-F238E27FC236}">
                <a16:creationId xmlns:a16="http://schemas.microsoft.com/office/drawing/2014/main" id="{AF43A84A-77D6-4C6D-9322-D19DB42B654A}"/>
              </a:ext>
            </a:extLst>
          </p:cNvPr>
          <p:cNvSpPr>
            <a:spLocks xmlns:a="http://schemas.openxmlformats.org/drawingml/2006/main" noGrp="1"/>
          </p:cNvSpPr>
          <p:nvPr/>
        </p:nvSpPr>
        <p:spPr>
          <a:xfrm xmlns:a="http://schemas.openxmlformats.org/drawingml/2006/main">
            <a:off x="7505700" y="3695700"/>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226"/>
                </a:solidFill>
                <a:latin typeface="Arial"/>
                <a:ea typeface="Arial"/>
                <a:cs typeface="Arial"/>
              </a:defRPr>
            </a:pPr>
            <a:r>
              <a:rPr sz="1725" b="0">
                <a:solidFill>
                  <a:srgbClr val="202226"/>
                </a:solidFill>
                <a:latin typeface="Arial"/>
                <a:ea typeface="Arial"/>
                <a:cs typeface="Arial"/>
              </a:rPr>
              <a:t>Айгерим</a:t>
            </a:r>
          </a:p>
        </p:txBody>
      </p:sp>
      <p:sp>
        <p:nvSpPr>
          <p:cNvPr id="13" name="profile-city-label">
            <a:extLst xmlns:a="http://schemas.openxmlformats.org/drawingml/2006/main">
              <a:ext uri="{FF2B5EF4-FFF2-40B4-BE49-F238E27FC236}">
                <a16:creationId xmlns:a16="http://schemas.microsoft.com/office/drawing/2014/main" id="{3E25981F-B280-49C3-A698-94510ACF640B}"/>
              </a:ext>
            </a:extLst>
          </p:cNvPr>
          <p:cNvSpPr>
            <a:spLocks xmlns:a="http://schemas.openxmlformats.org/drawingml/2006/main" noGrp="1"/>
          </p:cNvSpPr>
          <p:nvPr/>
        </p:nvSpPr>
        <p:spPr>
          <a:xfrm xmlns:a="http://schemas.openxmlformats.org/drawingml/2006/main">
            <a:off x="10887075" y="3238500"/>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3777B"/>
                </a:solidFill>
                <a:latin typeface="Arial"/>
                <a:ea typeface="Arial"/>
                <a:cs typeface="Arial"/>
              </a:defRPr>
            </a:pPr>
            <a:r>
              <a:rPr sz="1425" b="0">
                <a:solidFill>
                  <a:srgbClr val="73777B"/>
                </a:solidFill>
                <a:latin typeface="Arial"/>
                <a:ea typeface="Arial"/>
                <a:cs typeface="Arial"/>
              </a:rPr>
              <a:t>Город</a:t>
            </a:r>
          </a:p>
        </p:txBody>
      </p:sp>
      <p:sp>
        <p:nvSpPr>
          <p:cNvPr id="14" name="profile-city-field">
            <a:extLst xmlns:a="http://schemas.openxmlformats.org/drawingml/2006/main">
              <a:ext uri="{FF2B5EF4-FFF2-40B4-BE49-F238E27FC236}">
                <a16:creationId xmlns:a16="http://schemas.microsoft.com/office/drawing/2014/main" id="{48BE23B2-08ED-4BB8-AD54-2620524BDFF4}"/>
              </a:ext>
            </a:extLst>
          </p:cNvPr>
          <p:cNvSpPr>
            <a:spLocks xmlns:a="http://schemas.openxmlformats.org/drawingml/2006/main" noGrp="1"/>
          </p:cNvSpPr>
          <p:nvPr/>
        </p:nvSpPr>
        <p:spPr>
          <a:xfrm xmlns:a="http://schemas.openxmlformats.org/drawingml/2006/main">
            <a:off x="10887075" y="3590925"/>
            <a:ext cx="32194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DDDF"/>
            </a:solidFill>
          </a:ln>
        </p:spPr>
      </p:sp>
      <p:sp>
        <p:nvSpPr>
          <p:cNvPr id="15" name="profile-city-value">
            <a:extLst xmlns:a="http://schemas.openxmlformats.org/drawingml/2006/main">
              <a:ext uri="{FF2B5EF4-FFF2-40B4-BE49-F238E27FC236}">
                <a16:creationId xmlns:a16="http://schemas.microsoft.com/office/drawing/2014/main" id="{4587C586-73BC-4C79-A2A0-017E79D7AD87}"/>
              </a:ext>
            </a:extLst>
          </p:cNvPr>
          <p:cNvSpPr>
            <a:spLocks xmlns:a="http://schemas.openxmlformats.org/drawingml/2006/main" noGrp="1"/>
          </p:cNvSpPr>
          <p:nvPr/>
        </p:nvSpPr>
        <p:spPr>
          <a:xfrm xmlns:a="http://schemas.openxmlformats.org/drawingml/2006/main">
            <a:off x="10982325" y="3695700"/>
            <a:ext cx="3028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226"/>
                </a:solidFill>
                <a:latin typeface="Arial"/>
                <a:ea typeface="Arial"/>
                <a:cs typeface="Arial"/>
              </a:defRPr>
            </a:pPr>
            <a:r>
              <a:rPr sz="1725" b="0">
                <a:solidFill>
                  <a:srgbClr val="202226"/>
                </a:solidFill>
                <a:latin typeface="Arial"/>
                <a:ea typeface="Arial"/>
                <a:cs typeface="Arial"/>
              </a:rPr>
              <a:t>Алматы</a:t>
            </a:r>
          </a:p>
        </p:txBody>
      </p:sp>
      <p:sp>
        <p:nvSpPr>
          <p:cNvPr id="16" name="profile-role-label">
            <a:extLst xmlns:a="http://schemas.openxmlformats.org/drawingml/2006/main">
              <a:ext uri="{FF2B5EF4-FFF2-40B4-BE49-F238E27FC236}">
                <a16:creationId xmlns:a16="http://schemas.microsoft.com/office/drawing/2014/main" id="{F0E78C0D-5A8A-4585-9F2A-9AB8A89F0A3C}"/>
              </a:ext>
            </a:extLst>
          </p:cNvPr>
          <p:cNvSpPr>
            <a:spLocks xmlns:a="http://schemas.openxmlformats.org/drawingml/2006/main" noGrp="1"/>
          </p:cNvSpPr>
          <p:nvPr/>
        </p:nvSpPr>
        <p:spPr>
          <a:xfrm xmlns:a="http://schemas.openxmlformats.org/drawingml/2006/main">
            <a:off x="7410450" y="4381500"/>
            <a:ext cx="3181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3777B"/>
                </a:solidFill>
                <a:latin typeface="Arial"/>
                <a:ea typeface="Arial"/>
                <a:cs typeface="Arial"/>
              </a:defRPr>
            </a:pPr>
            <a:r>
              <a:rPr sz="1425" b="0">
                <a:solidFill>
                  <a:srgbClr val="73777B"/>
                </a:solidFill>
                <a:latin typeface="Arial"/>
                <a:ea typeface="Arial"/>
                <a:cs typeface="Arial"/>
              </a:rPr>
              <a:t>Желаемая должность</a:t>
            </a:r>
          </a:p>
        </p:txBody>
      </p:sp>
      <p:sp>
        <p:nvSpPr>
          <p:cNvPr id="17" name="profile-role-field">
            <a:extLst xmlns:a="http://schemas.openxmlformats.org/drawingml/2006/main">
              <a:ext uri="{FF2B5EF4-FFF2-40B4-BE49-F238E27FC236}">
                <a16:creationId xmlns:a16="http://schemas.microsoft.com/office/drawing/2014/main" id="{8F31FC96-9932-4EDC-B888-D595E0DF6909}"/>
              </a:ext>
            </a:extLst>
          </p:cNvPr>
          <p:cNvSpPr>
            <a:spLocks xmlns:a="http://schemas.openxmlformats.org/drawingml/2006/main" noGrp="1"/>
          </p:cNvSpPr>
          <p:nvPr/>
        </p:nvSpPr>
        <p:spPr>
          <a:xfrm xmlns:a="http://schemas.openxmlformats.org/drawingml/2006/main">
            <a:off x="7410450" y="4733925"/>
            <a:ext cx="31813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DDDF"/>
            </a:solidFill>
          </a:ln>
        </p:spPr>
      </p:sp>
      <p:sp>
        <p:nvSpPr>
          <p:cNvPr id="18" name="profile-role-value">
            <a:extLst xmlns:a="http://schemas.openxmlformats.org/drawingml/2006/main">
              <a:ext uri="{FF2B5EF4-FFF2-40B4-BE49-F238E27FC236}">
                <a16:creationId xmlns:a16="http://schemas.microsoft.com/office/drawing/2014/main" id="{32BE88BF-5E52-4D1B-9666-6199A32405BF}"/>
              </a:ext>
            </a:extLst>
          </p:cNvPr>
          <p:cNvSpPr>
            <a:spLocks xmlns:a="http://schemas.openxmlformats.org/drawingml/2006/main" noGrp="1"/>
          </p:cNvSpPr>
          <p:nvPr/>
        </p:nvSpPr>
        <p:spPr>
          <a:xfrm xmlns:a="http://schemas.openxmlformats.org/drawingml/2006/main">
            <a:off x="7505700" y="4838700"/>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226"/>
                </a:solidFill>
                <a:latin typeface="Arial"/>
                <a:ea typeface="Arial"/>
                <a:cs typeface="Arial"/>
              </a:defRPr>
            </a:pPr>
            <a:r>
              <a:rPr sz="1725" b="0">
                <a:solidFill>
                  <a:srgbClr val="202226"/>
                </a:solidFill>
                <a:latin typeface="Arial"/>
                <a:ea typeface="Arial"/>
                <a:cs typeface="Arial"/>
              </a:rPr>
              <a:t>Администратор</a:t>
            </a:r>
          </a:p>
        </p:txBody>
      </p:sp>
      <p:sp>
        <p:nvSpPr>
          <p:cNvPr id="19" name="profile-exp-label">
            <a:extLst xmlns:a="http://schemas.openxmlformats.org/drawingml/2006/main">
              <a:ext uri="{FF2B5EF4-FFF2-40B4-BE49-F238E27FC236}">
                <a16:creationId xmlns:a16="http://schemas.microsoft.com/office/drawing/2014/main" id="{A53EAAAE-6BB0-4E18-902E-CE8FD8E0849B}"/>
              </a:ext>
            </a:extLst>
          </p:cNvPr>
          <p:cNvSpPr>
            <a:spLocks xmlns:a="http://schemas.openxmlformats.org/drawingml/2006/main" noGrp="1"/>
          </p:cNvSpPr>
          <p:nvPr/>
        </p:nvSpPr>
        <p:spPr>
          <a:xfrm xmlns:a="http://schemas.openxmlformats.org/drawingml/2006/main">
            <a:off x="10887075" y="4381500"/>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73777B"/>
                </a:solidFill>
                <a:latin typeface="Arial"/>
                <a:ea typeface="Arial"/>
                <a:cs typeface="Arial"/>
              </a:defRPr>
            </a:pPr>
            <a:r>
              <a:rPr sz="1425" b="0">
                <a:solidFill>
                  <a:srgbClr val="73777B"/>
                </a:solidFill>
                <a:latin typeface="Arial"/>
                <a:ea typeface="Arial"/>
                <a:cs typeface="Arial"/>
              </a:rPr>
              <a:t>Опыт работы</a:t>
            </a:r>
          </a:p>
        </p:txBody>
      </p:sp>
      <p:sp>
        <p:nvSpPr>
          <p:cNvPr id="20" name="profile-exp-field">
            <a:extLst xmlns:a="http://schemas.openxmlformats.org/drawingml/2006/main">
              <a:ext uri="{FF2B5EF4-FFF2-40B4-BE49-F238E27FC236}">
                <a16:creationId xmlns:a16="http://schemas.microsoft.com/office/drawing/2014/main" id="{6ACBEA89-BF64-496E-849A-A7930AD23A4F}"/>
              </a:ext>
            </a:extLst>
          </p:cNvPr>
          <p:cNvSpPr>
            <a:spLocks xmlns:a="http://schemas.openxmlformats.org/drawingml/2006/main" noGrp="1"/>
          </p:cNvSpPr>
          <p:nvPr/>
        </p:nvSpPr>
        <p:spPr>
          <a:xfrm xmlns:a="http://schemas.openxmlformats.org/drawingml/2006/main">
            <a:off x="10887075" y="4733925"/>
            <a:ext cx="32194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DDDF"/>
            </a:solidFill>
          </a:ln>
        </p:spPr>
      </p:sp>
      <p:sp>
        <p:nvSpPr>
          <p:cNvPr id="21" name="profile-exp-value">
            <a:extLst xmlns:a="http://schemas.openxmlformats.org/drawingml/2006/main">
              <a:ext uri="{FF2B5EF4-FFF2-40B4-BE49-F238E27FC236}">
                <a16:creationId xmlns:a16="http://schemas.microsoft.com/office/drawing/2014/main" id="{C443CCED-3832-42A4-9BB7-5B22DD547BFD}"/>
              </a:ext>
            </a:extLst>
          </p:cNvPr>
          <p:cNvSpPr>
            <a:spLocks xmlns:a="http://schemas.openxmlformats.org/drawingml/2006/main" noGrp="1"/>
          </p:cNvSpPr>
          <p:nvPr/>
        </p:nvSpPr>
        <p:spPr>
          <a:xfrm xmlns:a="http://schemas.openxmlformats.org/drawingml/2006/main">
            <a:off x="10982325" y="4838700"/>
            <a:ext cx="3028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226"/>
                </a:solidFill>
                <a:latin typeface="Arial"/>
                <a:ea typeface="Arial"/>
                <a:cs typeface="Arial"/>
              </a:defRPr>
            </a:pPr>
            <a:r>
              <a:rPr sz="1725" b="0">
                <a:solidFill>
                  <a:srgbClr val="202226"/>
                </a:solidFill>
                <a:latin typeface="Arial"/>
                <a:ea typeface="Arial"/>
                <a:cs typeface="Arial"/>
              </a:rPr>
              <a:t>1 год</a:t>
            </a:r>
          </a:p>
        </p:txBody>
      </p:sp>
      <p:sp>
        <p:nvSpPr>
          <p:cNvPr id="22" name="video-option">
            <a:extLst xmlns:a="http://schemas.openxmlformats.org/drawingml/2006/main">
              <a:ext uri="{FF2B5EF4-FFF2-40B4-BE49-F238E27FC236}">
                <a16:creationId xmlns:a16="http://schemas.microsoft.com/office/drawing/2014/main" id="{1295A3D9-C026-4D7B-A5F6-FE19EECF6EA2}"/>
              </a:ext>
            </a:extLst>
          </p:cNvPr>
          <p:cNvSpPr>
            <a:spLocks xmlns:a="http://schemas.openxmlformats.org/drawingml/2006/main" noGrp="1"/>
          </p:cNvSpPr>
          <p:nvPr/>
        </p:nvSpPr>
        <p:spPr>
          <a:xfrm xmlns:a="http://schemas.openxmlformats.org/drawingml/2006/main">
            <a:off x="7410450" y="5543550"/>
            <a:ext cx="6696075" cy="590550"/>
          </a:xfrm>
          <a:prstGeom xmlns:a="http://schemas.openxmlformats.org/drawingml/2006/main" prst="roundRect">
            <a:avLst>
              <a:gd name="adj" fmla="val 12903"/>
            </a:avLst>
          </a:prstGeom>
          <a:solidFill xmlns:a="http://schemas.openxmlformats.org/drawingml/2006/main">
            <a:srgbClr val="F7F4EF"/>
          </a:solidFill>
          <a:ln xmlns:a="http://schemas.openxmlformats.org/drawingml/2006/main" w="0">
            <a:noFill/>
          </a:ln>
        </p:spPr>
      </p:sp>
      <p:sp>
        <p:nvSpPr>
          <p:cNvPr id="23" name="video-label">
            <a:extLst xmlns:a="http://schemas.openxmlformats.org/drawingml/2006/main">
              <a:ext uri="{FF2B5EF4-FFF2-40B4-BE49-F238E27FC236}">
                <a16:creationId xmlns:a16="http://schemas.microsoft.com/office/drawing/2014/main" id="{8CC318E2-A6DB-4FA9-A27F-4E8367E9837E}"/>
              </a:ext>
            </a:extLst>
          </p:cNvPr>
          <p:cNvSpPr>
            <a:spLocks xmlns:a="http://schemas.openxmlformats.org/drawingml/2006/main" noGrp="1"/>
          </p:cNvSpPr>
          <p:nvPr/>
        </p:nvSpPr>
        <p:spPr>
          <a:xfrm xmlns:a="http://schemas.openxmlformats.org/drawingml/2006/main">
            <a:off x="7562850" y="5638800"/>
            <a:ext cx="323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02226"/>
                </a:solidFill>
                <a:latin typeface="Arial"/>
                <a:ea typeface="Arial"/>
                <a:cs typeface="Arial"/>
              </a:defRPr>
            </a:pPr>
            <a:r>
              <a:rPr sz="1800" b="1">
                <a:solidFill>
                  <a:srgbClr val="202226"/>
                </a:solidFill>
                <a:latin typeface="Arial"/>
                <a:ea typeface="Arial"/>
                <a:cs typeface="Arial"/>
              </a:rPr>
              <a:t>Видеоответы</a:t>
            </a:r>
          </a:p>
        </p:txBody>
      </p:sp>
      <p:sp>
        <p:nvSpPr>
          <p:cNvPr id="24" name="video-status">
            <a:extLst xmlns:a="http://schemas.openxmlformats.org/drawingml/2006/main">
              <a:ext uri="{FF2B5EF4-FFF2-40B4-BE49-F238E27FC236}">
                <a16:creationId xmlns:a16="http://schemas.microsoft.com/office/drawing/2014/main" id="{598E2CB5-6BAF-402E-A9A2-CA83BB56E71B}"/>
              </a:ext>
            </a:extLst>
          </p:cNvPr>
          <p:cNvSpPr>
            <a:spLocks xmlns:a="http://schemas.openxmlformats.org/drawingml/2006/main" noGrp="1"/>
          </p:cNvSpPr>
          <p:nvPr/>
        </p:nvSpPr>
        <p:spPr>
          <a:xfrm xmlns:a="http://schemas.openxmlformats.org/drawingml/2006/main">
            <a:off x="11496675" y="56769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3777B"/>
                </a:solidFill>
                <a:latin typeface="Arial"/>
                <a:ea typeface="Arial"/>
                <a:cs typeface="Arial"/>
              </a:defRPr>
            </a:pPr>
            <a:r>
              <a:rPr sz="1500" b="0">
                <a:solidFill>
                  <a:srgbClr val="73777B"/>
                </a:solidFill>
                <a:latin typeface="Arial"/>
                <a:ea typeface="Arial"/>
                <a:cs typeface="Arial"/>
              </a:rPr>
              <a:t>По желанию</a:t>
            </a:r>
          </a:p>
        </p:txBody>
      </p:sp>
      <p:sp>
        <p:nvSpPr>
          <p:cNvPr id="25" name="profile-save-surface">
            <a:extLst xmlns:a="http://schemas.openxmlformats.org/drawingml/2006/main">
              <a:ext uri="{FF2B5EF4-FFF2-40B4-BE49-F238E27FC236}">
                <a16:creationId xmlns:a16="http://schemas.microsoft.com/office/drawing/2014/main" id="{DD24DAE5-4E02-45DC-AF24-75BAE1B2CF4B}"/>
              </a:ext>
            </a:extLst>
          </p:cNvPr>
          <p:cNvSpPr>
            <a:spLocks xmlns:a="http://schemas.openxmlformats.org/drawingml/2006/main" noGrp="1"/>
          </p:cNvSpPr>
          <p:nvPr/>
        </p:nvSpPr>
        <p:spPr>
          <a:xfrm xmlns:a="http://schemas.openxmlformats.org/drawingml/2006/main">
            <a:off x="7410450" y="6381750"/>
            <a:ext cx="6696075" cy="447675"/>
          </a:xfrm>
          <a:prstGeom xmlns:a="http://schemas.openxmlformats.org/drawingml/2006/main" prst="roundRect">
            <a:avLst>
              <a:gd name="adj" fmla="val 17021"/>
            </a:avLst>
          </a:prstGeom>
          <a:solidFill xmlns:a="http://schemas.openxmlformats.org/drawingml/2006/main">
            <a:srgbClr val="ED3027"/>
          </a:solidFill>
          <a:ln xmlns:a="http://schemas.openxmlformats.org/drawingml/2006/main" w="0">
            <a:noFill/>
          </a:ln>
        </p:spPr>
      </p:sp>
      <p:sp>
        <p:nvSpPr>
          <p:cNvPr id="26" name="profile-save">
            <a:extLst xmlns:a="http://schemas.openxmlformats.org/drawingml/2006/main">
              <a:ext uri="{FF2B5EF4-FFF2-40B4-BE49-F238E27FC236}">
                <a16:creationId xmlns:a16="http://schemas.microsoft.com/office/drawing/2014/main" id="{A3AB856F-EB40-4DA1-8B7C-66CD15360E38}"/>
              </a:ext>
            </a:extLst>
          </p:cNvPr>
          <p:cNvSpPr>
            <a:spLocks xmlns:a="http://schemas.openxmlformats.org/drawingml/2006/main" noGrp="1"/>
          </p:cNvSpPr>
          <p:nvPr/>
        </p:nvSpPr>
        <p:spPr>
          <a:xfrm xmlns:a="http://schemas.openxmlformats.org/drawingml/2006/main">
            <a:off x="7524750" y="6467475"/>
            <a:ext cx="64674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Сохранить анкету</a:t>
            </a:r>
          </a:p>
        </p:txBody>
      </p:sp>
      <p:sp>
        <p:nvSpPr>
          <p:cNvPr id="27" name="journey-label">
            <a:extLst xmlns:a="http://schemas.openxmlformats.org/drawingml/2006/main">
              <a:ext uri="{FF2B5EF4-FFF2-40B4-BE49-F238E27FC236}">
                <a16:creationId xmlns:a16="http://schemas.microsoft.com/office/drawing/2014/main" id="{09B0F063-07F7-4A5F-90E7-F035D9A35FF8}"/>
              </a:ext>
            </a:extLst>
          </p:cNvPr>
          <p:cNvSpPr>
            <a:spLocks xmlns:a="http://schemas.openxmlformats.org/drawingml/2006/main" noGrp="1"/>
          </p:cNvSpPr>
          <p:nvPr/>
        </p:nvSpPr>
        <p:spPr>
          <a:xfrm xmlns:a="http://schemas.openxmlformats.org/drawingml/2006/main">
            <a:off x="7181850" y="7429500"/>
            <a:ext cx="7334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02226"/>
                </a:solidFill>
                <a:latin typeface="Arial"/>
                <a:ea typeface="Arial"/>
                <a:cs typeface="Arial"/>
              </a:defRPr>
            </a:pPr>
            <a:r>
              <a:rPr sz="1800" b="1">
                <a:solidFill>
                  <a:srgbClr val="202226"/>
                </a:solidFill>
                <a:latin typeface="Arial"/>
                <a:ea typeface="Arial"/>
                <a:cs typeface="Arial"/>
              </a:rPr>
              <a:t>01  Вакансия          02  Анкета          03  Отклик</a:t>
            </a:r>
          </a:p>
        </p:txBody>
      </p:sp>
      <p:sp>
        <p:nvSpPr>
          <p:cNvPr id="28" name="journey-tr">
            <a:extLst xmlns:a="http://schemas.openxmlformats.org/drawingml/2006/main">
              <a:ext uri="{FF2B5EF4-FFF2-40B4-BE49-F238E27FC236}">
                <a16:creationId xmlns:a16="http://schemas.microsoft.com/office/drawing/2014/main" id="{F8343613-56C9-48FF-8162-B4B9DCBA34E9}"/>
              </a:ext>
            </a:extLst>
          </p:cNvPr>
          <p:cNvSpPr>
            <a:spLocks xmlns:a="http://schemas.openxmlformats.org/drawingml/2006/main" noGrp="1"/>
          </p:cNvSpPr>
          <p:nvPr/>
        </p:nvSpPr>
        <p:spPr>
          <a:xfrm xmlns:a="http://schemas.openxmlformats.org/drawingml/2006/main">
            <a:off x="7181850" y="7886700"/>
            <a:ext cx="733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73777B"/>
                </a:solidFill>
                <a:latin typeface="Arial"/>
                <a:ea typeface="Arial"/>
                <a:cs typeface="Arial"/>
              </a:defRPr>
            </a:pPr>
            <a:r>
              <a:rPr sz="1575" b="0">
                <a:solidFill>
                  <a:srgbClr val="73777B"/>
                </a:solidFill>
                <a:latin typeface="Arial"/>
                <a:ea typeface="Arial"/>
                <a:cs typeface="Arial"/>
              </a:rPr>
              <a:t>İş ilanı                        Profil                        Başvuru</a:t>
            </a:r>
          </a:p>
        </p:txBody>
      </p:sp>
    </p:spTree>
    <p:extLst>
      <p:ext uri="{BB962C8B-B14F-4D97-AF65-F5344CB8AC3E}">
        <p14:creationId xmlns:p14="http://schemas.microsoft.com/office/powerpoint/2010/main" val="532233371"/>
      </p:ext>
    </p:extLst>
  </p:cSld>
</p:sld>
</file>

<file path=ppt/slides/slide5.xml><?xml version="1.0" encoding="utf-8"?>
<p:sld xmlns:p="http://schemas.openxmlformats.org/presentationml/2006/main">
  <p:cSld>
    <p:bg>
      <p:bgPr>
        <a:solidFill xmlns:a="http://schemas.openxmlformats.org/drawingml/2006/main">
          <a:srgbClr val="202226"/>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75ff121c664a44b2"/>
          <a:srcRect xmlns:a="http://schemas.openxmlformats.org/drawingml/2006/main" l="0" t="37298" r="0" b="37298"/>
          <a:stretch xmlns:a="http://schemas.openxmlformats.org/drawingml/2006/main">
            <a:fillRect l="0" t="0" r="0" b="0"/>
          </a:stretch>
        </p:blipFill>
        <p:spPr>
          <a:xfrm xmlns:a="http://schemas.openxmlformats.org/drawingml/2006/main">
            <a:off x="723900" y="438150"/>
            <a:ext cx="2362200" cy="600075"/>
          </a:xfrm>
          <a:prstGeom xmlns:a="http://schemas.openxmlformats.org/drawingml/2006/main" prst="rect">
            <a:avLst/>
          </a:prstGeom>
        </p:spPr>
      </p:pic>
      <p:sp>
        <p:nvSpPr>
          <p:cNvPr id="2" name="ru-title">
            <a:extLst xmlns:a="http://schemas.openxmlformats.org/drawingml/2006/main">
              <a:ext uri="{FF2B5EF4-FFF2-40B4-BE49-F238E27FC236}">
                <a16:creationId xmlns:a16="http://schemas.microsoft.com/office/drawing/2014/main" id="{59824908-BC21-4BCE-A78E-A70EAE638FE0}"/>
              </a:ext>
            </a:extLst>
          </p:cNvPr>
          <p:cNvSpPr>
            <a:spLocks xmlns:a="http://schemas.openxmlformats.org/drawingml/2006/main" noGrp="1"/>
          </p:cNvSpPr>
          <p:nvPr/>
        </p:nvSpPr>
        <p:spPr>
          <a:xfrm xmlns:a="http://schemas.openxmlformats.org/drawingml/2006/main">
            <a:off x="723900" y="1381125"/>
            <a:ext cx="1390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FFFFF"/>
                </a:solidFill>
                <a:latin typeface="Arial"/>
                <a:ea typeface="Arial"/>
                <a:cs typeface="Arial"/>
              </a:defRPr>
            </a:pPr>
            <a:r>
              <a:rPr sz="4425" b="1">
                <a:solidFill>
                  <a:srgbClr val="FFFFFF"/>
                </a:solidFill>
                <a:latin typeface="Arial"/>
                <a:ea typeface="Arial"/>
                <a:cs typeface="Arial"/>
              </a:rPr>
              <a:t>Кандидаты перед глазами</a:t>
            </a:r>
          </a:p>
        </p:txBody>
      </p:sp>
      <p:sp>
        <p:nvSpPr>
          <p:cNvPr id="3" name="ru-body">
            <a:extLst xmlns:a="http://schemas.openxmlformats.org/drawingml/2006/main">
              <a:ext uri="{FF2B5EF4-FFF2-40B4-BE49-F238E27FC236}">
                <a16:creationId xmlns:a16="http://schemas.microsoft.com/office/drawing/2014/main" id="{DCA76360-127D-4016-AEF7-5EA7243F8F02}"/>
              </a:ext>
            </a:extLst>
          </p:cNvPr>
          <p:cNvSpPr>
            <a:spLocks xmlns:a="http://schemas.openxmlformats.org/drawingml/2006/main" noGrp="1"/>
          </p:cNvSpPr>
          <p:nvPr/>
        </p:nvSpPr>
        <p:spPr>
          <a:xfrm xmlns:a="http://schemas.openxmlformats.org/drawingml/2006/main">
            <a:off x="723900" y="2276475"/>
            <a:ext cx="1390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9DCDF"/>
                </a:solidFill>
                <a:latin typeface="Arial"/>
                <a:ea typeface="Arial"/>
                <a:cs typeface="Arial"/>
              </a:defRPr>
            </a:pPr>
            <a:r>
              <a:rPr sz="2100" b="0">
                <a:solidFill>
                  <a:srgbClr val="D9DCDF"/>
                </a:solidFill>
                <a:latin typeface="Arial"/>
                <a:ea typeface="Arial"/>
                <a:cs typeface="Arial"/>
              </a:rPr>
              <a:t>Опыт, навыки и видеоответы помогут подготовиться к встрече.</a:t>
            </a:r>
          </a:p>
        </p:txBody>
      </p:sp>
      <p:sp>
        <p:nvSpPr>
          <p:cNvPr id="4" name="workspace">
            <a:extLst xmlns:a="http://schemas.openxmlformats.org/drawingml/2006/main">
              <a:ext uri="{FF2B5EF4-FFF2-40B4-BE49-F238E27FC236}">
                <a16:creationId xmlns:a16="http://schemas.microsoft.com/office/drawing/2014/main" id="{2DA523BC-66F8-40EA-A5DF-498D7A78C93E}"/>
              </a:ext>
            </a:extLst>
          </p:cNvPr>
          <p:cNvSpPr>
            <a:spLocks xmlns:a="http://schemas.openxmlformats.org/drawingml/2006/main" noGrp="1"/>
          </p:cNvSpPr>
          <p:nvPr/>
        </p:nvSpPr>
        <p:spPr>
          <a:xfrm xmlns:a="http://schemas.openxmlformats.org/drawingml/2006/main">
            <a:off x="723900" y="3086100"/>
            <a:ext cx="13792200" cy="3667125"/>
          </a:xfrm>
          <a:prstGeom xmlns:a="http://schemas.openxmlformats.org/drawingml/2006/main" prst="roundRect">
            <a:avLst>
              <a:gd name="adj" fmla="val 3117"/>
            </a:avLst>
          </a:prstGeom>
          <a:solidFill xmlns:a="http://schemas.openxmlformats.org/drawingml/2006/main">
            <a:srgbClr val="FFFFFF"/>
          </a:solidFill>
          <a:ln xmlns:a="http://schemas.openxmlformats.org/drawingml/2006/main" w="0">
            <a:noFill/>
          </a:ln>
        </p:spPr>
      </p:sp>
      <p:sp>
        <p:nvSpPr>
          <p:cNvPr id="5" name="workspace-nav">
            <a:extLst xmlns:a="http://schemas.openxmlformats.org/drawingml/2006/main">
              <a:ext uri="{FF2B5EF4-FFF2-40B4-BE49-F238E27FC236}">
                <a16:creationId xmlns:a16="http://schemas.microsoft.com/office/drawing/2014/main" id="{1A233F89-4B52-407A-8FF6-F24C5CEB3E1B}"/>
              </a:ext>
            </a:extLst>
          </p:cNvPr>
          <p:cNvSpPr>
            <a:spLocks xmlns:a="http://schemas.openxmlformats.org/drawingml/2006/main" noGrp="1"/>
          </p:cNvSpPr>
          <p:nvPr/>
        </p:nvSpPr>
        <p:spPr>
          <a:xfrm xmlns:a="http://schemas.openxmlformats.org/drawingml/2006/main">
            <a:off x="723900" y="3086100"/>
            <a:ext cx="2143125" cy="3667125"/>
          </a:xfrm>
          <a:prstGeom xmlns:a="http://schemas.openxmlformats.org/drawingml/2006/main" prst="rect">
            <a:avLst/>
          </a:prstGeom>
          <a:solidFill xmlns:a="http://schemas.openxmlformats.org/drawingml/2006/main">
            <a:srgbClr val="2D3033"/>
          </a:solidFill>
          <a:ln xmlns:a="http://schemas.openxmlformats.org/drawingml/2006/main" w="0">
            <a:noFill/>
          </a:ln>
        </p:spPr>
      </p:sp>
      <p:sp>
        <p:nvSpPr>
          <p:cNvPr id="6" name="workspace-brand">
            <a:extLst xmlns:a="http://schemas.openxmlformats.org/drawingml/2006/main">
              <a:ext uri="{FF2B5EF4-FFF2-40B4-BE49-F238E27FC236}">
                <a16:creationId xmlns:a16="http://schemas.microsoft.com/office/drawing/2014/main" id="{D7A1EB9A-E99E-42E5-83BC-CE5EEB0B3A7B}"/>
              </a:ext>
            </a:extLst>
          </p:cNvPr>
          <p:cNvSpPr>
            <a:spLocks xmlns:a="http://schemas.openxmlformats.org/drawingml/2006/main" noGrp="1"/>
          </p:cNvSpPr>
          <p:nvPr/>
        </p:nvSpPr>
        <p:spPr>
          <a:xfrm xmlns:a="http://schemas.openxmlformats.org/drawingml/2006/main">
            <a:off x="904875" y="3286125"/>
            <a:ext cx="1809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Кабинет</a:t>
            </a:r>
          </a:p>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компании</a:t>
            </a:r>
          </a:p>
        </p:txBody>
      </p:sp>
      <p:sp>
        <p:nvSpPr>
          <p:cNvPr id="7" name="workspace-links">
            <a:extLst xmlns:a="http://schemas.openxmlformats.org/drawingml/2006/main">
              <a:ext uri="{FF2B5EF4-FFF2-40B4-BE49-F238E27FC236}">
                <a16:creationId xmlns:a16="http://schemas.microsoft.com/office/drawing/2014/main" id="{9EB86469-6074-4975-89BD-BA571801A021}"/>
              </a:ext>
            </a:extLst>
          </p:cNvPr>
          <p:cNvSpPr>
            <a:spLocks xmlns:a="http://schemas.openxmlformats.org/drawingml/2006/main" noGrp="1"/>
          </p:cNvSpPr>
          <p:nvPr/>
        </p:nvSpPr>
        <p:spPr>
          <a:xfrm xmlns:a="http://schemas.openxmlformats.org/drawingml/2006/main">
            <a:off x="904875" y="4343400"/>
            <a:ext cx="18097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9DCDF"/>
                </a:solidFill>
                <a:latin typeface="Arial"/>
                <a:ea typeface="Arial"/>
                <a:cs typeface="Arial"/>
              </a:defRPr>
            </a:pPr>
            <a:r>
              <a:rPr sz="1575" b="0">
                <a:solidFill>
                  <a:srgbClr val="D9DCDF"/>
                </a:solidFill>
                <a:latin typeface="Arial"/>
                <a:ea typeface="Arial"/>
                <a:cs typeface="Arial"/>
              </a:rPr>
              <a:t>Вакансии</a:t>
            </a:r>
          </a:p>
          <a:p xmlns:a="http://schemas.openxmlformats.org/drawingml/2006/main">
            <a:r>
              <a:t/>
            </a:r>
          </a:p>
          <a:p xmlns:a="http://schemas.openxmlformats.org/drawingml/2006/main">
            <a:pPr>
              <a:defRPr sz="1575" b="0">
                <a:solidFill>
                  <a:srgbClr val="D9DCDF"/>
                </a:solidFill>
                <a:latin typeface="Arial"/>
                <a:ea typeface="Arial"/>
                <a:cs typeface="Arial"/>
              </a:defRPr>
            </a:pPr>
            <a:r>
              <a:rPr sz="1575" b="0">
                <a:solidFill>
                  <a:srgbClr val="D9DCDF"/>
                </a:solidFill>
                <a:latin typeface="Arial"/>
                <a:ea typeface="Arial"/>
                <a:cs typeface="Arial"/>
              </a:rPr>
              <a:t>Кандидаты</a:t>
            </a:r>
          </a:p>
          <a:p xmlns:a="http://schemas.openxmlformats.org/drawingml/2006/main">
            <a:r>
              <a:t/>
            </a:r>
          </a:p>
          <a:p xmlns:a="http://schemas.openxmlformats.org/drawingml/2006/main">
            <a:pPr>
              <a:defRPr sz="1575" b="0">
                <a:solidFill>
                  <a:srgbClr val="D9DCDF"/>
                </a:solidFill>
                <a:latin typeface="Arial"/>
                <a:ea typeface="Arial"/>
                <a:cs typeface="Arial"/>
              </a:defRPr>
            </a:pPr>
            <a:r>
              <a:rPr sz="1575" b="0">
                <a:solidFill>
                  <a:srgbClr val="D9DCDF"/>
                </a:solidFill>
                <a:latin typeface="Arial"/>
                <a:ea typeface="Arial"/>
                <a:cs typeface="Arial"/>
              </a:rPr>
              <a:t>Приглашения</a:t>
            </a:r>
          </a:p>
        </p:txBody>
      </p:sp>
      <p:sp>
        <p:nvSpPr>
          <p:cNvPr id="8" name="workspace-vacancy">
            <a:extLst xmlns:a="http://schemas.openxmlformats.org/drawingml/2006/main">
              <a:ext uri="{FF2B5EF4-FFF2-40B4-BE49-F238E27FC236}">
                <a16:creationId xmlns:a16="http://schemas.microsoft.com/office/drawing/2014/main" id="{7B757CB4-518D-454B-88BF-25A29B1AB950}"/>
              </a:ext>
            </a:extLst>
          </p:cNvPr>
          <p:cNvSpPr>
            <a:spLocks xmlns:a="http://schemas.openxmlformats.org/drawingml/2006/main" noGrp="1"/>
          </p:cNvSpPr>
          <p:nvPr/>
        </p:nvSpPr>
        <p:spPr>
          <a:xfrm xmlns:a="http://schemas.openxmlformats.org/drawingml/2006/main">
            <a:off x="3105150" y="32575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2226"/>
                </a:solidFill>
                <a:latin typeface="Arial"/>
                <a:ea typeface="Arial"/>
                <a:cs typeface="Arial"/>
              </a:defRPr>
            </a:pPr>
            <a:r>
              <a:rPr sz="2025" b="1">
                <a:solidFill>
                  <a:srgbClr val="202226"/>
                </a:solidFill>
                <a:latin typeface="Arial"/>
                <a:ea typeface="Arial"/>
                <a:cs typeface="Arial"/>
              </a:rPr>
              <a:t>Кандидаты на вакансию «Администратор»</a:t>
            </a:r>
          </a:p>
        </p:txBody>
      </p:sp>
      <p:sp>
        <p:nvSpPr>
          <p:cNvPr id="9" name="table-selected">
            <a:extLst xmlns:a="http://schemas.openxmlformats.org/drawingml/2006/main">
              <a:ext uri="{FF2B5EF4-FFF2-40B4-BE49-F238E27FC236}">
                <a16:creationId xmlns:a16="http://schemas.microsoft.com/office/drawing/2014/main" id="{2C35E602-0DF0-4D22-B3E0-474F0CB39F34}"/>
              </a:ext>
            </a:extLst>
          </p:cNvPr>
          <p:cNvSpPr>
            <a:spLocks xmlns:a="http://schemas.openxmlformats.org/drawingml/2006/main" noGrp="1"/>
          </p:cNvSpPr>
          <p:nvPr/>
        </p:nvSpPr>
        <p:spPr>
          <a:xfrm xmlns:a="http://schemas.openxmlformats.org/drawingml/2006/main">
            <a:off x="3181350" y="3905250"/>
            <a:ext cx="6162675" cy="723900"/>
          </a:xfrm>
          <a:prstGeom xmlns:a="http://schemas.openxmlformats.org/drawingml/2006/main" prst="roundRect">
            <a:avLst>
              <a:gd name="adj" fmla="val 7895"/>
            </a:avLst>
          </a:prstGeom>
          <a:solidFill xmlns:a="http://schemas.openxmlformats.org/drawingml/2006/main">
            <a:srgbClr val="FFF0ED"/>
          </a:solidFill>
          <a:ln xmlns:a="http://schemas.openxmlformats.org/drawingml/2006/main" w="0">
            <a:noFill/>
          </a:ln>
        </p:spPr>
      </p:sp>
      <p:sp>
        <p:nvSpPr>
          <p:cNvPr id="10" name="candidate-name-0">
            <a:extLst xmlns:a="http://schemas.openxmlformats.org/drawingml/2006/main">
              <a:ext uri="{FF2B5EF4-FFF2-40B4-BE49-F238E27FC236}">
                <a16:creationId xmlns:a16="http://schemas.microsoft.com/office/drawing/2014/main" id="{8A8E55DC-E880-4865-B9C7-720BBCB2F2E5}"/>
              </a:ext>
            </a:extLst>
          </p:cNvPr>
          <p:cNvSpPr>
            <a:spLocks xmlns:a="http://schemas.openxmlformats.org/drawingml/2006/main" noGrp="1"/>
          </p:cNvSpPr>
          <p:nvPr/>
        </p:nvSpPr>
        <p:spPr>
          <a:xfrm xmlns:a="http://schemas.openxmlformats.org/drawingml/2006/main">
            <a:off x="3276600" y="3990975"/>
            <a:ext cx="2047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02226"/>
                </a:solidFill>
                <a:latin typeface="Arial"/>
                <a:ea typeface="Arial"/>
                <a:cs typeface="Arial"/>
              </a:defRPr>
            </a:pPr>
            <a:r>
              <a:rPr sz="1800" b="1">
                <a:solidFill>
                  <a:srgbClr val="202226"/>
                </a:solidFill>
                <a:latin typeface="Arial"/>
                <a:ea typeface="Arial"/>
                <a:cs typeface="Arial"/>
              </a:rPr>
              <a:t>Айгерим</a:t>
            </a:r>
          </a:p>
        </p:txBody>
      </p:sp>
      <p:sp>
        <p:nvSpPr>
          <p:cNvPr id="11" name="candidate-city-0">
            <a:extLst xmlns:a="http://schemas.openxmlformats.org/drawingml/2006/main">
              <a:ext uri="{FF2B5EF4-FFF2-40B4-BE49-F238E27FC236}">
                <a16:creationId xmlns:a16="http://schemas.microsoft.com/office/drawing/2014/main" id="{E4113D74-BC89-4A38-82ED-A6A85072FF04}"/>
              </a:ext>
            </a:extLst>
          </p:cNvPr>
          <p:cNvSpPr>
            <a:spLocks xmlns:a="http://schemas.openxmlformats.org/drawingml/2006/main" noGrp="1"/>
          </p:cNvSpPr>
          <p:nvPr/>
        </p:nvSpPr>
        <p:spPr>
          <a:xfrm xmlns:a="http://schemas.openxmlformats.org/drawingml/2006/main">
            <a:off x="5372100" y="4010025"/>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3777B"/>
                </a:solidFill>
                <a:latin typeface="Arial"/>
                <a:ea typeface="Arial"/>
                <a:cs typeface="Arial"/>
              </a:defRPr>
            </a:pPr>
            <a:r>
              <a:rPr sz="1500" b="0">
                <a:solidFill>
                  <a:srgbClr val="73777B"/>
                </a:solidFill>
                <a:latin typeface="Arial"/>
                <a:ea typeface="Arial"/>
                <a:cs typeface="Arial"/>
              </a:rPr>
              <a:t>Алматы</a:t>
            </a:r>
          </a:p>
        </p:txBody>
      </p:sp>
      <p:sp>
        <p:nvSpPr>
          <p:cNvPr id="12" name="candidate-experience-0">
            <a:extLst xmlns:a="http://schemas.openxmlformats.org/drawingml/2006/main">
              <a:ext uri="{FF2B5EF4-FFF2-40B4-BE49-F238E27FC236}">
                <a16:creationId xmlns:a16="http://schemas.microsoft.com/office/drawing/2014/main" id="{0E8298C9-E404-44EE-866C-B1B723936342}"/>
              </a:ext>
            </a:extLst>
          </p:cNvPr>
          <p:cNvSpPr>
            <a:spLocks xmlns:a="http://schemas.openxmlformats.org/drawingml/2006/main" noGrp="1"/>
          </p:cNvSpPr>
          <p:nvPr/>
        </p:nvSpPr>
        <p:spPr>
          <a:xfrm xmlns:a="http://schemas.openxmlformats.org/drawingml/2006/main">
            <a:off x="6705600" y="4010025"/>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3777B"/>
                </a:solidFill>
                <a:latin typeface="Arial"/>
                <a:ea typeface="Arial"/>
                <a:cs typeface="Arial"/>
              </a:defRPr>
            </a:pPr>
            <a:r>
              <a:rPr sz="1500" b="0">
                <a:solidFill>
                  <a:srgbClr val="73777B"/>
                </a:solidFill>
                <a:latin typeface="Arial"/>
                <a:ea typeface="Arial"/>
                <a:cs typeface="Arial"/>
              </a:rPr>
              <a:t>1 год</a:t>
            </a:r>
          </a:p>
        </p:txBody>
      </p:sp>
      <p:sp>
        <p:nvSpPr>
          <p:cNvPr id="13" name="candidate-video-0">
            <a:extLst xmlns:a="http://schemas.openxmlformats.org/drawingml/2006/main">
              <a:ext uri="{FF2B5EF4-FFF2-40B4-BE49-F238E27FC236}">
                <a16:creationId xmlns:a16="http://schemas.microsoft.com/office/drawing/2014/main" id="{FCFFA8D8-5DFF-49D4-9719-9BC959CF0559}"/>
              </a:ext>
            </a:extLst>
          </p:cNvPr>
          <p:cNvSpPr>
            <a:spLocks xmlns:a="http://schemas.openxmlformats.org/drawingml/2006/main" noGrp="1"/>
          </p:cNvSpPr>
          <p:nvPr/>
        </p:nvSpPr>
        <p:spPr>
          <a:xfrm xmlns:a="http://schemas.openxmlformats.org/drawingml/2006/main">
            <a:off x="8020050" y="4010025"/>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ED3027"/>
                </a:solidFill>
                <a:latin typeface="Arial"/>
                <a:ea typeface="Arial"/>
                <a:cs typeface="Arial"/>
              </a:defRPr>
            </a:pPr>
            <a:r>
              <a:rPr sz="1350" b="0">
                <a:solidFill>
                  <a:srgbClr val="ED3027"/>
                </a:solidFill>
                <a:latin typeface="Arial"/>
                <a:ea typeface="Arial"/>
                <a:cs typeface="Arial"/>
              </a:rPr>
              <a:t>Видеоответы</a:t>
            </a:r>
          </a:p>
        </p:txBody>
      </p:sp>
      <p:sp>
        <p:nvSpPr>
          <p:cNvPr id="14" name="candidate-line-0">
            <a:extLst xmlns:a="http://schemas.openxmlformats.org/drawingml/2006/main">
              <a:ext uri="{FF2B5EF4-FFF2-40B4-BE49-F238E27FC236}">
                <a16:creationId xmlns:a16="http://schemas.microsoft.com/office/drawing/2014/main" id="{4D70D9B5-4783-434F-B406-DA3D78EB8B5B}"/>
              </a:ext>
            </a:extLst>
          </p:cNvPr>
          <p:cNvSpPr>
            <a:spLocks xmlns:a="http://schemas.openxmlformats.org/drawingml/2006/main" noGrp="1"/>
          </p:cNvSpPr>
          <p:nvPr/>
        </p:nvSpPr>
        <p:spPr>
          <a:xfrm xmlns:a="http://schemas.openxmlformats.org/drawingml/2006/main">
            <a:off x="3276600" y="4629150"/>
            <a:ext cx="5905500" cy="9525"/>
          </a:xfrm>
          <a:prstGeom xmlns:a="http://schemas.openxmlformats.org/drawingml/2006/main" prst="rect">
            <a:avLst/>
          </a:prstGeom>
          <a:solidFill xmlns:a="http://schemas.openxmlformats.org/drawingml/2006/main">
            <a:srgbClr val="E4E4E4"/>
          </a:solidFill>
          <a:ln xmlns:a="http://schemas.openxmlformats.org/drawingml/2006/main" w="0">
            <a:noFill/>
          </a:ln>
        </p:spPr>
      </p:sp>
      <p:sp>
        <p:nvSpPr>
          <p:cNvPr id="15" name="candidate-name-1">
            <a:extLst xmlns:a="http://schemas.openxmlformats.org/drawingml/2006/main">
              <a:ext uri="{FF2B5EF4-FFF2-40B4-BE49-F238E27FC236}">
                <a16:creationId xmlns:a16="http://schemas.microsoft.com/office/drawing/2014/main" id="{23F76753-93F1-4BB4-AC78-FBA4B33C94C9}"/>
              </a:ext>
            </a:extLst>
          </p:cNvPr>
          <p:cNvSpPr>
            <a:spLocks xmlns:a="http://schemas.openxmlformats.org/drawingml/2006/main" noGrp="1"/>
          </p:cNvSpPr>
          <p:nvPr/>
        </p:nvSpPr>
        <p:spPr>
          <a:xfrm xmlns:a="http://schemas.openxmlformats.org/drawingml/2006/main">
            <a:off x="3276600" y="4838700"/>
            <a:ext cx="2047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02226"/>
                </a:solidFill>
                <a:latin typeface="Arial"/>
                <a:ea typeface="Arial"/>
                <a:cs typeface="Arial"/>
              </a:defRPr>
            </a:pPr>
            <a:r>
              <a:rPr sz="1800" b="1">
                <a:solidFill>
                  <a:srgbClr val="202226"/>
                </a:solidFill>
                <a:latin typeface="Arial"/>
                <a:ea typeface="Arial"/>
                <a:cs typeface="Arial"/>
              </a:rPr>
              <a:t>Данияр</a:t>
            </a:r>
          </a:p>
        </p:txBody>
      </p:sp>
      <p:sp>
        <p:nvSpPr>
          <p:cNvPr id="16" name="candidate-city-1">
            <a:extLst xmlns:a="http://schemas.openxmlformats.org/drawingml/2006/main">
              <a:ext uri="{FF2B5EF4-FFF2-40B4-BE49-F238E27FC236}">
                <a16:creationId xmlns:a16="http://schemas.microsoft.com/office/drawing/2014/main" id="{54D04320-0A3E-4C60-9015-D957119EAC39}"/>
              </a:ext>
            </a:extLst>
          </p:cNvPr>
          <p:cNvSpPr>
            <a:spLocks xmlns:a="http://schemas.openxmlformats.org/drawingml/2006/main" noGrp="1"/>
          </p:cNvSpPr>
          <p:nvPr/>
        </p:nvSpPr>
        <p:spPr>
          <a:xfrm xmlns:a="http://schemas.openxmlformats.org/drawingml/2006/main">
            <a:off x="5372100" y="4857750"/>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3777B"/>
                </a:solidFill>
                <a:latin typeface="Arial"/>
                <a:ea typeface="Arial"/>
                <a:cs typeface="Arial"/>
              </a:defRPr>
            </a:pPr>
            <a:r>
              <a:rPr sz="1500" b="0">
                <a:solidFill>
                  <a:srgbClr val="73777B"/>
                </a:solidFill>
                <a:latin typeface="Arial"/>
                <a:ea typeface="Arial"/>
                <a:cs typeface="Arial"/>
              </a:rPr>
              <a:t>Астана</a:t>
            </a:r>
          </a:p>
        </p:txBody>
      </p:sp>
      <p:sp>
        <p:nvSpPr>
          <p:cNvPr id="17" name="candidate-experience-1">
            <a:extLst xmlns:a="http://schemas.openxmlformats.org/drawingml/2006/main">
              <a:ext uri="{FF2B5EF4-FFF2-40B4-BE49-F238E27FC236}">
                <a16:creationId xmlns:a16="http://schemas.microsoft.com/office/drawing/2014/main" id="{09C7A964-2752-462F-9AFE-15B90C8C6DF0}"/>
              </a:ext>
            </a:extLst>
          </p:cNvPr>
          <p:cNvSpPr>
            <a:spLocks xmlns:a="http://schemas.openxmlformats.org/drawingml/2006/main" noGrp="1"/>
          </p:cNvSpPr>
          <p:nvPr/>
        </p:nvSpPr>
        <p:spPr>
          <a:xfrm xmlns:a="http://schemas.openxmlformats.org/drawingml/2006/main">
            <a:off x="6705600" y="4857750"/>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3777B"/>
                </a:solidFill>
                <a:latin typeface="Arial"/>
                <a:ea typeface="Arial"/>
                <a:cs typeface="Arial"/>
              </a:defRPr>
            </a:pPr>
            <a:r>
              <a:rPr sz="1500" b="0">
                <a:solidFill>
                  <a:srgbClr val="73777B"/>
                </a:solidFill>
                <a:latin typeface="Arial"/>
                <a:ea typeface="Arial"/>
                <a:cs typeface="Arial"/>
              </a:rPr>
              <a:t>Без опыта</a:t>
            </a:r>
          </a:p>
        </p:txBody>
      </p:sp>
      <p:sp>
        <p:nvSpPr>
          <p:cNvPr id="18" name="candidate-video-1">
            <a:extLst xmlns:a="http://schemas.openxmlformats.org/drawingml/2006/main">
              <a:ext uri="{FF2B5EF4-FFF2-40B4-BE49-F238E27FC236}">
                <a16:creationId xmlns:a16="http://schemas.microsoft.com/office/drawing/2014/main" id="{D68FFCC2-4F73-40EC-8653-79063A8F5FAB}"/>
              </a:ext>
            </a:extLst>
          </p:cNvPr>
          <p:cNvSpPr>
            <a:spLocks xmlns:a="http://schemas.openxmlformats.org/drawingml/2006/main" noGrp="1"/>
          </p:cNvSpPr>
          <p:nvPr/>
        </p:nvSpPr>
        <p:spPr>
          <a:xfrm xmlns:a="http://schemas.openxmlformats.org/drawingml/2006/main">
            <a:off x="8020050" y="48577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3777B"/>
                </a:solidFill>
                <a:latin typeface="Arial"/>
                <a:ea typeface="Arial"/>
                <a:cs typeface="Arial"/>
              </a:defRPr>
            </a:pPr>
            <a:r>
              <a:rPr sz="1350" b="0">
                <a:solidFill>
                  <a:srgbClr val="73777B"/>
                </a:solidFill>
                <a:latin typeface="Arial"/>
                <a:ea typeface="Arial"/>
                <a:cs typeface="Arial"/>
              </a:rPr>
              <a:t>Анкета</a:t>
            </a:r>
          </a:p>
        </p:txBody>
      </p:sp>
      <p:sp>
        <p:nvSpPr>
          <p:cNvPr id="19" name="candidate-line-1">
            <a:extLst xmlns:a="http://schemas.openxmlformats.org/drawingml/2006/main">
              <a:ext uri="{FF2B5EF4-FFF2-40B4-BE49-F238E27FC236}">
                <a16:creationId xmlns:a16="http://schemas.microsoft.com/office/drawing/2014/main" id="{7068D658-5102-4532-8F4B-F1D4F9A62B9D}"/>
              </a:ext>
            </a:extLst>
          </p:cNvPr>
          <p:cNvSpPr>
            <a:spLocks xmlns:a="http://schemas.openxmlformats.org/drawingml/2006/main" noGrp="1"/>
          </p:cNvSpPr>
          <p:nvPr/>
        </p:nvSpPr>
        <p:spPr>
          <a:xfrm xmlns:a="http://schemas.openxmlformats.org/drawingml/2006/main">
            <a:off x="3276600" y="5476875"/>
            <a:ext cx="5905500" cy="9525"/>
          </a:xfrm>
          <a:prstGeom xmlns:a="http://schemas.openxmlformats.org/drawingml/2006/main" prst="rect">
            <a:avLst/>
          </a:prstGeom>
          <a:solidFill xmlns:a="http://schemas.openxmlformats.org/drawingml/2006/main">
            <a:srgbClr val="E4E4E4"/>
          </a:solidFill>
          <a:ln xmlns:a="http://schemas.openxmlformats.org/drawingml/2006/main" w="0">
            <a:noFill/>
          </a:ln>
        </p:spPr>
      </p:sp>
      <p:sp>
        <p:nvSpPr>
          <p:cNvPr id="20" name="candidate-name-2">
            <a:extLst xmlns:a="http://schemas.openxmlformats.org/drawingml/2006/main">
              <a:ext uri="{FF2B5EF4-FFF2-40B4-BE49-F238E27FC236}">
                <a16:creationId xmlns:a16="http://schemas.microsoft.com/office/drawing/2014/main" id="{082BE2B1-E653-4BF1-95CA-41C804DCE622}"/>
              </a:ext>
            </a:extLst>
          </p:cNvPr>
          <p:cNvSpPr>
            <a:spLocks xmlns:a="http://schemas.openxmlformats.org/drawingml/2006/main" noGrp="1"/>
          </p:cNvSpPr>
          <p:nvPr/>
        </p:nvSpPr>
        <p:spPr>
          <a:xfrm xmlns:a="http://schemas.openxmlformats.org/drawingml/2006/main">
            <a:off x="3276600" y="5686425"/>
            <a:ext cx="2047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02226"/>
                </a:solidFill>
                <a:latin typeface="Arial"/>
                <a:ea typeface="Arial"/>
                <a:cs typeface="Arial"/>
              </a:defRPr>
            </a:pPr>
            <a:r>
              <a:rPr sz="1800" b="1">
                <a:solidFill>
                  <a:srgbClr val="202226"/>
                </a:solidFill>
                <a:latin typeface="Arial"/>
                <a:ea typeface="Arial"/>
                <a:cs typeface="Arial"/>
              </a:rPr>
              <a:t>Мария</a:t>
            </a:r>
          </a:p>
        </p:txBody>
      </p:sp>
      <p:sp>
        <p:nvSpPr>
          <p:cNvPr id="21" name="candidate-city-2">
            <a:extLst xmlns:a="http://schemas.openxmlformats.org/drawingml/2006/main">
              <a:ext uri="{FF2B5EF4-FFF2-40B4-BE49-F238E27FC236}">
                <a16:creationId xmlns:a16="http://schemas.microsoft.com/office/drawing/2014/main" id="{E34E9D12-D650-4BF3-ABD9-35EB2C62DD7A}"/>
              </a:ext>
            </a:extLst>
          </p:cNvPr>
          <p:cNvSpPr>
            <a:spLocks xmlns:a="http://schemas.openxmlformats.org/drawingml/2006/main" noGrp="1"/>
          </p:cNvSpPr>
          <p:nvPr/>
        </p:nvSpPr>
        <p:spPr>
          <a:xfrm xmlns:a="http://schemas.openxmlformats.org/drawingml/2006/main">
            <a:off x="5372100" y="5705475"/>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3777B"/>
                </a:solidFill>
                <a:latin typeface="Arial"/>
                <a:ea typeface="Arial"/>
                <a:cs typeface="Arial"/>
              </a:defRPr>
            </a:pPr>
            <a:r>
              <a:rPr sz="1500" b="0">
                <a:solidFill>
                  <a:srgbClr val="73777B"/>
                </a:solidFill>
                <a:latin typeface="Arial"/>
                <a:ea typeface="Arial"/>
                <a:cs typeface="Arial"/>
              </a:rPr>
              <a:t>Алматы</a:t>
            </a:r>
          </a:p>
        </p:txBody>
      </p:sp>
      <p:sp>
        <p:nvSpPr>
          <p:cNvPr id="22" name="candidate-experience-2">
            <a:extLst xmlns:a="http://schemas.openxmlformats.org/drawingml/2006/main">
              <a:ext uri="{FF2B5EF4-FFF2-40B4-BE49-F238E27FC236}">
                <a16:creationId xmlns:a16="http://schemas.microsoft.com/office/drawing/2014/main" id="{920FFA5C-1486-46FF-9A02-C053291FD924}"/>
              </a:ext>
            </a:extLst>
          </p:cNvPr>
          <p:cNvSpPr>
            <a:spLocks xmlns:a="http://schemas.openxmlformats.org/drawingml/2006/main" noGrp="1"/>
          </p:cNvSpPr>
          <p:nvPr/>
        </p:nvSpPr>
        <p:spPr>
          <a:xfrm xmlns:a="http://schemas.openxmlformats.org/drawingml/2006/main">
            <a:off x="6705600" y="5705475"/>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3777B"/>
                </a:solidFill>
                <a:latin typeface="Arial"/>
                <a:ea typeface="Arial"/>
                <a:cs typeface="Arial"/>
              </a:defRPr>
            </a:pPr>
            <a:r>
              <a:rPr sz="1500" b="0">
                <a:solidFill>
                  <a:srgbClr val="73777B"/>
                </a:solidFill>
                <a:latin typeface="Arial"/>
                <a:ea typeface="Arial"/>
                <a:cs typeface="Arial"/>
              </a:rPr>
              <a:t>3 года</a:t>
            </a:r>
          </a:p>
        </p:txBody>
      </p:sp>
      <p:sp>
        <p:nvSpPr>
          <p:cNvPr id="23" name="candidate-video-2">
            <a:extLst xmlns:a="http://schemas.openxmlformats.org/drawingml/2006/main">
              <a:ext uri="{FF2B5EF4-FFF2-40B4-BE49-F238E27FC236}">
                <a16:creationId xmlns:a16="http://schemas.microsoft.com/office/drawing/2014/main" id="{973EE70D-46B0-42E1-84FE-8424C7C46957}"/>
              </a:ext>
            </a:extLst>
          </p:cNvPr>
          <p:cNvSpPr>
            <a:spLocks xmlns:a="http://schemas.openxmlformats.org/drawingml/2006/main" noGrp="1"/>
          </p:cNvSpPr>
          <p:nvPr/>
        </p:nvSpPr>
        <p:spPr>
          <a:xfrm xmlns:a="http://schemas.openxmlformats.org/drawingml/2006/main">
            <a:off x="8020050" y="5705475"/>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ED3027"/>
                </a:solidFill>
                <a:latin typeface="Arial"/>
                <a:ea typeface="Arial"/>
                <a:cs typeface="Arial"/>
              </a:defRPr>
            </a:pPr>
            <a:r>
              <a:rPr sz="1350" b="0">
                <a:solidFill>
                  <a:srgbClr val="ED3027"/>
                </a:solidFill>
                <a:latin typeface="Arial"/>
                <a:ea typeface="Arial"/>
                <a:cs typeface="Arial"/>
              </a:rPr>
              <a:t>Видеоответы</a:t>
            </a:r>
          </a:p>
        </p:txBody>
      </p:sp>
      <p:sp>
        <p:nvSpPr>
          <p:cNvPr id="24" name="profile-detail">
            <a:extLst xmlns:a="http://schemas.openxmlformats.org/drawingml/2006/main">
              <a:ext uri="{FF2B5EF4-FFF2-40B4-BE49-F238E27FC236}">
                <a16:creationId xmlns:a16="http://schemas.microsoft.com/office/drawing/2014/main" id="{48309B0C-D694-4A16-90D7-F3607AF8243C}"/>
              </a:ext>
            </a:extLst>
          </p:cNvPr>
          <p:cNvSpPr>
            <a:spLocks xmlns:a="http://schemas.openxmlformats.org/drawingml/2006/main" noGrp="1"/>
          </p:cNvSpPr>
          <p:nvPr/>
        </p:nvSpPr>
        <p:spPr>
          <a:xfrm xmlns:a="http://schemas.openxmlformats.org/drawingml/2006/main">
            <a:off x="9686925" y="3905250"/>
            <a:ext cx="4524375" cy="2581275"/>
          </a:xfrm>
          <a:prstGeom xmlns:a="http://schemas.openxmlformats.org/drawingml/2006/main" prst="roundRect">
            <a:avLst>
              <a:gd name="adj" fmla="val 2952"/>
            </a:avLst>
          </a:prstGeom>
          <a:solidFill xmlns:a="http://schemas.openxmlformats.org/drawingml/2006/main">
            <a:srgbClr val="F3F0EB"/>
          </a:solidFill>
          <a:ln xmlns:a="http://schemas.openxmlformats.org/drawingml/2006/main" w="0">
            <a:noFill/>
          </a:ln>
        </p:spPr>
      </p:sp>
      <p:sp>
        <p:nvSpPr>
          <p:cNvPr id="25" name="selected-name">
            <a:extLst xmlns:a="http://schemas.openxmlformats.org/drawingml/2006/main">
              <a:ext uri="{FF2B5EF4-FFF2-40B4-BE49-F238E27FC236}">
                <a16:creationId xmlns:a16="http://schemas.microsoft.com/office/drawing/2014/main" id="{0153659A-AC5E-4CE1-B23A-D1F25A4B32D7}"/>
              </a:ext>
            </a:extLst>
          </p:cNvPr>
          <p:cNvSpPr>
            <a:spLocks xmlns:a="http://schemas.openxmlformats.org/drawingml/2006/main" noGrp="1"/>
          </p:cNvSpPr>
          <p:nvPr/>
        </p:nvSpPr>
        <p:spPr>
          <a:xfrm xmlns:a="http://schemas.openxmlformats.org/drawingml/2006/main">
            <a:off x="9896475" y="4057650"/>
            <a:ext cx="4067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02226"/>
                </a:solidFill>
                <a:latin typeface="Arial"/>
                <a:ea typeface="Arial"/>
                <a:cs typeface="Arial"/>
              </a:defRPr>
            </a:pPr>
            <a:r>
              <a:rPr sz="2400" b="1">
                <a:solidFill>
                  <a:srgbClr val="202226"/>
                </a:solidFill>
                <a:latin typeface="Arial"/>
                <a:ea typeface="Arial"/>
                <a:cs typeface="Arial"/>
              </a:rPr>
              <a:t>Айгерим</a:t>
            </a:r>
          </a:p>
        </p:txBody>
      </p:sp>
      <p:sp>
        <p:nvSpPr>
          <p:cNvPr id="26" name="selected-role">
            <a:extLst xmlns:a="http://schemas.openxmlformats.org/drawingml/2006/main">
              <a:ext uri="{FF2B5EF4-FFF2-40B4-BE49-F238E27FC236}">
                <a16:creationId xmlns:a16="http://schemas.microsoft.com/office/drawing/2014/main" id="{F72CE2CE-443A-404F-8531-A39FC9183910}"/>
              </a:ext>
            </a:extLst>
          </p:cNvPr>
          <p:cNvSpPr>
            <a:spLocks xmlns:a="http://schemas.openxmlformats.org/drawingml/2006/main" noGrp="1"/>
          </p:cNvSpPr>
          <p:nvPr/>
        </p:nvSpPr>
        <p:spPr>
          <a:xfrm xmlns:a="http://schemas.openxmlformats.org/drawingml/2006/main">
            <a:off x="9896475" y="4552950"/>
            <a:ext cx="40671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73777B"/>
                </a:solidFill>
                <a:latin typeface="Arial"/>
                <a:ea typeface="Arial"/>
                <a:cs typeface="Arial"/>
              </a:defRPr>
            </a:pPr>
            <a:r>
              <a:rPr sz="1650" b="0">
                <a:solidFill>
                  <a:srgbClr val="73777B"/>
                </a:solidFill>
                <a:latin typeface="Arial"/>
                <a:ea typeface="Arial"/>
                <a:cs typeface="Arial"/>
              </a:rPr>
              <a:t>Администратор</a:t>
            </a:r>
          </a:p>
        </p:txBody>
      </p:sp>
      <p:sp>
        <p:nvSpPr>
          <p:cNvPr id="27" name="selected-summary">
            <a:extLst xmlns:a="http://schemas.openxmlformats.org/drawingml/2006/main">
              <a:ext uri="{FF2B5EF4-FFF2-40B4-BE49-F238E27FC236}">
                <a16:creationId xmlns:a16="http://schemas.microsoft.com/office/drawing/2014/main" id="{A8F45CF6-898A-4A58-B691-CEED85EEC5BC}"/>
              </a:ext>
            </a:extLst>
          </p:cNvPr>
          <p:cNvSpPr>
            <a:spLocks xmlns:a="http://schemas.openxmlformats.org/drawingml/2006/main" noGrp="1"/>
          </p:cNvSpPr>
          <p:nvPr/>
        </p:nvSpPr>
        <p:spPr>
          <a:xfrm xmlns:a="http://schemas.openxmlformats.org/drawingml/2006/main">
            <a:off x="9896475" y="4972050"/>
            <a:ext cx="40671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226"/>
                </a:solidFill>
                <a:latin typeface="Arial"/>
                <a:ea typeface="Arial"/>
                <a:cs typeface="Arial"/>
              </a:defRPr>
            </a:pPr>
            <a:r>
              <a:rPr sz="1725" b="0">
                <a:solidFill>
                  <a:srgbClr val="202226"/>
                </a:solidFill>
                <a:latin typeface="Arial"/>
                <a:ea typeface="Arial"/>
                <a:cs typeface="Arial"/>
              </a:rPr>
              <a:t>Встреча гостей, запись клиентов</a:t>
            </a:r>
          </a:p>
          <a:p xmlns:a="http://schemas.openxmlformats.org/drawingml/2006/main">
            <a:pPr>
              <a:defRPr sz="1725" b="0">
                <a:solidFill>
                  <a:srgbClr val="202226"/>
                </a:solidFill>
                <a:latin typeface="Arial"/>
                <a:ea typeface="Arial"/>
                <a:cs typeface="Arial"/>
              </a:defRPr>
            </a:pPr>
            <a:r>
              <a:rPr sz="1725" b="0">
                <a:solidFill>
                  <a:srgbClr val="202226"/>
                </a:solidFill>
                <a:latin typeface="Arial"/>
                <a:ea typeface="Arial"/>
                <a:cs typeface="Arial"/>
              </a:rPr>
              <a:t>и работа с расписанием.</a:t>
            </a:r>
          </a:p>
        </p:txBody>
      </p:sp>
      <p:sp>
        <p:nvSpPr>
          <p:cNvPr id="28" name="invite-candidate-surface">
            <a:extLst xmlns:a="http://schemas.openxmlformats.org/drawingml/2006/main">
              <a:ext uri="{FF2B5EF4-FFF2-40B4-BE49-F238E27FC236}">
                <a16:creationId xmlns:a16="http://schemas.microsoft.com/office/drawing/2014/main" id="{8707626F-22F2-45C7-83AD-89C64DCB4DEB}"/>
              </a:ext>
            </a:extLst>
          </p:cNvPr>
          <p:cNvSpPr>
            <a:spLocks xmlns:a="http://schemas.openxmlformats.org/drawingml/2006/main" noGrp="1"/>
          </p:cNvSpPr>
          <p:nvPr/>
        </p:nvSpPr>
        <p:spPr>
          <a:xfrm xmlns:a="http://schemas.openxmlformats.org/drawingml/2006/main">
            <a:off x="9982200" y="5810250"/>
            <a:ext cx="3962400" cy="447675"/>
          </a:xfrm>
          <a:prstGeom xmlns:a="http://schemas.openxmlformats.org/drawingml/2006/main" prst="roundRect">
            <a:avLst>
              <a:gd name="adj" fmla="val 17021"/>
            </a:avLst>
          </a:prstGeom>
          <a:solidFill xmlns:a="http://schemas.openxmlformats.org/drawingml/2006/main">
            <a:srgbClr val="ED3027"/>
          </a:solidFill>
          <a:ln xmlns:a="http://schemas.openxmlformats.org/drawingml/2006/main" w="0">
            <a:noFill/>
          </a:ln>
        </p:spPr>
      </p:sp>
      <p:sp>
        <p:nvSpPr>
          <p:cNvPr id="29" name="invite-candidate">
            <a:extLst xmlns:a="http://schemas.openxmlformats.org/drawingml/2006/main">
              <a:ext uri="{FF2B5EF4-FFF2-40B4-BE49-F238E27FC236}">
                <a16:creationId xmlns:a16="http://schemas.microsoft.com/office/drawing/2014/main" id="{32089A17-C972-45D7-941F-07164079E96F}"/>
              </a:ext>
            </a:extLst>
          </p:cNvPr>
          <p:cNvSpPr>
            <a:spLocks xmlns:a="http://schemas.openxmlformats.org/drawingml/2006/main" noGrp="1"/>
          </p:cNvSpPr>
          <p:nvPr/>
        </p:nvSpPr>
        <p:spPr>
          <a:xfrm xmlns:a="http://schemas.openxmlformats.org/drawingml/2006/main">
            <a:off x="10096500" y="5895975"/>
            <a:ext cx="3733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Пригласить на встречу</a:t>
            </a:r>
          </a:p>
        </p:txBody>
      </p:sp>
      <p:sp>
        <p:nvSpPr>
          <p:cNvPr id="30" name="tr-title">
            <a:extLst xmlns:a="http://schemas.openxmlformats.org/drawingml/2006/main">
              <a:ext uri="{FF2B5EF4-FFF2-40B4-BE49-F238E27FC236}">
                <a16:creationId xmlns:a16="http://schemas.microsoft.com/office/drawing/2014/main" id="{E9F66371-0677-4537-815E-8589261F1B97}"/>
              </a:ext>
            </a:extLst>
          </p:cNvPr>
          <p:cNvSpPr>
            <a:spLocks xmlns:a="http://schemas.openxmlformats.org/drawingml/2006/main" noGrp="1"/>
          </p:cNvSpPr>
          <p:nvPr/>
        </p:nvSpPr>
        <p:spPr>
          <a:xfrm xmlns:a="http://schemas.openxmlformats.org/drawingml/2006/main">
            <a:off x="723900" y="714375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İşveren paneli</a:t>
            </a:r>
          </a:p>
        </p:txBody>
      </p:sp>
      <p:sp>
        <p:nvSpPr>
          <p:cNvPr id="31" name="tr-body">
            <a:extLst xmlns:a="http://schemas.openxmlformats.org/drawingml/2006/main">
              <a:ext uri="{FF2B5EF4-FFF2-40B4-BE49-F238E27FC236}">
                <a16:creationId xmlns:a16="http://schemas.microsoft.com/office/drawing/2014/main" id="{59ECBDA9-4895-4684-B394-217DD9F97248}"/>
              </a:ext>
            </a:extLst>
          </p:cNvPr>
          <p:cNvSpPr>
            <a:spLocks xmlns:a="http://schemas.openxmlformats.org/drawingml/2006/main" noGrp="1"/>
          </p:cNvSpPr>
          <p:nvPr/>
        </p:nvSpPr>
        <p:spPr>
          <a:xfrm xmlns:a="http://schemas.openxmlformats.org/drawingml/2006/main">
            <a:off x="723900" y="7762875"/>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9DCDF"/>
                </a:solidFill>
                <a:latin typeface="Arial"/>
                <a:ea typeface="Arial"/>
                <a:cs typeface="Arial"/>
              </a:defRPr>
            </a:pPr>
            <a:r>
              <a:rPr sz="1875" b="0">
                <a:solidFill>
                  <a:srgbClr val="D9DCDF"/>
                </a:solidFill>
                <a:latin typeface="Arial"/>
                <a:ea typeface="Arial"/>
                <a:cs typeface="Arial"/>
              </a:rPr>
              <a:t>Deneyim, beceriler ve video yanıtları mülakata hazırlanmaya yardımcı olur.</a:t>
            </a:r>
          </a:p>
        </p:txBody>
      </p:sp>
      <p:sp>
        <p:nvSpPr>
          <p:cNvPr id="32" name="workspace-disclosure">
            <a:extLst xmlns:a="http://schemas.openxmlformats.org/drawingml/2006/main">
              <a:ext uri="{FF2B5EF4-FFF2-40B4-BE49-F238E27FC236}">
                <a16:creationId xmlns:a16="http://schemas.microsoft.com/office/drawing/2014/main" id="{F1121CAC-8A55-429D-B72D-854BC74F088F}"/>
              </a:ext>
            </a:extLst>
          </p:cNvPr>
          <p:cNvSpPr>
            <a:spLocks xmlns:a="http://schemas.openxmlformats.org/drawingml/2006/main" noGrp="1"/>
          </p:cNvSpPr>
          <p:nvPr/>
        </p:nvSpPr>
        <p:spPr>
          <a:xfrm xmlns:a="http://schemas.openxmlformats.org/drawingml/2006/main">
            <a:off x="3276600" y="6419850"/>
            <a:ext cx="6181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3777B"/>
                </a:solidFill>
                <a:latin typeface="Arial"/>
                <a:ea typeface="Arial"/>
                <a:cs typeface="Arial"/>
              </a:defRPr>
            </a:pPr>
            <a:r>
              <a:rPr sz="1275" b="0">
                <a:solidFill>
                  <a:srgbClr val="73777B"/>
                </a:solidFill>
                <a:latin typeface="Arial"/>
                <a:ea typeface="Arial"/>
                <a:cs typeface="Arial"/>
              </a:rPr>
              <a:t>Пример интерфейса и данных / Örnek arayüz ve veriler</a:t>
            </a:r>
          </a:p>
        </p:txBody>
      </p:sp>
    </p:spTree>
    <p:extLst>
      <p:ext uri="{BB962C8B-B14F-4D97-AF65-F5344CB8AC3E}">
        <p14:creationId xmlns:p14="http://schemas.microsoft.com/office/powerpoint/2010/main" val="43817256"/>
      </p:ext>
    </p:extLst>
  </p:cSld>
</p:sld>
</file>

<file path=ppt/slides/slide6.xml><?xml version="1.0" encoding="utf-8"?>
<p:sld xmlns:p="http://schemas.openxmlformats.org/presentationml/2006/main">
  <p:cSld>
    <p:bg>
      <p:bgPr>
        <a:solidFill xmlns:a="http://schemas.openxmlformats.org/drawingml/2006/main">
          <a:srgbClr val="F3F0EB"/>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3fb5a4b71734d82"/>
          <a:srcRect xmlns:a="http://schemas.openxmlformats.org/drawingml/2006/main" l="0" t="37298" r="0" b="37298"/>
          <a:stretch xmlns:a="http://schemas.openxmlformats.org/drawingml/2006/main">
            <a:fillRect l="0" t="0" r="0" b="0"/>
          </a:stretch>
        </p:blipFill>
        <p:spPr>
          <a:xfrm xmlns:a="http://schemas.openxmlformats.org/drawingml/2006/main">
            <a:off x="723900" y="438150"/>
            <a:ext cx="2362200" cy="600075"/>
          </a:xfrm>
          <a:prstGeom xmlns:a="http://schemas.openxmlformats.org/drawingml/2006/main" prst="rect">
            <a:avLst/>
          </a:prstGeom>
        </p:spPr>
      </p:pic>
      <p:sp>
        <p:nvSpPr>
          <p:cNvPr id="2" name="device-stage">
            <a:extLst xmlns:a="http://schemas.openxmlformats.org/drawingml/2006/main">
              <a:ext uri="{FF2B5EF4-FFF2-40B4-BE49-F238E27FC236}">
                <a16:creationId xmlns:a16="http://schemas.microsoft.com/office/drawing/2014/main" id="{66E35753-5042-4BAE-BF81-1D487BCC65A9}"/>
              </a:ext>
            </a:extLst>
          </p:cNvPr>
          <p:cNvSpPr>
            <a:spLocks xmlns:a="http://schemas.openxmlformats.org/drawingml/2006/main" noGrp="1"/>
          </p:cNvSpPr>
          <p:nvPr/>
        </p:nvSpPr>
        <p:spPr>
          <a:xfrm xmlns:a="http://schemas.openxmlformats.org/drawingml/2006/main">
            <a:off x="9229725" y="0"/>
            <a:ext cx="6010275" cy="8572500"/>
          </a:xfrm>
          <a:prstGeom xmlns:a="http://schemas.openxmlformats.org/drawingml/2006/main" prst="rect">
            <a:avLst/>
          </a:prstGeom>
          <a:solidFill xmlns:a="http://schemas.openxmlformats.org/drawingml/2006/main">
            <a:srgbClr val="202226"/>
          </a:solidFill>
          <a:ln xmlns:a="http://schemas.openxmlformats.org/drawingml/2006/main" w="0">
            <a:noFill/>
          </a:ln>
        </p:spPr>
      </p:sp>
      <p:sp>
        <p:nvSpPr>
          <p:cNvPr id="3" name="ru-title">
            <a:extLst xmlns:a="http://schemas.openxmlformats.org/drawingml/2006/main">
              <a:ext uri="{FF2B5EF4-FFF2-40B4-BE49-F238E27FC236}">
                <a16:creationId xmlns:a16="http://schemas.microsoft.com/office/drawing/2014/main" id="{6179A0DA-0DF8-482B-93BA-C35D21B3DFFA}"/>
              </a:ext>
            </a:extLst>
          </p:cNvPr>
          <p:cNvSpPr>
            <a:spLocks xmlns:a="http://schemas.openxmlformats.org/drawingml/2006/main" noGrp="1"/>
          </p:cNvSpPr>
          <p:nvPr/>
        </p:nvSpPr>
        <p:spPr>
          <a:xfrm xmlns:a="http://schemas.openxmlformats.org/drawingml/2006/main">
            <a:off x="723900" y="1714500"/>
            <a:ext cx="8286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02226"/>
                </a:solidFill>
                <a:latin typeface="Arial"/>
                <a:ea typeface="Arial"/>
                <a:cs typeface="Arial"/>
              </a:defRPr>
            </a:pPr>
            <a:r>
              <a:rPr sz="4800" b="1">
                <a:solidFill>
                  <a:srgbClr val="202226"/>
                </a:solidFill>
                <a:latin typeface="Arial"/>
                <a:ea typeface="Arial"/>
                <a:cs typeface="Arial"/>
              </a:rPr>
              <a:t>На телефоне.</a:t>
            </a:r>
          </a:p>
          <a:p xmlns:a="http://schemas.openxmlformats.org/drawingml/2006/main">
            <a:pPr>
              <a:defRPr sz="4800" b="1">
                <a:solidFill>
                  <a:srgbClr val="202226"/>
                </a:solidFill>
                <a:latin typeface="Arial"/>
                <a:ea typeface="Arial"/>
                <a:cs typeface="Arial"/>
              </a:defRPr>
            </a:pPr>
            <a:r>
              <a:rPr sz="4800" b="1">
                <a:solidFill>
                  <a:srgbClr val="202226"/>
                </a:solidFill>
                <a:latin typeface="Arial"/>
                <a:ea typeface="Arial"/>
                <a:cs typeface="Arial"/>
              </a:rPr>
              <a:t>На компьютере.</a:t>
            </a:r>
          </a:p>
        </p:txBody>
      </p:sp>
      <p:sp>
        <p:nvSpPr>
          <p:cNvPr id="4" name="ru-body">
            <a:extLst xmlns:a="http://schemas.openxmlformats.org/drawingml/2006/main">
              <a:ext uri="{FF2B5EF4-FFF2-40B4-BE49-F238E27FC236}">
                <a16:creationId xmlns:a16="http://schemas.microsoft.com/office/drawing/2014/main" id="{E98896D2-5FE3-4368-8B73-6BF7F32C0EEF}"/>
              </a:ext>
            </a:extLst>
          </p:cNvPr>
          <p:cNvSpPr>
            <a:spLocks xmlns:a="http://schemas.openxmlformats.org/drawingml/2006/main" noGrp="1"/>
          </p:cNvSpPr>
          <p:nvPr/>
        </p:nvSpPr>
        <p:spPr>
          <a:xfrm xmlns:a="http://schemas.openxmlformats.org/drawingml/2006/main">
            <a:off x="723900" y="3686175"/>
            <a:ext cx="8001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3777B"/>
                </a:solidFill>
                <a:latin typeface="Arial"/>
                <a:ea typeface="Arial"/>
                <a:cs typeface="Arial"/>
              </a:defRPr>
            </a:pPr>
            <a:r>
              <a:rPr sz="2175" b="0">
                <a:solidFill>
                  <a:srgbClr val="73777B"/>
                </a:solidFill>
                <a:latin typeface="Arial"/>
                <a:ea typeface="Arial"/>
                <a:cs typeface="Arial"/>
              </a:rPr>
              <a:t>Поиск работы и заполнение анкеты</a:t>
            </a:r>
          </a:p>
          <a:p xmlns:a="http://schemas.openxmlformats.org/drawingml/2006/main">
            <a:pPr>
              <a:defRPr sz="2175" b="0">
                <a:solidFill>
                  <a:srgbClr val="73777B"/>
                </a:solidFill>
                <a:latin typeface="Arial"/>
                <a:ea typeface="Arial"/>
                <a:cs typeface="Arial"/>
              </a:defRPr>
            </a:pPr>
            <a:r>
              <a:rPr sz="2175" b="0">
                <a:solidFill>
                  <a:srgbClr val="73777B"/>
                </a:solidFill>
                <a:latin typeface="Arial"/>
                <a:ea typeface="Arial"/>
                <a:cs typeface="Arial"/>
              </a:rPr>
              <a:t>в браузере.</a:t>
            </a:r>
          </a:p>
        </p:txBody>
      </p:sp>
      <p:sp>
        <p:nvSpPr>
          <p:cNvPr id="5" name="ru-geography-label">
            <a:extLst xmlns:a="http://schemas.openxmlformats.org/drawingml/2006/main">
              <a:ext uri="{FF2B5EF4-FFF2-40B4-BE49-F238E27FC236}">
                <a16:creationId xmlns:a16="http://schemas.microsoft.com/office/drawing/2014/main" id="{CC3BCD6D-F90F-4FF9-9CC8-847E935EE452}"/>
              </a:ext>
            </a:extLst>
          </p:cNvPr>
          <p:cNvSpPr>
            <a:spLocks xmlns:a="http://schemas.openxmlformats.org/drawingml/2006/main" noGrp="1"/>
          </p:cNvSpPr>
          <p:nvPr/>
        </p:nvSpPr>
        <p:spPr>
          <a:xfrm xmlns:a="http://schemas.openxmlformats.org/drawingml/2006/main">
            <a:off x="723900" y="4914900"/>
            <a:ext cx="800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73777B"/>
                </a:solidFill>
                <a:latin typeface="Arial"/>
                <a:ea typeface="Arial"/>
                <a:cs typeface="Arial"/>
              </a:defRPr>
            </a:pPr>
            <a:r>
              <a:rPr sz="1650" b="0">
                <a:solidFill>
                  <a:srgbClr val="73777B"/>
                </a:solidFill>
                <a:latin typeface="Arial"/>
                <a:ea typeface="Arial"/>
                <a:cs typeface="Arial"/>
              </a:rPr>
              <a:t>Планируемая география</a:t>
            </a:r>
          </a:p>
        </p:txBody>
      </p:sp>
      <p:sp>
        <p:nvSpPr>
          <p:cNvPr id="6" name="ru-geography">
            <a:extLst xmlns:a="http://schemas.openxmlformats.org/drawingml/2006/main">
              <a:ext uri="{FF2B5EF4-FFF2-40B4-BE49-F238E27FC236}">
                <a16:creationId xmlns:a16="http://schemas.microsoft.com/office/drawing/2014/main" id="{B890C5B7-C2AD-4F66-A89A-110229469F7C}"/>
              </a:ext>
            </a:extLst>
          </p:cNvPr>
          <p:cNvSpPr>
            <a:spLocks xmlns:a="http://schemas.openxmlformats.org/drawingml/2006/main" noGrp="1"/>
          </p:cNvSpPr>
          <p:nvPr/>
        </p:nvSpPr>
        <p:spPr>
          <a:xfrm xmlns:a="http://schemas.openxmlformats.org/drawingml/2006/main">
            <a:off x="723900" y="5362575"/>
            <a:ext cx="8001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226"/>
                </a:solidFill>
                <a:latin typeface="Arial"/>
                <a:ea typeface="Arial"/>
                <a:cs typeface="Arial"/>
              </a:defRPr>
            </a:pPr>
            <a:r>
              <a:rPr sz="2550" b="1">
                <a:solidFill>
                  <a:srgbClr val="202226"/>
                </a:solidFill>
                <a:latin typeface="Arial"/>
                <a:ea typeface="Arial"/>
                <a:cs typeface="Arial"/>
              </a:rPr>
              <a:t>Казахстан    Турция    СНГ</a:t>
            </a:r>
          </a:p>
        </p:txBody>
      </p:sp>
      <p:sp>
        <p:nvSpPr>
          <p:cNvPr id="7" name="tr-title">
            <a:extLst xmlns:a="http://schemas.openxmlformats.org/drawingml/2006/main">
              <a:ext uri="{FF2B5EF4-FFF2-40B4-BE49-F238E27FC236}">
                <a16:creationId xmlns:a16="http://schemas.microsoft.com/office/drawing/2014/main" id="{89F92E18-32A0-4AF8-8312-EECFD3AE8EAC}"/>
              </a:ext>
            </a:extLst>
          </p:cNvPr>
          <p:cNvSpPr>
            <a:spLocks xmlns:a="http://schemas.openxmlformats.org/drawingml/2006/main" noGrp="1"/>
          </p:cNvSpPr>
          <p:nvPr/>
        </p:nvSpPr>
        <p:spPr>
          <a:xfrm xmlns:a="http://schemas.openxmlformats.org/drawingml/2006/main">
            <a:off x="723900" y="6572250"/>
            <a:ext cx="7953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02226"/>
                </a:solidFill>
                <a:latin typeface="Arial"/>
                <a:ea typeface="Arial"/>
                <a:cs typeface="Arial"/>
              </a:defRPr>
            </a:pPr>
            <a:r>
              <a:rPr sz="2925" b="1">
                <a:solidFill>
                  <a:srgbClr val="202226"/>
                </a:solidFill>
                <a:latin typeface="Arial"/>
                <a:ea typeface="Arial"/>
                <a:cs typeface="Arial"/>
              </a:rPr>
              <a:t>Telefonda ve bilgisayarda</a:t>
            </a:r>
          </a:p>
        </p:txBody>
      </p:sp>
      <p:sp>
        <p:nvSpPr>
          <p:cNvPr id="8" name="tr-body">
            <a:extLst xmlns:a="http://schemas.openxmlformats.org/drawingml/2006/main">
              <a:ext uri="{FF2B5EF4-FFF2-40B4-BE49-F238E27FC236}">
                <a16:creationId xmlns:a16="http://schemas.microsoft.com/office/drawing/2014/main" id="{0359B859-42E3-486F-9265-E31E34CC001F}"/>
              </a:ext>
            </a:extLst>
          </p:cNvPr>
          <p:cNvSpPr>
            <a:spLocks xmlns:a="http://schemas.openxmlformats.org/drawingml/2006/main" noGrp="1"/>
          </p:cNvSpPr>
          <p:nvPr/>
        </p:nvSpPr>
        <p:spPr>
          <a:xfrm xmlns:a="http://schemas.openxmlformats.org/drawingml/2006/main">
            <a:off x="723900" y="7410450"/>
            <a:ext cx="795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3777B"/>
                </a:solidFill>
                <a:latin typeface="Arial"/>
                <a:ea typeface="Arial"/>
                <a:cs typeface="Arial"/>
              </a:defRPr>
            </a:pPr>
            <a:r>
              <a:rPr sz="1800" b="0">
                <a:solidFill>
                  <a:srgbClr val="73777B"/>
                </a:solidFill>
                <a:latin typeface="Arial"/>
                <a:ea typeface="Arial"/>
                <a:cs typeface="Arial"/>
              </a:rPr>
              <a:t>Tarayıcıda iş arama ve profil oluşturma.</a:t>
            </a:r>
          </a:p>
          <a:p xmlns:a="http://schemas.openxmlformats.org/drawingml/2006/main">
            <a:pPr>
              <a:defRPr sz="1800" b="0">
                <a:solidFill>
                  <a:srgbClr val="73777B"/>
                </a:solidFill>
                <a:latin typeface="Arial"/>
                <a:ea typeface="Arial"/>
                <a:cs typeface="Arial"/>
              </a:defRPr>
            </a:pPr>
            <a:r>
              <a:rPr sz="1800" b="0">
                <a:solidFill>
                  <a:srgbClr val="73777B"/>
                </a:solidFill>
                <a:latin typeface="Arial"/>
                <a:ea typeface="Arial"/>
                <a:cs typeface="Arial"/>
              </a:rPr>
              <a:t>Planlanan coğrafya: Kazakistan, Türkiye ve BDT.</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f0de48f72c848ce"/>
          <a:stretch xmlns:a="http://schemas.openxmlformats.org/drawingml/2006/main"/>
        </p:blipFill>
        <p:spPr>
          <a:xfrm xmlns:a="http://schemas.openxmlformats.org/drawingml/2006/main">
            <a:off x="10610223" y="1295400"/>
            <a:ext cx="3239753" cy="5762625"/>
          </a:xfrm>
          <a:prstGeom xmlns:a="http://schemas.openxmlformats.org/drawingml/2006/main" prst="rect">
            <a:avLst/>
          </a:prstGeom>
        </p:spPr>
      </p:pic>
      <p:sp>
        <p:nvSpPr>
          <p:cNvPr id="10" name="phone-ui">
            <a:extLst xmlns:a="http://schemas.openxmlformats.org/drawingml/2006/main">
              <a:ext uri="{FF2B5EF4-FFF2-40B4-BE49-F238E27FC236}">
                <a16:creationId xmlns:a16="http://schemas.microsoft.com/office/drawing/2014/main" id="{A5583AA8-078C-4CBB-BF25-E34E67D17858}"/>
              </a:ext>
            </a:extLst>
          </p:cNvPr>
          <p:cNvSpPr>
            <a:spLocks xmlns:a="http://schemas.openxmlformats.org/drawingml/2006/main" noGrp="1"/>
          </p:cNvSpPr>
          <p:nvPr/>
        </p:nvSpPr>
        <p:spPr>
          <a:xfrm xmlns:a="http://schemas.openxmlformats.org/drawingml/2006/main">
            <a:off x="11239500" y="2028825"/>
            <a:ext cx="1971675" cy="40576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phone-brand">
            <a:extLst xmlns:a="http://schemas.openxmlformats.org/drawingml/2006/main">
              <a:ext uri="{FF2B5EF4-FFF2-40B4-BE49-F238E27FC236}">
                <a16:creationId xmlns:a16="http://schemas.microsoft.com/office/drawing/2014/main" id="{A7099DD6-08F8-453E-8AA8-1606FC2A1457}"/>
              </a:ext>
            </a:extLst>
          </p:cNvPr>
          <p:cNvSpPr>
            <a:spLocks xmlns:a="http://schemas.openxmlformats.org/drawingml/2006/main" noGrp="1"/>
          </p:cNvSpPr>
          <p:nvPr/>
        </p:nvSpPr>
        <p:spPr>
          <a:xfrm xmlns:a="http://schemas.openxmlformats.org/drawingml/2006/main">
            <a:off x="11334750" y="2085975"/>
            <a:ext cx="1809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02226"/>
                </a:solidFill>
                <a:latin typeface="Arial"/>
                <a:ea typeface="Arial"/>
                <a:cs typeface="Arial"/>
              </a:defRPr>
            </a:pPr>
            <a:r>
              <a:rPr sz="1425" b="1">
                <a:solidFill>
                  <a:srgbClr val="202226"/>
                </a:solidFill>
                <a:latin typeface="Arial"/>
                <a:ea typeface="Arial"/>
                <a:cs typeface="Arial"/>
              </a:rPr>
              <a:t>OPEN</a:t>
            </a:r>
          </a:p>
        </p:txBody>
      </p:sp>
      <p:sp>
        <p:nvSpPr>
          <p:cNvPr id="12" name="phone-title">
            <a:extLst xmlns:a="http://schemas.openxmlformats.org/drawingml/2006/main">
              <a:ext uri="{FF2B5EF4-FFF2-40B4-BE49-F238E27FC236}">
                <a16:creationId xmlns:a16="http://schemas.microsoft.com/office/drawing/2014/main" id="{76C65494-2029-4CE3-A1C0-140DB76DB399}"/>
              </a:ext>
            </a:extLst>
          </p:cNvPr>
          <p:cNvSpPr>
            <a:spLocks xmlns:a="http://schemas.openxmlformats.org/drawingml/2006/main" noGrp="1"/>
          </p:cNvSpPr>
          <p:nvPr/>
        </p:nvSpPr>
        <p:spPr>
          <a:xfrm xmlns:a="http://schemas.openxmlformats.org/drawingml/2006/main">
            <a:off x="11334750" y="2600325"/>
            <a:ext cx="1809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226"/>
                </a:solidFill>
                <a:latin typeface="Arial"/>
                <a:ea typeface="Arial"/>
                <a:cs typeface="Arial"/>
              </a:defRPr>
            </a:pPr>
            <a:r>
              <a:rPr sz="2175" b="1">
                <a:solidFill>
                  <a:srgbClr val="202226"/>
                </a:solidFill>
                <a:latin typeface="Arial"/>
                <a:ea typeface="Arial"/>
                <a:cs typeface="Arial"/>
              </a:rPr>
              <a:t>Найдите</a:t>
            </a:r>
          </a:p>
          <a:p xmlns:a="http://schemas.openxmlformats.org/drawingml/2006/main">
            <a:pPr>
              <a:defRPr sz="2175" b="1">
                <a:solidFill>
                  <a:srgbClr val="202226"/>
                </a:solidFill>
                <a:latin typeface="Arial"/>
                <a:ea typeface="Arial"/>
                <a:cs typeface="Arial"/>
              </a:defRPr>
            </a:pPr>
            <a:r>
              <a:rPr sz="2175" b="1">
                <a:solidFill>
                  <a:srgbClr val="202226"/>
                </a:solidFill>
                <a:latin typeface="Arial"/>
                <a:ea typeface="Arial"/>
                <a:cs typeface="Arial"/>
              </a:rPr>
              <a:t>работу</a:t>
            </a:r>
          </a:p>
        </p:txBody>
      </p:sp>
      <p:sp>
        <p:nvSpPr>
          <p:cNvPr id="13" name="phone-subtitle">
            <a:extLst xmlns:a="http://schemas.openxmlformats.org/drawingml/2006/main">
              <a:ext uri="{FF2B5EF4-FFF2-40B4-BE49-F238E27FC236}">
                <a16:creationId xmlns:a16="http://schemas.microsoft.com/office/drawing/2014/main" id="{296D6DAF-8D3E-41B1-B6A5-C818FD33B180}"/>
              </a:ext>
            </a:extLst>
          </p:cNvPr>
          <p:cNvSpPr>
            <a:spLocks xmlns:a="http://schemas.openxmlformats.org/drawingml/2006/main" noGrp="1"/>
          </p:cNvSpPr>
          <p:nvPr/>
        </p:nvSpPr>
        <p:spPr>
          <a:xfrm xmlns:a="http://schemas.openxmlformats.org/drawingml/2006/main">
            <a:off x="11334750" y="357187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3777B"/>
                </a:solidFill>
                <a:latin typeface="Arial"/>
                <a:ea typeface="Arial"/>
                <a:cs typeface="Arial"/>
              </a:defRPr>
            </a:pPr>
            <a:r>
              <a:rPr sz="1200" b="0">
                <a:solidFill>
                  <a:srgbClr val="73777B"/>
                </a:solidFill>
                <a:latin typeface="Arial"/>
                <a:ea typeface="Arial"/>
                <a:cs typeface="Arial"/>
              </a:rPr>
              <a:t>Анкета с видео</a:t>
            </a:r>
          </a:p>
          <a:p xmlns:a="http://schemas.openxmlformats.org/drawingml/2006/main">
            <a:pPr>
              <a:defRPr sz="1200" b="0">
                <a:solidFill>
                  <a:srgbClr val="73777B"/>
                </a:solidFill>
                <a:latin typeface="Arial"/>
                <a:ea typeface="Arial"/>
                <a:cs typeface="Arial"/>
              </a:defRPr>
            </a:pPr>
            <a:r>
              <a:rPr sz="1200" b="0">
                <a:solidFill>
                  <a:srgbClr val="73777B"/>
                </a:solidFill>
                <a:latin typeface="Arial"/>
                <a:ea typeface="Arial"/>
                <a:cs typeface="Arial"/>
              </a:rPr>
              <a:t>по желанию</a:t>
            </a:r>
          </a:p>
        </p:txBody>
      </p:sp>
      <p:sp>
        <p:nvSpPr>
          <p:cNvPr id="14" name="phone-search">
            <a:extLst xmlns:a="http://schemas.openxmlformats.org/drawingml/2006/main">
              <a:ext uri="{FF2B5EF4-FFF2-40B4-BE49-F238E27FC236}">
                <a16:creationId xmlns:a16="http://schemas.microsoft.com/office/drawing/2014/main" id="{51FDA7C8-04D6-4E82-B621-2F2348738064}"/>
              </a:ext>
            </a:extLst>
          </p:cNvPr>
          <p:cNvSpPr>
            <a:spLocks xmlns:a="http://schemas.openxmlformats.org/drawingml/2006/main" noGrp="1"/>
          </p:cNvSpPr>
          <p:nvPr/>
        </p:nvSpPr>
        <p:spPr>
          <a:xfrm xmlns:a="http://schemas.openxmlformats.org/drawingml/2006/main">
            <a:off x="11430000" y="4305300"/>
            <a:ext cx="1619250" cy="400050"/>
          </a:xfrm>
          <a:prstGeom xmlns:a="http://schemas.openxmlformats.org/drawingml/2006/main" prst="roundRect">
            <a:avLst>
              <a:gd name="adj" fmla="val 11905"/>
            </a:avLst>
          </a:prstGeom>
          <a:solidFill xmlns:a="http://schemas.openxmlformats.org/drawingml/2006/main">
            <a:srgbClr val="F0F1F2"/>
          </a:solidFill>
          <a:ln xmlns:a="http://schemas.openxmlformats.org/drawingml/2006/main" w="0">
            <a:noFill/>
          </a:ln>
        </p:spPr>
      </p:sp>
      <p:sp>
        <p:nvSpPr>
          <p:cNvPr id="15" name="phone-search-text">
            <a:extLst xmlns:a="http://schemas.openxmlformats.org/drawingml/2006/main">
              <a:ext uri="{FF2B5EF4-FFF2-40B4-BE49-F238E27FC236}">
                <a16:creationId xmlns:a16="http://schemas.microsoft.com/office/drawing/2014/main" id="{FAFCB166-A01B-46ED-A297-7FA1CB3DE69A}"/>
              </a:ext>
            </a:extLst>
          </p:cNvPr>
          <p:cNvSpPr>
            <a:spLocks xmlns:a="http://schemas.openxmlformats.org/drawingml/2006/main" noGrp="1"/>
          </p:cNvSpPr>
          <p:nvPr/>
        </p:nvSpPr>
        <p:spPr>
          <a:xfrm xmlns:a="http://schemas.openxmlformats.org/drawingml/2006/main">
            <a:off x="11477625" y="4352925"/>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3777B"/>
                </a:solidFill>
                <a:latin typeface="Arial"/>
                <a:ea typeface="Arial"/>
                <a:cs typeface="Arial"/>
              </a:defRPr>
            </a:pPr>
            <a:r>
              <a:rPr sz="1050" b="0">
                <a:solidFill>
                  <a:srgbClr val="73777B"/>
                </a:solidFill>
                <a:latin typeface="Arial"/>
                <a:ea typeface="Arial"/>
                <a:cs typeface="Arial"/>
              </a:rPr>
              <a:t>Должность</a:t>
            </a:r>
          </a:p>
        </p:txBody>
      </p:sp>
      <p:sp>
        <p:nvSpPr>
          <p:cNvPr id="16" name="phone-city">
            <a:extLst xmlns:a="http://schemas.openxmlformats.org/drawingml/2006/main">
              <a:ext uri="{FF2B5EF4-FFF2-40B4-BE49-F238E27FC236}">
                <a16:creationId xmlns:a16="http://schemas.microsoft.com/office/drawing/2014/main" id="{DDAE9D29-48DE-4742-AF8E-5776A5E021F0}"/>
              </a:ext>
            </a:extLst>
          </p:cNvPr>
          <p:cNvSpPr>
            <a:spLocks xmlns:a="http://schemas.openxmlformats.org/drawingml/2006/main" noGrp="1"/>
          </p:cNvSpPr>
          <p:nvPr/>
        </p:nvSpPr>
        <p:spPr>
          <a:xfrm xmlns:a="http://schemas.openxmlformats.org/drawingml/2006/main">
            <a:off x="11430000" y="4810125"/>
            <a:ext cx="1619250" cy="400050"/>
          </a:xfrm>
          <a:prstGeom xmlns:a="http://schemas.openxmlformats.org/drawingml/2006/main" prst="roundRect">
            <a:avLst>
              <a:gd name="adj" fmla="val 11905"/>
            </a:avLst>
          </a:prstGeom>
          <a:solidFill xmlns:a="http://schemas.openxmlformats.org/drawingml/2006/main">
            <a:srgbClr val="F0F1F2"/>
          </a:solidFill>
          <a:ln xmlns:a="http://schemas.openxmlformats.org/drawingml/2006/main" w="0">
            <a:noFill/>
          </a:ln>
        </p:spPr>
      </p:sp>
      <p:sp>
        <p:nvSpPr>
          <p:cNvPr id="17" name="phone-city-text">
            <a:extLst xmlns:a="http://schemas.openxmlformats.org/drawingml/2006/main">
              <a:ext uri="{FF2B5EF4-FFF2-40B4-BE49-F238E27FC236}">
                <a16:creationId xmlns:a16="http://schemas.microsoft.com/office/drawing/2014/main" id="{B5E7B1A6-FD15-4DEB-B03D-040520993287}"/>
              </a:ext>
            </a:extLst>
          </p:cNvPr>
          <p:cNvSpPr>
            <a:spLocks xmlns:a="http://schemas.openxmlformats.org/drawingml/2006/main" noGrp="1"/>
          </p:cNvSpPr>
          <p:nvPr/>
        </p:nvSpPr>
        <p:spPr>
          <a:xfrm xmlns:a="http://schemas.openxmlformats.org/drawingml/2006/main">
            <a:off x="11477625" y="48577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3777B"/>
                </a:solidFill>
                <a:latin typeface="Arial"/>
                <a:ea typeface="Arial"/>
                <a:cs typeface="Arial"/>
              </a:defRPr>
            </a:pPr>
            <a:r>
              <a:rPr sz="1050" b="0">
                <a:solidFill>
                  <a:srgbClr val="73777B"/>
                </a:solidFill>
                <a:latin typeface="Arial"/>
                <a:ea typeface="Arial"/>
                <a:cs typeface="Arial"/>
              </a:rPr>
              <a:t>Город</a:t>
            </a:r>
          </a:p>
        </p:txBody>
      </p:sp>
      <p:sp>
        <p:nvSpPr>
          <p:cNvPr id="18" name="phone-button">
            <a:extLst xmlns:a="http://schemas.openxmlformats.org/drawingml/2006/main">
              <a:ext uri="{FF2B5EF4-FFF2-40B4-BE49-F238E27FC236}">
                <a16:creationId xmlns:a16="http://schemas.microsoft.com/office/drawing/2014/main" id="{E4A1CADD-29A2-445E-AF42-10713EC9FCB8}"/>
              </a:ext>
            </a:extLst>
          </p:cNvPr>
          <p:cNvSpPr>
            <a:spLocks xmlns:a="http://schemas.openxmlformats.org/drawingml/2006/main" noGrp="1"/>
          </p:cNvSpPr>
          <p:nvPr/>
        </p:nvSpPr>
        <p:spPr>
          <a:xfrm xmlns:a="http://schemas.openxmlformats.org/drawingml/2006/main">
            <a:off x="11430000" y="5314950"/>
            <a:ext cx="1619250" cy="400050"/>
          </a:xfrm>
          <a:prstGeom xmlns:a="http://schemas.openxmlformats.org/drawingml/2006/main" prst="roundRect">
            <a:avLst>
              <a:gd name="adj" fmla="val 11905"/>
            </a:avLst>
          </a:prstGeom>
          <a:solidFill xmlns:a="http://schemas.openxmlformats.org/drawingml/2006/main">
            <a:srgbClr val="ED3027"/>
          </a:solidFill>
          <a:ln xmlns:a="http://schemas.openxmlformats.org/drawingml/2006/main" w="0">
            <a:noFill/>
          </a:ln>
        </p:spPr>
      </p:sp>
      <p:sp>
        <p:nvSpPr>
          <p:cNvPr id="19" name="phone-button-label">
            <a:extLst xmlns:a="http://schemas.openxmlformats.org/drawingml/2006/main">
              <a:ext uri="{FF2B5EF4-FFF2-40B4-BE49-F238E27FC236}">
                <a16:creationId xmlns:a16="http://schemas.microsoft.com/office/drawing/2014/main" id="{262F486B-9402-41FA-B5F5-53F8DB992474}"/>
              </a:ext>
            </a:extLst>
          </p:cNvPr>
          <p:cNvSpPr>
            <a:spLocks xmlns:a="http://schemas.openxmlformats.org/drawingml/2006/main" noGrp="1"/>
          </p:cNvSpPr>
          <p:nvPr/>
        </p:nvSpPr>
        <p:spPr>
          <a:xfrm xmlns:a="http://schemas.openxmlformats.org/drawingml/2006/main">
            <a:off x="11477625" y="5362575"/>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Arial"/>
                <a:ea typeface="Arial"/>
                <a:cs typeface="Arial"/>
              </a:defRPr>
            </a:pPr>
            <a:r>
              <a:rPr sz="1050" b="1">
                <a:solidFill>
                  <a:srgbClr val="FFFFFF"/>
                </a:solidFill>
                <a:latin typeface="Arial"/>
                <a:ea typeface="Arial"/>
                <a:cs typeface="Arial"/>
              </a:rPr>
              <a:t>Найти работу</a:t>
            </a:r>
          </a:p>
        </p:txBody>
      </p:sp>
      <p:sp>
        <p:nvSpPr>
          <p:cNvPr id="20" name="phone-profile">
            <a:extLst xmlns:a="http://schemas.openxmlformats.org/drawingml/2006/main">
              <a:ext uri="{FF2B5EF4-FFF2-40B4-BE49-F238E27FC236}">
                <a16:creationId xmlns:a16="http://schemas.microsoft.com/office/drawing/2014/main" id="{1602227A-4C76-445B-AAA7-088138AD470E}"/>
              </a:ext>
            </a:extLst>
          </p:cNvPr>
          <p:cNvSpPr>
            <a:spLocks xmlns:a="http://schemas.openxmlformats.org/drawingml/2006/main" noGrp="1"/>
          </p:cNvSpPr>
          <p:nvPr/>
        </p:nvSpPr>
        <p:spPr>
          <a:xfrm xmlns:a="http://schemas.openxmlformats.org/drawingml/2006/main">
            <a:off x="11334750" y="58293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ED3027"/>
                </a:solidFill>
                <a:latin typeface="Arial"/>
                <a:ea typeface="Arial"/>
                <a:cs typeface="Arial"/>
              </a:defRPr>
            </a:pPr>
            <a:r>
              <a:rPr sz="1125" b="1">
                <a:solidFill>
                  <a:srgbClr val="ED3027"/>
                </a:solidFill>
                <a:latin typeface="Arial"/>
                <a:ea typeface="Arial"/>
                <a:cs typeface="Arial"/>
              </a:rPr>
              <a:t>Создать анкету</a:t>
            </a:r>
          </a:p>
        </p:txBody>
      </p:sp>
      <p:sp>
        <p:nvSpPr>
          <p:cNvPr id="21" name="device-languages">
            <a:extLst xmlns:a="http://schemas.openxmlformats.org/drawingml/2006/main">
              <a:ext uri="{FF2B5EF4-FFF2-40B4-BE49-F238E27FC236}">
                <a16:creationId xmlns:a16="http://schemas.microsoft.com/office/drawing/2014/main" id="{E28708DC-C3D7-465B-B07D-D257C9504100}"/>
              </a:ext>
            </a:extLst>
          </p:cNvPr>
          <p:cNvSpPr>
            <a:spLocks xmlns:a="http://schemas.openxmlformats.org/drawingml/2006/main" noGrp="1"/>
          </p:cNvSpPr>
          <p:nvPr/>
        </p:nvSpPr>
        <p:spPr>
          <a:xfrm xmlns:a="http://schemas.openxmlformats.org/drawingml/2006/main">
            <a:off x="9725025" y="7105650"/>
            <a:ext cx="4895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Русский     Қазақша</a:t>
            </a:r>
          </a:p>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Türkçe       English</a:t>
            </a:r>
          </a:p>
        </p:txBody>
      </p:sp>
      <p:sp>
        <p:nvSpPr>
          <p:cNvPr id="22" name="device-languages-tr">
            <a:extLst xmlns:a="http://schemas.openxmlformats.org/drawingml/2006/main">
              <a:ext uri="{FF2B5EF4-FFF2-40B4-BE49-F238E27FC236}">
                <a16:creationId xmlns:a16="http://schemas.microsoft.com/office/drawing/2014/main" id="{43ECB8B8-FC8C-4F39-9848-86171BD7C5C4}"/>
              </a:ext>
            </a:extLst>
          </p:cNvPr>
          <p:cNvSpPr>
            <a:spLocks xmlns:a="http://schemas.openxmlformats.org/drawingml/2006/main" noGrp="1"/>
          </p:cNvSpPr>
          <p:nvPr/>
        </p:nvSpPr>
        <p:spPr>
          <a:xfrm xmlns:a="http://schemas.openxmlformats.org/drawingml/2006/main">
            <a:off x="9725025" y="8134350"/>
            <a:ext cx="4895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9ADB2"/>
                </a:solidFill>
                <a:latin typeface="Arial"/>
                <a:ea typeface="Arial"/>
                <a:cs typeface="Arial"/>
              </a:defRPr>
            </a:pPr>
            <a:r>
              <a:rPr sz="1350" b="0">
                <a:solidFill>
                  <a:srgbClr val="A9ADB2"/>
                </a:solidFill>
                <a:latin typeface="Arial"/>
                <a:ea typeface="Arial"/>
                <a:cs typeface="Arial"/>
              </a:rPr>
              <a:t>Планируемые языки / Planlanan diller</a:t>
            </a:r>
          </a:p>
        </p:txBody>
      </p:sp>
    </p:spTree>
    <p:extLst>
      <p:ext uri="{BB962C8B-B14F-4D97-AF65-F5344CB8AC3E}">
        <p14:creationId xmlns:p14="http://schemas.microsoft.com/office/powerpoint/2010/main" val="304731421"/>
      </p:ext>
    </p:extLst>
  </p:cSld>
</p:sld>
</file>

<file path=ppt/slides/slide7.xml><?xml version="1.0" encoding="utf-8"?>
<p:sld xmlns:p="http://schemas.openxmlformats.org/presentationml/2006/main">
  <p:cSld>
    <p:bg>
      <p:bgPr>
        <a:solidFill xmlns:a="http://schemas.openxmlformats.org/drawingml/2006/main">
          <a:srgbClr val="202226"/>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7e03888778849d4"/>
          <a:srcRect xmlns:a="http://schemas.openxmlformats.org/drawingml/2006/main" l="0" t="37298" r="0" b="37298"/>
          <a:stretch xmlns:a="http://schemas.openxmlformats.org/drawingml/2006/main">
            <a:fillRect l="0" t="0" r="0" b="0"/>
          </a:stretch>
        </p:blipFill>
        <p:spPr>
          <a:xfrm xmlns:a="http://schemas.openxmlformats.org/drawingml/2006/main">
            <a:off x="723900" y="438150"/>
            <a:ext cx="2362200" cy="600075"/>
          </a:xfrm>
          <a:prstGeom xmlns:a="http://schemas.openxmlformats.org/drawingml/2006/main" prst="rect">
            <a:avLst/>
          </a:prstGeom>
        </p:spPr>
      </p:pic>
      <p:sp>
        <p:nvSpPr>
          <p:cNvPr id="2" name="closing-red">
            <a:extLst xmlns:a="http://schemas.openxmlformats.org/drawingml/2006/main">
              <a:ext uri="{FF2B5EF4-FFF2-40B4-BE49-F238E27FC236}">
                <a16:creationId xmlns:a16="http://schemas.microsoft.com/office/drawing/2014/main" id="{55C86ED6-9EDC-4B25-8758-F7AD3B3A5A26}"/>
              </a:ext>
            </a:extLst>
          </p:cNvPr>
          <p:cNvSpPr>
            <a:spLocks xmlns:a="http://schemas.openxmlformats.org/drawingml/2006/main" noGrp="1"/>
          </p:cNvSpPr>
          <p:nvPr/>
        </p:nvSpPr>
        <p:spPr>
          <a:xfrm xmlns:a="http://schemas.openxmlformats.org/drawingml/2006/main">
            <a:off x="0" y="1333500"/>
            <a:ext cx="9744075" cy="7239000"/>
          </a:xfrm>
          <a:prstGeom xmlns:a="http://schemas.openxmlformats.org/drawingml/2006/main" prst="rect">
            <a:avLst/>
          </a:prstGeom>
          <a:solidFill xmlns:a="http://schemas.openxmlformats.org/drawingml/2006/main">
            <a:srgbClr val="ED3027"/>
          </a:solidFill>
          <a:ln xmlns:a="http://schemas.openxmlformats.org/drawingml/2006/main" w="0">
            <a:noFill/>
          </a:ln>
        </p:spPr>
      </p:sp>
      <p:sp>
        <p:nvSpPr>
          <p:cNvPr id="3" name="ru-title">
            <a:extLst xmlns:a="http://schemas.openxmlformats.org/drawingml/2006/main">
              <a:ext uri="{FF2B5EF4-FFF2-40B4-BE49-F238E27FC236}">
                <a16:creationId xmlns:a16="http://schemas.microsoft.com/office/drawing/2014/main" id="{E541F150-9296-4166-B113-7C5A1BE7E132}"/>
              </a:ext>
            </a:extLst>
          </p:cNvPr>
          <p:cNvSpPr>
            <a:spLocks xmlns:a="http://schemas.openxmlformats.org/drawingml/2006/main" noGrp="1"/>
          </p:cNvSpPr>
          <p:nvPr/>
        </p:nvSpPr>
        <p:spPr>
          <a:xfrm xmlns:a="http://schemas.openxmlformats.org/drawingml/2006/main">
            <a:off x="723900" y="1695450"/>
            <a:ext cx="847725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Поиск работы</a:t>
            </a:r>
          </a:p>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с личным</a:t>
            </a:r>
          </a:p>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знакомством</a:t>
            </a:r>
          </a:p>
        </p:txBody>
      </p:sp>
      <p:sp>
        <p:nvSpPr>
          <p:cNvPr id="4" name="ru-body">
            <a:extLst xmlns:a="http://schemas.openxmlformats.org/drawingml/2006/main">
              <a:ext uri="{FF2B5EF4-FFF2-40B4-BE49-F238E27FC236}">
                <a16:creationId xmlns:a16="http://schemas.microsoft.com/office/drawing/2014/main" id="{DC28003C-D4CF-4816-912E-9A9661F5C822}"/>
              </a:ext>
            </a:extLst>
          </p:cNvPr>
          <p:cNvSpPr>
            <a:spLocks xmlns:a="http://schemas.openxmlformats.org/drawingml/2006/main" noGrp="1"/>
          </p:cNvSpPr>
          <p:nvPr/>
        </p:nvSpPr>
        <p:spPr>
          <a:xfrm xmlns:a="http://schemas.openxmlformats.org/drawingml/2006/main">
            <a:off x="723900" y="4867275"/>
            <a:ext cx="8382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Новая платформа Open Consulting</a:t>
            </a:r>
          </a:p>
        </p:txBody>
      </p:sp>
      <p:sp>
        <p:nvSpPr>
          <p:cNvPr id="5" name="tr-title">
            <a:extLst xmlns:a="http://schemas.openxmlformats.org/drawingml/2006/main">
              <a:ext uri="{FF2B5EF4-FFF2-40B4-BE49-F238E27FC236}">
                <a16:creationId xmlns:a16="http://schemas.microsoft.com/office/drawing/2014/main" id="{542DCFD8-7BEC-45BF-91F9-62B98BD923BC}"/>
              </a:ext>
            </a:extLst>
          </p:cNvPr>
          <p:cNvSpPr>
            <a:spLocks xmlns:a="http://schemas.openxmlformats.org/drawingml/2006/main" noGrp="1"/>
          </p:cNvSpPr>
          <p:nvPr/>
        </p:nvSpPr>
        <p:spPr>
          <a:xfrm xmlns:a="http://schemas.openxmlformats.org/drawingml/2006/main">
            <a:off x="723900" y="5953125"/>
            <a:ext cx="8477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İş arama ve</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adaylarla tanışma</a:t>
            </a:r>
          </a:p>
        </p:txBody>
      </p:sp>
      <p:sp>
        <p:nvSpPr>
          <p:cNvPr id="6" name="coming-soon">
            <a:extLst xmlns:a="http://schemas.openxmlformats.org/drawingml/2006/main">
              <a:ext uri="{FF2B5EF4-FFF2-40B4-BE49-F238E27FC236}">
                <a16:creationId xmlns:a16="http://schemas.microsoft.com/office/drawing/2014/main" id="{758D55A9-1EB2-4B63-A067-AACDD2119BDB}"/>
              </a:ext>
            </a:extLst>
          </p:cNvPr>
          <p:cNvSpPr>
            <a:spLocks xmlns:a="http://schemas.openxmlformats.org/drawingml/2006/main" noGrp="1"/>
          </p:cNvSpPr>
          <p:nvPr/>
        </p:nvSpPr>
        <p:spPr>
          <a:xfrm xmlns:a="http://schemas.openxmlformats.org/drawingml/2006/main">
            <a:off x="723900" y="7848600"/>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E3DF"/>
                </a:solidFill>
                <a:latin typeface="Arial"/>
                <a:ea typeface="Arial"/>
                <a:cs typeface="Arial"/>
              </a:defRPr>
            </a:pPr>
            <a:r>
              <a:rPr sz="1875" b="0">
                <a:solidFill>
                  <a:srgbClr val="FFE3DF"/>
                </a:solidFill>
                <a:latin typeface="Arial"/>
                <a:ea typeface="Arial"/>
                <a:cs typeface="Arial"/>
              </a:rPr>
              <a:t>Платформа скоро / Platform yakında</a:t>
            </a:r>
          </a:p>
        </p:txBody>
      </p:sp>
      <p:sp>
        <p:nvSpPr>
          <p:cNvPr id="7" name="closing-job">
            <a:extLst xmlns:a="http://schemas.openxmlformats.org/drawingml/2006/main">
              <a:ext uri="{FF2B5EF4-FFF2-40B4-BE49-F238E27FC236}">
                <a16:creationId xmlns:a16="http://schemas.microsoft.com/office/drawing/2014/main" id="{88F3A04E-7934-4F7F-B816-4BB0224FE7E5}"/>
              </a:ext>
            </a:extLst>
          </p:cNvPr>
          <p:cNvSpPr>
            <a:spLocks xmlns:a="http://schemas.openxmlformats.org/drawingml/2006/main" noGrp="1"/>
          </p:cNvSpPr>
          <p:nvPr/>
        </p:nvSpPr>
        <p:spPr>
          <a:xfrm xmlns:a="http://schemas.openxmlformats.org/drawingml/2006/main">
            <a:off x="10429875" y="1990725"/>
            <a:ext cx="4095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Вакансии</a:t>
            </a:r>
          </a:p>
        </p:txBody>
      </p:sp>
      <p:sp>
        <p:nvSpPr>
          <p:cNvPr id="8" name="closing-job-tr">
            <a:extLst xmlns:a="http://schemas.openxmlformats.org/drawingml/2006/main">
              <a:ext uri="{FF2B5EF4-FFF2-40B4-BE49-F238E27FC236}">
                <a16:creationId xmlns:a16="http://schemas.microsoft.com/office/drawing/2014/main" id="{6D199E11-8209-4A05-847B-F42EA49E460B}"/>
              </a:ext>
            </a:extLst>
          </p:cNvPr>
          <p:cNvSpPr>
            <a:spLocks xmlns:a="http://schemas.openxmlformats.org/drawingml/2006/main" noGrp="1"/>
          </p:cNvSpPr>
          <p:nvPr/>
        </p:nvSpPr>
        <p:spPr>
          <a:xfrm xmlns:a="http://schemas.openxmlformats.org/drawingml/2006/main">
            <a:off x="10429875" y="271462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9ADB2"/>
                </a:solidFill>
                <a:latin typeface="Arial"/>
                <a:ea typeface="Arial"/>
                <a:cs typeface="Arial"/>
              </a:defRPr>
            </a:pPr>
            <a:r>
              <a:rPr sz="2025" b="0">
                <a:solidFill>
                  <a:srgbClr val="A9ADB2"/>
                </a:solidFill>
                <a:latin typeface="Arial"/>
                <a:ea typeface="Arial"/>
                <a:cs typeface="Arial"/>
              </a:rPr>
              <a:t>İş ilanları</a:t>
            </a:r>
          </a:p>
        </p:txBody>
      </p:sp>
      <p:sp>
        <p:nvSpPr>
          <p:cNvPr id="9" name="closing-profile">
            <a:extLst xmlns:a="http://schemas.openxmlformats.org/drawingml/2006/main">
              <a:ext uri="{FF2B5EF4-FFF2-40B4-BE49-F238E27FC236}">
                <a16:creationId xmlns:a16="http://schemas.microsoft.com/office/drawing/2014/main" id="{250180AF-DD7A-4D1F-A362-B8390EED85F7}"/>
              </a:ext>
            </a:extLst>
          </p:cNvPr>
          <p:cNvSpPr>
            <a:spLocks xmlns:a="http://schemas.openxmlformats.org/drawingml/2006/main" noGrp="1"/>
          </p:cNvSpPr>
          <p:nvPr/>
        </p:nvSpPr>
        <p:spPr>
          <a:xfrm xmlns:a="http://schemas.openxmlformats.org/drawingml/2006/main">
            <a:off x="10429875" y="3933825"/>
            <a:ext cx="4095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Анкеты</a:t>
            </a:r>
          </a:p>
        </p:txBody>
      </p:sp>
      <p:sp>
        <p:nvSpPr>
          <p:cNvPr id="10" name="closing-profile-tr">
            <a:extLst xmlns:a="http://schemas.openxmlformats.org/drawingml/2006/main">
              <a:ext uri="{FF2B5EF4-FFF2-40B4-BE49-F238E27FC236}">
                <a16:creationId xmlns:a16="http://schemas.microsoft.com/office/drawing/2014/main" id="{C40EDE15-AB2D-4ABF-BA56-5A0E5A93FA3C}"/>
              </a:ext>
            </a:extLst>
          </p:cNvPr>
          <p:cNvSpPr>
            <a:spLocks xmlns:a="http://schemas.openxmlformats.org/drawingml/2006/main" noGrp="1"/>
          </p:cNvSpPr>
          <p:nvPr/>
        </p:nvSpPr>
        <p:spPr>
          <a:xfrm xmlns:a="http://schemas.openxmlformats.org/drawingml/2006/main">
            <a:off x="10429875" y="465772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9ADB2"/>
                </a:solidFill>
                <a:latin typeface="Arial"/>
                <a:ea typeface="Arial"/>
                <a:cs typeface="Arial"/>
              </a:defRPr>
            </a:pPr>
            <a:r>
              <a:rPr sz="2025" b="0">
                <a:solidFill>
                  <a:srgbClr val="A9ADB2"/>
                </a:solidFill>
                <a:latin typeface="Arial"/>
                <a:ea typeface="Arial"/>
                <a:cs typeface="Arial"/>
              </a:rPr>
              <a:t>Aday profilleri</a:t>
            </a:r>
          </a:p>
        </p:txBody>
      </p:sp>
      <p:sp>
        <p:nvSpPr>
          <p:cNvPr id="11" name="closing-video">
            <a:extLst xmlns:a="http://schemas.openxmlformats.org/drawingml/2006/main">
              <a:ext uri="{FF2B5EF4-FFF2-40B4-BE49-F238E27FC236}">
                <a16:creationId xmlns:a16="http://schemas.microsoft.com/office/drawing/2014/main" id="{37C374EE-5EA5-4F03-B1CE-508232AF4C94}"/>
              </a:ext>
            </a:extLst>
          </p:cNvPr>
          <p:cNvSpPr>
            <a:spLocks xmlns:a="http://schemas.openxmlformats.org/drawingml/2006/main" noGrp="1"/>
          </p:cNvSpPr>
          <p:nvPr/>
        </p:nvSpPr>
        <p:spPr>
          <a:xfrm xmlns:a="http://schemas.openxmlformats.org/drawingml/2006/main">
            <a:off x="10429875" y="5876925"/>
            <a:ext cx="4095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Видеоответы</a:t>
            </a:r>
          </a:p>
        </p:txBody>
      </p:sp>
      <p:sp>
        <p:nvSpPr>
          <p:cNvPr id="12" name="closing-video-tr">
            <a:extLst xmlns:a="http://schemas.openxmlformats.org/drawingml/2006/main">
              <a:ext uri="{FF2B5EF4-FFF2-40B4-BE49-F238E27FC236}">
                <a16:creationId xmlns:a16="http://schemas.microsoft.com/office/drawing/2014/main" id="{88426834-D1BF-408C-AB0C-690B2E348D4B}"/>
              </a:ext>
            </a:extLst>
          </p:cNvPr>
          <p:cNvSpPr>
            <a:spLocks xmlns:a="http://schemas.openxmlformats.org/drawingml/2006/main" noGrp="1"/>
          </p:cNvSpPr>
          <p:nvPr/>
        </p:nvSpPr>
        <p:spPr>
          <a:xfrm xmlns:a="http://schemas.openxmlformats.org/drawingml/2006/main">
            <a:off x="10429875" y="660082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9ADB2"/>
                </a:solidFill>
                <a:latin typeface="Arial"/>
                <a:ea typeface="Arial"/>
                <a:cs typeface="Arial"/>
              </a:defRPr>
            </a:pPr>
            <a:r>
              <a:rPr sz="2025" b="0">
                <a:solidFill>
                  <a:srgbClr val="A9ADB2"/>
                </a:solidFill>
                <a:latin typeface="Arial"/>
                <a:ea typeface="Arial"/>
                <a:cs typeface="Arial"/>
              </a:rPr>
              <a:t>Video yanıtları</a:t>
            </a:r>
          </a:p>
        </p:txBody>
      </p:sp>
      <p:sp>
        <p:nvSpPr>
          <p:cNvPr id="13" name="optional">
            <a:extLst xmlns:a="http://schemas.openxmlformats.org/drawingml/2006/main">
              <a:ext uri="{FF2B5EF4-FFF2-40B4-BE49-F238E27FC236}">
                <a16:creationId xmlns:a16="http://schemas.microsoft.com/office/drawing/2014/main" id="{B078628E-8B79-4A17-8885-00B04B88ABC9}"/>
              </a:ext>
            </a:extLst>
          </p:cNvPr>
          <p:cNvSpPr>
            <a:spLocks xmlns:a="http://schemas.openxmlformats.org/drawingml/2006/main" noGrp="1"/>
          </p:cNvSpPr>
          <p:nvPr/>
        </p:nvSpPr>
        <p:spPr>
          <a:xfrm xmlns:a="http://schemas.openxmlformats.org/drawingml/2006/main">
            <a:off x="10429875" y="743902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8C83"/>
                </a:solidFill>
                <a:latin typeface="Arial"/>
                <a:ea typeface="Arial"/>
                <a:cs typeface="Arial"/>
              </a:defRPr>
            </a:pPr>
            <a:r>
              <a:rPr sz="1725" b="0">
                <a:solidFill>
                  <a:srgbClr val="FF8C83"/>
                </a:solidFill>
                <a:latin typeface="Arial"/>
                <a:ea typeface="Arial"/>
                <a:cs typeface="Arial"/>
              </a:rPr>
              <a:t>По желанию / İsteğe bağlı</a:t>
            </a:r>
          </a:p>
        </p:txBody>
      </p:sp>
    </p:spTree>
    <p:extLst>
      <p:ext uri="{BB962C8B-B14F-4D97-AF65-F5344CB8AC3E}">
        <p14:creationId xmlns:p14="http://schemas.microsoft.com/office/powerpoint/2010/main" val="18900289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2026-10-04T11:57:34.1430000Z</dcterms:created>
  <dcterms:modified xsi:type="dcterms:W3CDTF">2026-10-04T11:57:34.1430000Z</dcterms:modified>
</coreProperties>
</file>