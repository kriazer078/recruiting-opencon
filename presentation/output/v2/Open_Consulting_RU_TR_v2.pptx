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4bdc1bdb5c488d" /><Relationship Type="http://schemas.openxmlformats.org/officeDocument/2006/relationships/extended-properties" Target="/docProps/app.xml" Id="R848cb3287e3f427d" /><Relationship Type="http://schemas.openxmlformats.org/officeDocument/2006/relationships/officeDocument" Target="/ppt/presentation.xml" Id="R2fe0f5953b934f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169e98ed5f4518"/>
  </p:sldMasterIdLst>
  <p:notesMasterIdLst>
    <p:notesMasterId xmlns:r="http://schemas.openxmlformats.org/officeDocument/2006/relationships" r:id="R36fb70fd30cb4c45"/>
  </p:notesMasterIdLst>
  <p:sldIdLst>
    <p:sldId xmlns:r="http://schemas.openxmlformats.org/officeDocument/2006/relationships" id="256" r:id="Rcdb57c2d40944ebe"/>
    <p:sldId xmlns:r="http://schemas.openxmlformats.org/officeDocument/2006/relationships" id="257" r:id="Ra194d3c1dec7480e"/>
    <p:sldId xmlns:r="http://schemas.openxmlformats.org/officeDocument/2006/relationships" id="258" r:id="R584f15ec8feb41e1"/>
    <p:sldId xmlns:r="http://schemas.openxmlformats.org/officeDocument/2006/relationships" id="259" r:id="Rcd5db0e6d97f414d"/>
    <p:sldId xmlns:r="http://schemas.openxmlformats.org/officeDocument/2006/relationships" id="260" r:id="Re2d58884aab1480b"/>
    <p:sldId xmlns:r="http://schemas.openxmlformats.org/officeDocument/2006/relationships" id="261" r:id="R918f0f6778c44722"/>
    <p:sldId xmlns:r="http://schemas.openxmlformats.org/officeDocument/2006/relationships" id="262" r:id="R3614acecbbe949b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4e6e52345847f3" /><Relationship Type="http://schemas.openxmlformats.org/officeDocument/2006/relationships/slideMaster" Target="/ppt/slideMasters/slideMaster1.xml" Id="Reb169e98ed5f4518" /><Relationship Type="http://schemas.openxmlformats.org/officeDocument/2006/relationships/notesMaster" Target="/ppt/notesMasters/notesMaster1.xml" Id="R36fb70fd30cb4c45" /><Relationship Type="http://schemas.openxmlformats.org/officeDocument/2006/relationships/presProps" Target="/ppt/presProps.xml" Id="R128a8f29e96d4561" /><Relationship Type="http://schemas.openxmlformats.org/officeDocument/2006/relationships/tableStyles" Target="/ppt/tableStyles.xml" Id="R387727c214734e8d" /><Relationship Type="http://schemas.openxmlformats.org/officeDocument/2006/relationships/slide" Target="/ppt/slides/slide1.xml" Id="Rcdb57c2d40944ebe" /><Relationship Type="http://schemas.openxmlformats.org/officeDocument/2006/relationships/slide" Target="/ppt/slides/slide2.xml" Id="Ra194d3c1dec7480e" /><Relationship Type="http://schemas.openxmlformats.org/officeDocument/2006/relationships/slide" Target="/ppt/slides/slide3.xml" Id="R584f15ec8feb41e1" /><Relationship Type="http://schemas.openxmlformats.org/officeDocument/2006/relationships/slide" Target="/ppt/slides/slide4.xml" Id="Rcd5db0e6d97f414d" /><Relationship Type="http://schemas.openxmlformats.org/officeDocument/2006/relationships/slide" Target="/ppt/slides/slide5.xml" Id="Re2d58884aab1480b" /><Relationship Type="http://schemas.openxmlformats.org/officeDocument/2006/relationships/slide" Target="/ppt/slides/slide6.xml" Id="R918f0f6778c44722" /><Relationship Type="http://schemas.openxmlformats.org/officeDocument/2006/relationships/slide" Target="/ppt/slides/slide7.xml" Id="R3614acecbbe949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a07425b9484e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242f346b5e4781" /><Relationship Type="http://schemas.openxmlformats.org/officeDocument/2006/relationships/notesMaster" Target="/ppt/notesMasters/notesMaster1.xml" Id="Rb3c2864b9dc645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8643c5b1424b72" /><Relationship Type="http://schemas.openxmlformats.org/officeDocument/2006/relationships/notesMaster" Target="/ppt/notesMasters/notesMaster1.xml" Id="Rd3e971d172144f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30d8de670c43e9" /><Relationship Type="http://schemas.openxmlformats.org/officeDocument/2006/relationships/notesMaster" Target="/ppt/notesMasters/notesMaster1.xml" Id="R19da48fe799841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f57f8732604461" /><Relationship Type="http://schemas.openxmlformats.org/officeDocument/2006/relationships/notesMaster" Target="/ppt/notesMasters/notesMaster1.xml" Id="R3c35a3ff44e34c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e8c4359ab64556" /><Relationship Type="http://schemas.openxmlformats.org/officeDocument/2006/relationships/notesMaster" Target="/ppt/notesMasters/notesMaster1.xml" Id="Rb74dc5d3c84340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dfe880dd6d44bf" /><Relationship Type="http://schemas.openxmlformats.org/officeDocument/2006/relationships/notesMaster" Target="/ppt/notesMasters/notesMaster1.xml" Id="R246dfff39afc4f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5f3627e0534761" /><Relationship Type="http://schemas.openxmlformats.org/officeDocument/2006/relationships/notesMaster" Target="/ppt/notesMasters/notesMaster1.xml" Id="R6717a1a61cb84b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Open Consulting logo. Generated unbranded laptop support asset. Native website screenshot inserted into its screen. Product is in preparation. Original source: prototypes/single/previews/desktop.jpg. Russian above, Turkish below.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product overview based on owner requirements, no launch date committed. Russian above, Turkish below.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local prototype screenshot. Native screenshot cropped to relevant section. Vacancies, companies, salaries and conditions are demonstrations, not live listings. Russian above, Turkish below.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Generated illustration from candidate-demo.png. Not a real candidate or video. Future question selection, recording, preview and re-recording. Video optional. Russian above, Turkish below.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prototype /single/#employers. Demonstration names, experience, applications and candidate illustration. Planned employer features only. Russian above, Turkish below.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Browser product on desktop and phone, not a native mobile app. Planned languages Russian, Kazakh, Turkish, English. Preliminary mobile interface. Planned Kazakhstan, Turkey and unspecified CIS countries. Russian above, Turkish below.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product overview based on owner requirements, no launch date committed. Russian above, Turkish below.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fa8a2f8ac543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306c346d604265" /><Relationship Type="http://schemas.openxmlformats.org/officeDocument/2006/relationships/slideLayout" Target="/ppt/slideLayouts/slideLayout1.xml" Id="R820123e45aaf48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0123e45aaf48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80a28a1b2441b" /><Relationship Type="http://schemas.openxmlformats.org/officeDocument/2006/relationships/image" Target="/ppt/media/image.png" Id="R959822c54c6643a1" /><Relationship Type="http://schemas.openxmlformats.org/officeDocument/2006/relationships/image" Target="/ppt/media/image2.png" Id="R8d5af75c15074bd1" /><Relationship Type="http://schemas.openxmlformats.org/officeDocument/2006/relationships/image" Target="/ppt/media/image3.png" Id="Rc0daca89f7534ce9" /><Relationship Type="http://schemas.openxmlformats.org/officeDocument/2006/relationships/notesSlide" Target="/ppt/notesSlides/notesSlide1.xml" Id="R2d83015c67134a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e9eef02c249bc" /><Relationship Type="http://schemas.openxmlformats.org/officeDocument/2006/relationships/image" Target="/ppt/media/image4.png" Id="R4246edf3154a4c28" /><Relationship Type="http://schemas.openxmlformats.org/officeDocument/2006/relationships/notesSlide" Target="/ppt/notesSlides/notesSlide2.xml" Id="R85f5c530ff8c4f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96ea28ff14248" /><Relationship Type="http://schemas.openxmlformats.org/officeDocument/2006/relationships/image" Target="/ppt/media/image5.png" Id="R89c4872fc86c43d9" /><Relationship Type="http://schemas.openxmlformats.org/officeDocument/2006/relationships/image" Target="/ppt/media/image6.png" Id="R9fc2928d40df4cb5" /><Relationship Type="http://schemas.openxmlformats.org/officeDocument/2006/relationships/notesSlide" Target="/ppt/notesSlides/notesSlide3.xml" Id="R648f8dac4b214b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3b171418e4954" /><Relationship Type="http://schemas.openxmlformats.org/officeDocument/2006/relationships/image" Target="/ppt/media/image7.png" Id="R5f502d6747394247" /><Relationship Type="http://schemas.openxmlformats.org/officeDocument/2006/relationships/image" Target="/ppt/media/image8.png" Id="R289364aca5104b36" /><Relationship Type="http://schemas.openxmlformats.org/officeDocument/2006/relationships/notesSlide" Target="/ppt/notesSlides/notesSlide4.xml" Id="Re4b7858332e74a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8057e50a045a8" /><Relationship Type="http://schemas.openxmlformats.org/officeDocument/2006/relationships/image" Target="/ppt/media/image9.png" Id="R15a065a5418443ad" /><Relationship Type="http://schemas.openxmlformats.org/officeDocument/2006/relationships/image" Target="/ppt/media/image10.png" Id="Rd7bbc8fb0bf54173" /><Relationship Type="http://schemas.openxmlformats.org/officeDocument/2006/relationships/notesSlide" Target="/ppt/notesSlides/notesSlide5.xml" Id="R9d3b7cd258794d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3a6855be24fec" /><Relationship Type="http://schemas.openxmlformats.org/officeDocument/2006/relationships/image" Target="/ppt/media/image11.png" Id="Rc8bb025e984348bc" /><Relationship Type="http://schemas.openxmlformats.org/officeDocument/2006/relationships/image" Target="/ppt/media/image12.png" Id="R7ae7c48117f749ba" /><Relationship Type="http://schemas.openxmlformats.org/officeDocument/2006/relationships/notesSlide" Target="/ppt/notesSlides/notesSlide6.xml" Id="R01df40bb9f7942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5b36233eb4d8c" /><Relationship Type="http://schemas.openxmlformats.org/officeDocument/2006/relationships/image" Target="/ppt/media/image13.png" Id="Rcf96cebf36e54b2b" /><Relationship Type="http://schemas.openxmlformats.org/officeDocument/2006/relationships/notesSlide" Target="/ppt/notesSlides/notesSlide7.xml" Id="Rc00d9b77c83b4e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822c54c6643a1"/>
          <a:srcRect xmlns:a="http://schemas.openxmlformats.org/drawingml/2006/main" l="0" t="37298" r="0" b="37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438150"/>
            <a:ext cx="2362200" cy="600075"/>
          </a:xfrm>
          <a:prstGeom xmlns:a="http://schemas.openxmlformats.org/drawingml/2006/main" prst="rect">
            <a:avLst/>
          </a:prstGeom>
        </p:spPr>
      </p:pic>
      <p:sp>
        <p:nvSpPr>
          <p:cNvPr id="2" name="ru-title">
            <a:extLst xmlns:a="http://schemas.openxmlformats.org/drawingml/2006/main">
              <a:ext uri="{FF2B5EF4-FFF2-40B4-BE49-F238E27FC236}">
                <a16:creationId xmlns:a16="http://schemas.microsoft.com/office/drawing/2014/main" id="{62CC77D5-C9FE-463C-BE5A-C7B14EBF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6381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Поиск работы.</a:t>
            </a:r>
          </a:p>
          <a:p xmlns:a="http://schemas.openxmlformats.org/drawingml/2006/main">
            <a:pPr>
              <a:defRPr sz="487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Знакомство</a:t>
            </a:r>
          </a:p>
          <a:p xmlns:a="http://schemas.openxmlformats.org/drawingml/2006/main">
            <a:pPr>
              <a:defRPr sz="487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с кандидатом.</a:t>
            </a:r>
          </a:p>
        </p:txBody>
      </p:sp>
      <p:sp>
        <p:nvSpPr>
          <p:cNvPr id="3" name="ru-body">
            <a:extLst xmlns:a="http://schemas.openxmlformats.org/drawingml/2006/main">
              <a:ext uri="{FF2B5EF4-FFF2-40B4-BE49-F238E27FC236}">
                <a16:creationId xmlns:a16="http://schemas.microsoft.com/office/drawing/2014/main" id="{CFC1BB97-5136-41DF-8C6F-24701BE0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Мы создаём платформу с вакансиями,</a:t>
            </a:r>
          </a:p>
          <a:p xmlns:a="http://schemas.openxmlformats.org/drawingml/2006/main">
            <a:pPr>
              <a:defRPr sz="2175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анкетами и видеоответами.</a:t>
            </a:r>
          </a:p>
        </p:txBody>
      </p:sp>
      <p:sp>
        <p:nvSpPr>
          <p:cNvPr id="4" name="tr-title">
            <a:extLst xmlns:a="http://schemas.openxmlformats.org/drawingml/2006/main">
              <a:ext uri="{FF2B5EF4-FFF2-40B4-BE49-F238E27FC236}">
                <a16:creationId xmlns:a16="http://schemas.microsoft.com/office/drawing/2014/main" id="{24E4B45B-147A-4652-9A6E-E0846AEF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638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İş arama.</a:t>
            </a:r>
          </a:p>
          <a:p xmlns:a="http://schemas.openxmlformats.org/drawingml/2006/main">
            <a:pPr>
              <a:defRPr sz="322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Adaylarla tanışma.</a:t>
            </a:r>
          </a:p>
        </p:txBody>
      </p:sp>
      <p:sp>
        <p:nvSpPr>
          <p:cNvPr id="5" name="tr-body">
            <a:extLst xmlns:a="http://schemas.openxmlformats.org/drawingml/2006/main">
              <a:ext uri="{FF2B5EF4-FFF2-40B4-BE49-F238E27FC236}">
                <a16:creationId xmlns:a16="http://schemas.microsoft.com/office/drawing/2014/main" id="{7D3BA168-CCE9-40C9-99F8-27DF2012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62775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İş ilanlarını, aday profillerini ve video</a:t>
            </a:r>
          </a:p>
          <a:p xmlns:a="http://schemas.openxmlformats.org/drawingml/2006/main">
            <a:pPr>
              <a:defRPr sz="1950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yanıtlarını bir araya getiren bir platform.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af75c15074bd1"/>
          <a:stretch xmlns:a="http://schemas.openxmlformats.org/drawingml/2006/main"/>
        </p:blipFill>
        <p:spPr>
          <a:xfrm xmlns:a="http://schemas.openxmlformats.org/drawingml/2006/main">
            <a:off x="6762750" y="1962150"/>
            <a:ext cx="8286750" cy="55245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aca89f7534ce9"/>
          <a:stretch xmlns:a="http://schemas.openxmlformats.org/drawingml/2006/main"/>
        </p:blipFill>
        <p:spPr>
          <a:xfrm xmlns:a="http://schemas.openxmlformats.org/drawingml/2006/main">
            <a:off x="7680315" y="2426018"/>
            <a:ext cx="6451620" cy="3614738"/>
          </a:xfrm>
          <a:prstGeom xmlns:a="http://schemas.openxmlformats.org/drawingml/2006/main" prst="rect">
            <a:avLst/>
          </a:prstGeom>
        </p:spPr>
      </p:pic>
      <p:sp>
        <p:nvSpPr>
          <p:cNvPr id="8" name="disclosure-ru">
            <a:extLst xmlns:a="http://schemas.openxmlformats.org/drawingml/2006/main">
              <a:ext uri="{FF2B5EF4-FFF2-40B4-BE49-F238E27FC236}">
                <a16:creationId xmlns:a16="http://schemas.microsoft.com/office/drawing/2014/main" id="{026E539D-9C03-4D4F-A0FC-BFBE684B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74485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Предварительный интерфейс</a:t>
            </a:r>
          </a:p>
        </p:txBody>
      </p:sp>
      <p:sp>
        <p:nvSpPr>
          <p:cNvPr id="9" name="disclosure-tr">
            <a:extLst xmlns:a="http://schemas.openxmlformats.org/drawingml/2006/main">
              <a:ext uri="{FF2B5EF4-FFF2-40B4-BE49-F238E27FC236}">
                <a16:creationId xmlns:a16="http://schemas.microsoft.com/office/drawing/2014/main" id="{142A943C-AE11-4924-A397-7E1A7AD0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77533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Ön tasarım</a:t>
            </a:r>
          </a:p>
        </p:txBody>
      </p:sp>
    </p:spTree>
    <p:extLst>
      <p:ext uri="{BB962C8B-B14F-4D97-AF65-F5344CB8AC3E}">
        <p14:creationId xmlns:p14="http://schemas.microsoft.com/office/powerpoint/2010/main" val="8846372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6edf3154a4c28"/>
          <a:srcRect xmlns:a="http://schemas.openxmlformats.org/drawingml/2006/main" l="0" t="37298" r="0" b="37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438150"/>
            <a:ext cx="2362200" cy="600075"/>
          </a:xfrm>
          <a:prstGeom xmlns:a="http://schemas.openxmlformats.org/drawingml/2006/main" prst="rect">
            <a:avLst/>
          </a:prstGeom>
        </p:spPr>
      </p:pic>
      <p:sp>
        <p:nvSpPr>
          <p:cNvPr id="2" name="ru-title">
            <a:extLst xmlns:a="http://schemas.openxmlformats.org/drawingml/2006/main">
              <a:ext uri="{FF2B5EF4-FFF2-40B4-BE49-F238E27FC236}">
                <a16:creationId xmlns:a16="http://schemas.microsoft.com/office/drawing/2014/main" id="{41CD1632-AF7F-4218-87DA-59CEEA80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333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Соискатели и работодатели</a:t>
            </a:r>
          </a:p>
        </p:txBody>
      </p:sp>
      <p:sp>
        <p:nvSpPr>
          <p:cNvPr id="3" name="ru-candidate">
            <a:extLst xmlns:a="http://schemas.openxmlformats.org/drawingml/2006/main">
              <a:ext uri="{FF2B5EF4-FFF2-40B4-BE49-F238E27FC236}">
                <a16:creationId xmlns:a16="http://schemas.microsoft.com/office/drawing/2014/main" id="{441A1BC4-213D-4DF6-A4B8-8EEF61BC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6334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D30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D3027"/>
                </a:solidFill>
                <a:latin typeface="Arial"/>
                <a:ea typeface="Arial"/>
                <a:cs typeface="Arial"/>
              </a:rPr>
              <a:t>Соискатель</a:t>
            </a:r>
          </a:p>
        </p:txBody>
      </p:sp>
      <p:sp>
        <p:nvSpPr>
          <p:cNvPr id="4" name="ru-candidate-body">
            <a:extLst xmlns:a="http://schemas.openxmlformats.org/drawingml/2006/main">
              <a:ext uri="{FF2B5EF4-FFF2-40B4-BE49-F238E27FC236}">
                <a16:creationId xmlns:a16="http://schemas.microsoft.com/office/drawing/2014/main" id="{4EA15B06-5AE7-4B49-A71F-77ABAB3A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6334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226"/>
                </a:solidFill>
                <a:latin typeface="Arial"/>
                <a:ea typeface="Arial"/>
                <a:cs typeface="Arial"/>
              </a:rPr>
              <a:t>Найдёт вакансию, заполнит анкету</a:t>
            </a:r>
          </a:p>
          <a:p xmlns:a="http://schemas.openxmlformats.org/drawingml/2006/main">
            <a:pPr>
              <a:defRPr sz="2175" b="0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226"/>
                </a:solidFill>
                <a:latin typeface="Arial"/>
                <a:ea typeface="Arial"/>
                <a:cs typeface="Arial"/>
              </a:rPr>
              <a:t>и сможет дополнить её видеоответами.</a:t>
            </a:r>
          </a:p>
        </p:txBody>
      </p:sp>
      <p:sp>
        <p:nvSpPr>
          <p:cNvPr id="5" name="ru-employer">
            <a:extLst xmlns:a="http://schemas.openxmlformats.org/drawingml/2006/main">
              <a:ext uri="{FF2B5EF4-FFF2-40B4-BE49-F238E27FC236}">
                <a16:creationId xmlns:a16="http://schemas.microsoft.com/office/drawing/2014/main" id="{105F5603-6894-4711-8708-58155D37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05100"/>
            <a:ext cx="6334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D30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D3027"/>
                </a:solidFill>
                <a:latin typeface="Arial"/>
                <a:ea typeface="Arial"/>
                <a:cs typeface="Arial"/>
              </a:rPr>
              <a:t>Работодатель</a:t>
            </a:r>
          </a:p>
        </p:txBody>
      </p:sp>
      <p:sp>
        <p:nvSpPr>
          <p:cNvPr id="6" name="ru-employer-body">
            <a:extLst xmlns:a="http://schemas.openxmlformats.org/drawingml/2006/main">
              <a:ext uri="{FF2B5EF4-FFF2-40B4-BE49-F238E27FC236}">
                <a16:creationId xmlns:a16="http://schemas.microsoft.com/office/drawing/2014/main" id="{11AB248D-619C-43F8-933E-DA2B32A0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29000"/>
            <a:ext cx="6334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226"/>
                </a:solidFill>
                <a:latin typeface="Arial"/>
                <a:ea typeface="Arial"/>
                <a:cs typeface="Arial"/>
              </a:rPr>
              <a:t>Разместит вакансию, посмотрит</a:t>
            </a:r>
          </a:p>
          <a:p xmlns:a="http://schemas.openxmlformats.org/drawingml/2006/main">
            <a:pPr>
              <a:defRPr sz="2175" b="0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226"/>
                </a:solidFill>
                <a:latin typeface="Arial"/>
                <a:ea typeface="Arial"/>
                <a:cs typeface="Arial"/>
              </a:rPr>
              <a:t>кандидатов и пригласит на встречу.</a:t>
            </a:r>
          </a:p>
        </p:txBody>
      </p:sp>
      <p:sp>
        <p:nvSpPr>
          <p:cNvPr id="7" name="tr-title">
            <a:extLst xmlns:a="http://schemas.openxmlformats.org/drawingml/2006/main">
              <a:ext uri="{FF2B5EF4-FFF2-40B4-BE49-F238E27FC236}">
                <a16:creationId xmlns:a16="http://schemas.microsoft.com/office/drawing/2014/main" id="{A9CE6C2B-7FA0-4580-BA58-72DE9C07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1333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İş arayanlar ve işverenler</a:t>
            </a:r>
          </a:p>
        </p:txBody>
      </p:sp>
      <p:sp>
        <p:nvSpPr>
          <p:cNvPr id="8" name="tr-candidate">
            <a:extLst xmlns:a="http://schemas.openxmlformats.org/drawingml/2006/main">
              <a:ext uri="{FF2B5EF4-FFF2-40B4-BE49-F238E27FC236}">
                <a16:creationId xmlns:a16="http://schemas.microsoft.com/office/drawing/2014/main" id="{397FF436-324A-4C36-8819-781D9246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53175"/>
            <a:ext cx="633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D302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D3027"/>
                </a:solidFill>
                <a:latin typeface="Arial"/>
                <a:ea typeface="Arial"/>
                <a:cs typeface="Arial"/>
              </a:rPr>
              <a:t>İş arayan</a:t>
            </a:r>
          </a:p>
        </p:txBody>
      </p:sp>
      <p:sp>
        <p:nvSpPr>
          <p:cNvPr id="9" name="tr-candidate-body">
            <a:extLst xmlns:a="http://schemas.openxmlformats.org/drawingml/2006/main">
              <a:ext uri="{FF2B5EF4-FFF2-40B4-BE49-F238E27FC236}">
                <a16:creationId xmlns:a16="http://schemas.microsoft.com/office/drawing/2014/main" id="{AFA035A3-47C0-4BBF-8E8E-7D28E366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43725"/>
            <a:ext cx="63341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İş ilanlarını inceleyebilecek, profil oluşturabilecek</a:t>
            </a:r>
          </a:p>
          <a:p xmlns:a="http://schemas.openxmlformats.org/drawingml/2006/main">
            <a:pPr>
              <a:defRPr sz="1950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ve isterse video yanıtları ekleyebilecek.</a:t>
            </a:r>
          </a:p>
        </p:txBody>
      </p:sp>
      <p:sp>
        <p:nvSpPr>
          <p:cNvPr id="10" name="tr-employer">
            <a:extLst xmlns:a="http://schemas.openxmlformats.org/drawingml/2006/main">
              <a:ext uri="{FF2B5EF4-FFF2-40B4-BE49-F238E27FC236}">
                <a16:creationId xmlns:a16="http://schemas.microsoft.com/office/drawing/2014/main" id="{97C9D6B0-AB60-4757-A044-3964503D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353175"/>
            <a:ext cx="633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D302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D3027"/>
                </a:solidFill>
                <a:latin typeface="Arial"/>
                <a:ea typeface="Arial"/>
                <a:cs typeface="Arial"/>
              </a:rPr>
              <a:t>İşveren</a:t>
            </a:r>
          </a:p>
        </p:txBody>
      </p:sp>
      <p:sp>
        <p:nvSpPr>
          <p:cNvPr id="11" name="tr-employer-body">
            <a:extLst xmlns:a="http://schemas.openxmlformats.org/drawingml/2006/main">
              <a:ext uri="{FF2B5EF4-FFF2-40B4-BE49-F238E27FC236}">
                <a16:creationId xmlns:a16="http://schemas.microsoft.com/office/drawing/2014/main" id="{476B9C72-B6A3-4658-9F73-DC9E87C9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943725"/>
            <a:ext cx="63341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İlan yayımlayabilecek, adayları inceleyebilecek</a:t>
            </a:r>
          </a:p>
          <a:p xmlns:a="http://schemas.openxmlformats.org/drawingml/2006/main">
            <a:pPr>
              <a:defRPr sz="1950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ve mülakata davet edebilecek.</a:t>
            </a:r>
          </a:p>
        </p:txBody>
      </p:sp>
    </p:spTree>
    <p:extLst>
      <p:ext uri="{BB962C8B-B14F-4D97-AF65-F5344CB8AC3E}">
        <p14:creationId xmlns:p14="http://schemas.microsoft.com/office/powerpoint/2010/main" val="18123116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4872fc86c43d9"/>
          <a:srcRect xmlns:a="http://schemas.openxmlformats.org/drawingml/2006/main" l="0" t="37298" r="0" b="37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438150"/>
            <a:ext cx="2362200" cy="600075"/>
          </a:xfrm>
          <a:prstGeom xmlns:a="http://schemas.openxmlformats.org/drawingml/2006/main" prst="rect">
            <a:avLst/>
          </a:prstGeom>
        </p:spPr>
      </p:pic>
      <p:sp>
        <p:nvSpPr>
          <p:cNvPr id="2" name="ru-title">
            <a:extLst xmlns:a="http://schemas.openxmlformats.org/drawingml/2006/main">
              <a:ext uri="{FF2B5EF4-FFF2-40B4-BE49-F238E27FC236}">
                <a16:creationId xmlns:a16="http://schemas.microsoft.com/office/drawing/2014/main" id="{B63B2036-DE5A-44E5-88A5-5D78FADA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04925"/>
            <a:ext cx="1362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Вакансии и отклики в одном месте</a:t>
            </a:r>
          </a:p>
        </p:txBody>
      </p:sp>
      <p:sp>
        <p:nvSpPr>
          <p:cNvPr id="3" name="ru-body">
            <a:extLst xmlns:a="http://schemas.openxmlformats.org/drawingml/2006/main">
              <a:ext uri="{FF2B5EF4-FFF2-40B4-BE49-F238E27FC236}">
                <a16:creationId xmlns:a16="http://schemas.microsoft.com/office/drawing/2014/main" id="{B48CD02B-2CED-4267-9EC3-F20B657D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85975"/>
            <a:ext cx="1362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Поиск по профессии и городу. Одна анкета для разных откликов.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2928d40df4cb5"/>
          <a:stretch xmlns:a="http://schemas.openxmlformats.org/drawingml/2006/main"/>
        </p:blipFill>
        <p:spPr>
          <a:xfrm xmlns:a="http://schemas.openxmlformats.org/drawingml/2006/main">
            <a:off x="1476375" y="2955250"/>
            <a:ext cx="12287250" cy="3204924"/>
          </a:xfrm>
          <a:prstGeom xmlns:a="http://schemas.openxmlformats.org/drawingml/2006/main" prst="rect">
            <a:avLst/>
          </a:prstGeom>
        </p:spPr>
      </p:pic>
      <p:sp>
        <p:nvSpPr>
          <p:cNvPr id="5" name="disclosure-ru">
            <a:extLst xmlns:a="http://schemas.openxmlformats.org/drawingml/2006/main">
              <a:ext uri="{FF2B5EF4-FFF2-40B4-BE49-F238E27FC236}">
                <a16:creationId xmlns:a16="http://schemas.microsoft.com/office/drawing/2014/main" id="{4DC947E2-2FFE-4520-8700-BB7C5E0F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219825"/>
            <a:ext cx="1228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Предварительный интерфейс. Компании и условия демонстрационные.</a:t>
            </a:r>
          </a:p>
        </p:txBody>
      </p:sp>
      <p:sp>
        <p:nvSpPr>
          <p:cNvPr id="6" name="tr-title">
            <a:extLst xmlns:a="http://schemas.openxmlformats.org/drawingml/2006/main">
              <a:ext uri="{FF2B5EF4-FFF2-40B4-BE49-F238E27FC236}">
                <a16:creationId xmlns:a16="http://schemas.microsoft.com/office/drawing/2014/main" id="{01DEDC17-7972-4DD8-B1D1-EA3FB84E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0"/>
            <a:ext cx="13620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İş ilanları ve başvurular aynı yerde</a:t>
            </a:r>
          </a:p>
        </p:txBody>
      </p:sp>
      <p:sp>
        <p:nvSpPr>
          <p:cNvPr id="7" name="tr-body">
            <a:extLst xmlns:a="http://schemas.openxmlformats.org/drawingml/2006/main">
              <a:ext uri="{FF2B5EF4-FFF2-40B4-BE49-F238E27FC236}">
                <a16:creationId xmlns:a16="http://schemas.microsoft.com/office/drawing/2014/main" id="{D8B9B09F-2611-4548-AB48-FB26E6A3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05700"/>
            <a:ext cx="1362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Meslek ve şehre göre arama. Farklı başvurular için tek bir aday profili.</a:t>
            </a:r>
          </a:p>
        </p:txBody>
      </p:sp>
    </p:spTree>
    <p:extLst>
      <p:ext uri="{BB962C8B-B14F-4D97-AF65-F5344CB8AC3E}">
        <p14:creationId xmlns:p14="http://schemas.microsoft.com/office/powerpoint/2010/main" val="13962452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022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02d6747394247"/>
          <a:srcRect xmlns:a="http://schemas.openxmlformats.org/drawingml/2006/main" l="0" t="37298" r="0" b="37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438150"/>
            <a:ext cx="2362200" cy="600075"/>
          </a:xfrm>
          <a:prstGeom xmlns:a="http://schemas.openxmlformats.org/drawingml/2006/main" prst="rect">
            <a:avLst/>
          </a:prstGeom>
        </p:spPr>
      </p:pic>
      <p:sp>
        <p:nvSpPr>
          <p:cNvPr id="2" name="ru-title">
            <a:extLst xmlns:a="http://schemas.openxmlformats.org/drawingml/2006/main">
              <a:ext uri="{FF2B5EF4-FFF2-40B4-BE49-F238E27FC236}">
                <a16:creationId xmlns:a16="http://schemas.microsoft.com/office/drawing/2014/main" id="{B488CFDA-FB3C-4E90-91EE-57EC37C3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633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Видеоанкета</a:t>
            </a:r>
          </a:p>
        </p:txBody>
      </p:sp>
      <p:sp>
        <p:nvSpPr>
          <p:cNvPr id="3" name="ru-body">
            <a:extLst xmlns:a="http://schemas.openxmlformats.org/drawingml/2006/main">
              <a:ext uri="{FF2B5EF4-FFF2-40B4-BE49-F238E27FC236}">
                <a16:creationId xmlns:a16="http://schemas.microsoft.com/office/drawing/2014/main" id="{99D43461-EAFC-4958-B6DB-B291B622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63341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Вопросы будут учитывать профессию</a:t>
            </a:r>
          </a:p>
          <a:p xmlns:a="http://schemas.openxmlformats.org/drawingml/2006/main">
            <a:pPr>
              <a:defRPr sz="2175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и опыт. Ответ можно будет посмотреть</a:t>
            </a:r>
          </a:p>
          <a:p xmlns:a="http://schemas.openxmlformats.org/drawingml/2006/main">
            <a:pPr>
              <a:defRPr sz="2175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и переснять перед отправкой.</a:t>
            </a:r>
          </a:p>
        </p:txBody>
      </p:sp>
      <p:sp>
        <p:nvSpPr>
          <p:cNvPr id="4" name="ru-optional">
            <a:extLst xmlns:a="http://schemas.openxmlformats.org/drawingml/2006/main">
              <a:ext uri="{FF2B5EF4-FFF2-40B4-BE49-F238E27FC236}">
                <a16:creationId xmlns:a16="http://schemas.microsoft.com/office/drawing/2014/main" id="{59DE109B-AB27-48EF-BE38-4887D24C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9575"/>
            <a:ext cx="633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665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665D"/>
                </a:solidFill>
                <a:latin typeface="Arial"/>
                <a:ea typeface="Arial"/>
                <a:cs typeface="Arial"/>
              </a:rPr>
              <a:t>Видео по желанию</a:t>
            </a:r>
          </a:p>
        </p:txBody>
      </p:sp>
      <p:sp>
        <p:nvSpPr>
          <p:cNvPr id="5" name="tr-title">
            <a:extLst xmlns:a="http://schemas.openxmlformats.org/drawingml/2006/main">
              <a:ext uri="{FF2B5EF4-FFF2-40B4-BE49-F238E27FC236}">
                <a16:creationId xmlns:a16="http://schemas.microsoft.com/office/drawing/2014/main" id="{AA194BFA-D7F5-4F3A-B28B-E1515AED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647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Video ile kendini tanıtma</a:t>
            </a:r>
          </a:p>
        </p:txBody>
      </p:sp>
      <p:sp>
        <p:nvSpPr>
          <p:cNvPr id="6" name="tr-body">
            <a:extLst xmlns:a="http://schemas.openxmlformats.org/drawingml/2006/main">
              <a:ext uri="{FF2B5EF4-FFF2-40B4-BE49-F238E27FC236}">
                <a16:creationId xmlns:a16="http://schemas.microsoft.com/office/drawing/2014/main" id="{105DB5B0-64E1-4C78-B92C-BAFAA308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24625"/>
            <a:ext cx="6477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Sorular meslek ve deneyime göre belirlenecek.</a:t>
            </a:r>
          </a:p>
          <a:p xmlns:a="http://schemas.openxmlformats.org/drawingml/2006/main">
            <a:pPr>
              <a:defRPr sz="1950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Aday yanıtını izleyebilecek ve yeniden çekebilecek.</a:t>
            </a:r>
          </a:p>
        </p:txBody>
      </p:sp>
      <p:sp>
        <p:nvSpPr>
          <p:cNvPr id="7" name="tr-optional">
            <a:extLst xmlns:a="http://schemas.openxmlformats.org/drawingml/2006/main">
              <a:ext uri="{FF2B5EF4-FFF2-40B4-BE49-F238E27FC236}">
                <a16:creationId xmlns:a16="http://schemas.microsoft.com/office/drawing/2014/main" id="{E320BE64-985C-4CC3-88A9-3EEAA93A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39050"/>
            <a:ext cx="633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66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665D"/>
                </a:solidFill>
                <a:latin typeface="Arial"/>
                <a:ea typeface="Arial"/>
                <a:cs typeface="Arial"/>
              </a:rPr>
              <a:t>Video isteğe bağlı olacak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364aca5104b36"/>
          <a:stretch xmlns:a="http://schemas.openxmlformats.org/drawingml/2006/main"/>
        </p:blipFill>
        <p:spPr>
          <a:xfrm xmlns:a="http://schemas.openxmlformats.org/drawingml/2006/main">
            <a:off x="7362825" y="1706563"/>
            <a:ext cx="7153275" cy="4768850"/>
          </a:xfrm>
          <a:prstGeom xmlns:a="http://schemas.openxmlformats.org/drawingml/2006/main" prst="rect">
            <a:avLst/>
          </a:prstGeom>
        </p:spPr>
      </p:pic>
      <p:sp>
        <p:nvSpPr>
          <p:cNvPr id="9" name="disclosure-ru">
            <a:extLst xmlns:a="http://schemas.openxmlformats.org/drawingml/2006/main">
              <a:ext uri="{FF2B5EF4-FFF2-40B4-BE49-F238E27FC236}">
                <a16:creationId xmlns:a16="http://schemas.microsoft.com/office/drawing/2014/main" id="{54732C77-F607-48E5-8941-2C5EC5D7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6696075"/>
            <a:ext cx="7153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DB1B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DB1B6"/>
                </a:solidFill>
                <a:latin typeface="Arial"/>
                <a:ea typeface="Arial"/>
                <a:cs typeface="Arial"/>
              </a:rPr>
              <a:t>Иллюстрация формата. Это не реальный кандидат.</a:t>
            </a:r>
          </a:p>
        </p:txBody>
      </p:sp>
      <p:sp>
        <p:nvSpPr>
          <p:cNvPr id="10" name="disclosure-tr">
            <a:extLst xmlns:a="http://schemas.openxmlformats.org/drawingml/2006/main">
              <a:ext uri="{FF2B5EF4-FFF2-40B4-BE49-F238E27FC236}">
                <a16:creationId xmlns:a16="http://schemas.microsoft.com/office/drawing/2014/main" id="{93187FD9-456A-4E3D-A8F5-6F63D8E8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7000875"/>
            <a:ext cx="7153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DB1B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DB1B6"/>
                </a:solidFill>
                <a:latin typeface="Arial"/>
                <a:ea typeface="Arial"/>
                <a:cs typeface="Arial"/>
              </a:rPr>
              <a:t>Örnek gösterim. Gerçek bir aday değildir.</a:t>
            </a:r>
          </a:p>
        </p:txBody>
      </p:sp>
    </p:spTree>
    <p:extLst>
      <p:ext uri="{BB962C8B-B14F-4D97-AF65-F5344CB8AC3E}">
        <p14:creationId xmlns:p14="http://schemas.microsoft.com/office/powerpoint/2010/main" val="879041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065a5418443ad"/>
          <a:srcRect xmlns:a="http://schemas.openxmlformats.org/drawingml/2006/main" l="0" t="37298" r="0" b="37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438150"/>
            <a:ext cx="2362200" cy="600075"/>
          </a:xfrm>
          <a:prstGeom xmlns:a="http://schemas.openxmlformats.org/drawingml/2006/main" prst="rect">
            <a:avLst/>
          </a:prstGeom>
        </p:spPr>
      </p:pic>
      <p:sp>
        <p:nvSpPr>
          <p:cNvPr id="2" name="ru-title">
            <a:extLst xmlns:a="http://schemas.openxmlformats.org/drawingml/2006/main">
              <a:ext uri="{FF2B5EF4-FFF2-40B4-BE49-F238E27FC236}">
                <a16:creationId xmlns:a16="http://schemas.microsoft.com/office/drawing/2014/main" id="{4E6F6BFE-F971-401F-B957-0440F754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362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Знакомство до собеседования</a:t>
            </a:r>
          </a:p>
        </p:txBody>
      </p:sp>
      <p:sp>
        <p:nvSpPr>
          <p:cNvPr id="3" name="ru-body">
            <a:extLst xmlns:a="http://schemas.openxmlformats.org/drawingml/2006/main">
              <a:ext uri="{FF2B5EF4-FFF2-40B4-BE49-F238E27FC236}">
                <a16:creationId xmlns:a16="http://schemas.microsoft.com/office/drawing/2014/main" id="{CCDC215F-717D-4374-B5F6-A9DB54D6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362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Опыт, навыки и видеоответы в анкете. Решение о найме принимает работодатель.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bc8fb0bf54173"/>
          <a:stretch xmlns:a="http://schemas.openxmlformats.org/drawingml/2006/main"/>
        </p:blipFill>
        <p:spPr>
          <a:xfrm xmlns:a="http://schemas.openxmlformats.org/drawingml/2006/main">
            <a:off x="1980596" y="3009900"/>
            <a:ext cx="5201857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ru-step-1">
            <a:extLst xmlns:a="http://schemas.openxmlformats.org/drawingml/2006/main">
              <a:ext uri="{FF2B5EF4-FFF2-40B4-BE49-F238E27FC236}">
                <a16:creationId xmlns:a16="http://schemas.microsoft.com/office/drawing/2014/main" id="{2CFA3751-8892-4EAB-9670-4F5F58A8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71825"/>
            <a:ext cx="5191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1  Разместить вакансию</a:t>
            </a:r>
          </a:p>
        </p:txBody>
      </p:sp>
      <p:sp>
        <p:nvSpPr>
          <p:cNvPr id="6" name="ru-step-2">
            <a:extLst xmlns:a="http://schemas.openxmlformats.org/drawingml/2006/main">
              <a:ext uri="{FF2B5EF4-FFF2-40B4-BE49-F238E27FC236}">
                <a16:creationId xmlns:a16="http://schemas.microsoft.com/office/drawing/2014/main" id="{587DD25D-24C2-40F0-9FE3-86D7ED24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19575"/>
            <a:ext cx="5191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2  Посмотреть анкеты</a:t>
            </a:r>
          </a:p>
        </p:txBody>
      </p:sp>
      <p:sp>
        <p:nvSpPr>
          <p:cNvPr id="7" name="ru-step-3">
            <a:extLst xmlns:a="http://schemas.openxmlformats.org/drawingml/2006/main">
              <a:ext uri="{FF2B5EF4-FFF2-40B4-BE49-F238E27FC236}">
                <a16:creationId xmlns:a16="http://schemas.microsoft.com/office/drawing/2014/main" id="{3FA14C0B-F9F1-4FB3-808C-4E563ADB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267325"/>
            <a:ext cx="5191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3  Пригласить на встречу</a:t>
            </a:r>
          </a:p>
        </p:txBody>
      </p:sp>
      <p:sp>
        <p:nvSpPr>
          <p:cNvPr id="8" name="disclosure-ru">
            <a:extLst xmlns:a="http://schemas.openxmlformats.org/drawingml/2006/main">
              <a:ext uri="{FF2B5EF4-FFF2-40B4-BE49-F238E27FC236}">
                <a16:creationId xmlns:a16="http://schemas.microsoft.com/office/drawing/2014/main" id="{F33BCBB3-F24D-49D1-9577-4C7440C1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6248400"/>
            <a:ext cx="1282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Предварительный интерфейс. Отклики и данные кандидатов демонстрационные.</a:t>
            </a:r>
          </a:p>
        </p:txBody>
      </p:sp>
      <p:sp>
        <p:nvSpPr>
          <p:cNvPr id="9" name="tr-title">
            <a:extLst xmlns:a="http://schemas.openxmlformats.org/drawingml/2006/main">
              <a:ext uri="{FF2B5EF4-FFF2-40B4-BE49-F238E27FC236}">
                <a16:creationId xmlns:a16="http://schemas.microsoft.com/office/drawing/2014/main" id="{678965A7-7291-48EA-BD21-19EBDC1F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05625"/>
            <a:ext cx="1362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Mülakattan önce adaylarla tanışma</a:t>
            </a:r>
          </a:p>
        </p:txBody>
      </p:sp>
      <p:sp>
        <p:nvSpPr>
          <p:cNvPr id="10" name="tr-body">
            <a:extLst xmlns:a="http://schemas.openxmlformats.org/drawingml/2006/main">
              <a:ext uri="{FF2B5EF4-FFF2-40B4-BE49-F238E27FC236}">
                <a16:creationId xmlns:a16="http://schemas.microsoft.com/office/drawing/2014/main" id="{4F2F7CEA-6E65-47DF-A8AF-00C2DDFA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62850"/>
            <a:ext cx="1362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Profilde deneyim, beceriler ve video yanıtları. İşe alım kararını işveren verecek.</a:t>
            </a:r>
          </a:p>
        </p:txBody>
      </p:sp>
    </p:spTree>
    <p:extLst>
      <p:ext uri="{BB962C8B-B14F-4D97-AF65-F5344CB8AC3E}">
        <p14:creationId xmlns:p14="http://schemas.microsoft.com/office/powerpoint/2010/main" val="2955404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b025e984348bc"/>
          <a:srcRect xmlns:a="http://schemas.openxmlformats.org/drawingml/2006/main" l="0" t="37298" r="0" b="37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438150"/>
            <a:ext cx="2362200" cy="600075"/>
          </a:xfrm>
          <a:prstGeom xmlns:a="http://schemas.openxmlformats.org/drawingml/2006/main" prst="rect">
            <a:avLst/>
          </a:prstGeom>
        </p:spPr>
      </p:pic>
      <p:sp>
        <p:nvSpPr>
          <p:cNvPr id="2" name="ru-title">
            <a:extLst xmlns:a="http://schemas.openxmlformats.org/drawingml/2006/main">
              <a:ext uri="{FF2B5EF4-FFF2-40B4-BE49-F238E27FC236}">
                <a16:creationId xmlns:a16="http://schemas.microsoft.com/office/drawing/2014/main" id="{1EB20ADC-C1FF-4B1C-967D-EF144F8D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8572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На телефоне</a:t>
            </a:r>
          </a:p>
          <a:p xmlns:a="http://schemas.openxmlformats.org/drawingml/2006/main">
            <a:pPr>
              <a:defRPr sz="412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и компьютере</a:t>
            </a:r>
          </a:p>
        </p:txBody>
      </p:sp>
      <p:sp>
        <p:nvSpPr>
          <p:cNvPr id="3" name="ru-body">
            <a:extLst xmlns:a="http://schemas.openxmlformats.org/drawingml/2006/main">
              <a:ext uri="{FF2B5EF4-FFF2-40B4-BE49-F238E27FC236}">
                <a16:creationId xmlns:a16="http://schemas.microsoft.com/office/drawing/2014/main" id="{842E3AA9-3DC6-4B42-A26F-2AFFAAE9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88582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В браузере, с поиском вакансий и видеоинструкцией</a:t>
            </a:r>
          </a:p>
          <a:p xmlns:a="http://schemas.openxmlformats.org/drawingml/2006/main">
            <a:pPr>
              <a:defRPr sz="2100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по заполнению анкеты.</a:t>
            </a:r>
          </a:p>
        </p:txBody>
      </p:sp>
      <p:sp>
        <p:nvSpPr>
          <p:cNvPr id="4" name="ru-geography">
            <a:extLst xmlns:a="http://schemas.openxmlformats.org/drawingml/2006/main">
              <a:ext uri="{FF2B5EF4-FFF2-40B4-BE49-F238E27FC236}">
                <a16:creationId xmlns:a16="http://schemas.microsoft.com/office/drawing/2014/main" id="{09886279-D292-410F-B4E5-807BA8E2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Планируемая география</a:t>
            </a:r>
          </a:p>
        </p:txBody>
      </p:sp>
      <p:sp>
        <p:nvSpPr>
          <p:cNvPr id="5" name="ru-countries">
            <a:extLst xmlns:a="http://schemas.openxmlformats.org/drawingml/2006/main">
              <a:ext uri="{FF2B5EF4-FFF2-40B4-BE49-F238E27FC236}">
                <a16:creationId xmlns:a16="http://schemas.microsoft.com/office/drawing/2014/main" id="{16AB8014-9A04-4930-8249-E1BCF11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885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Казахстан, Турция и страны СНГ</a:t>
            </a:r>
          </a:p>
        </p:txBody>
      </p:sp>
      <p:sp>
        <p:nvSpPr>
          <p:cNvPr id="6" name="tr-title">
            <a:extLst xmlns:a="http://schemas.openxmlformats.org/drawingml/2006/main">
              <a:ext uri="{FF2B5EF4-FFF2-40B4-BE49-F238E27FC236}">
                <a16:creationId xmlns:a16="http://schemas.microsoft.com/office/drawing/2014/main" id="{302808C1-9DB7-4B6F-A0B0-9F6C9B20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Telefonda ve bilgisayarda</a:t>
            </a:r>
          </a:p>
        </p:txBody>
      </p:sp>
      <p:sp>
        <p:nvSpPr>
          <p:cNvPr id="7" name="tr-body">
            <a:extLst xmlns:a="http://schemas.openxmlformats.org/drawingml/2006/main">
              <a:ext uri="{FF2B5EF4-FFF2-40B4-BE49-F238E27FC236}">
                <a16:creationId xmlns:a16="http://schemas.microsoft.com/office/drawing/2014/main" id="{907F586D-C582-4CDB-B2E8-162DBB48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96075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Tarayıcıda iş arama ve profil oluşturmayı</a:t>
            </a:r>
          </a:p>
          <a:p xmlns:a="http://schemas.openxmlformats.org/drawingml/2006/main">
            <a:pPr>
              <a:defRPr sz="1950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anlatan video rehberi.</a:t>
            </a:r>
          </a:p>
        </p:txBody>
      </p:sp>
      <p:sp>
        <p:nvSpPr>
          <p:cNvPr id="8" name="tr-countries">
            <a:extLst xmlns:a="http://schemas.openxmlformats.org/drawingml/2006/main">
              <a:ext uri="{FF2B5EF4-FFF2-40B4-BE49-F238E27FC236}">
                <a16:creationId xmlns:a16="http://schemas.microsoft.com/office/drawing/2014/main" id="{947244FD-8B80-4975-8904-5B2C9E45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628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Planlanan coğrafya: Kazakistan, Türkiye ve BDT ülkeleri.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7c48117f749ba"/>
          <a:stretch xmlns:a="http://schemas.openxmlformats.org/drawingml/2006/main"/>
        </p:blipFill>
        <p:spPr>
          <a:xfrm xmlns:a="http://schemas.openxmlformats.org/drawingml/2006/main">
            <a:off x="10668560" y="1533525"/>
            <a:ext cx="2989729" cy="5476875"/>
          </a:xfrm>
          <a:prstGeom xmlns:a="http://schemas.openxmlformats.org/drawingml/2006/main" prst="rect">
            <a:avLst/>
          </a:prstGeom>
        </p:spPr>
      </p:pic>
      <p:sp>
        <p:nvSpPr>
          <p:cNvPr id="10" name="ru-languages">
            <a:extLst xmlns:a="http://schemas.openxmlformats.org/drawingml/2006/main">
              <a:ext uri="{FF2B5EF4-FFF2-40B4-BE49-F238E27FC236}">
                <a16:creationId xmlns:a16="http://schemas.microsoft.com/office/drawing/2014/main" id="{A4B471DB-F1B4-41DE-A5E1-D0B54298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25805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2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226"/>
                </a:solidFill>
                <a:latin typeface="Arial"/>
                <a:ea typeface="Arial"/>
                <a:cs typeface="Arial"/>
              </a:rPr>
              <a:t>Русский, қазақша, Türkçe, English</a:t>
            </a:r>
          </a:p>
        </p:txBody>
      </p:sp>
      <p:sp>
        <p:nvSpPr>
          <p:cNvPr id="11" name="tr-languages">
            <a:extLst xmlns:a="http://schemas.openxmlformats.org/drawingml/2006/main">
              <a:ext uri="{FF2B5EF4-FFF2-40B4-BE49-F238E27FC236}">
                <a16:creationId xmlns:a16="http://schemas.microsoft.com/office/drawing/2014/main" id="{84D9EC0C-7C5F-488D-8B4A-08F8061B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6771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76D"/>
                </a:solidFill>
                <a:latin typeface="Arial"/>
                <a:ea typeface="Arial"/>
                <a:cs typeface="Arial"/>
              </a:rPr>
              <a:t>Planlanan arayüz dilleri</a:t>
            </a:r>
          </a:p>
        </p:txBody>
      </p:sp>
    </p:spTree>
    <p:extLst>
      <p:ext uri="{BB962C8B-B14F-4D97-AF65-F5344CB8AC3E}">
        <p14:creationId xmlns:p14="http://schemas.microsoft.com/office/powerpoint/2010/main" val="16829218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022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6cebf36e54b2b"/>
          <a:srcRect xmlns:a="http://schemas.openxmlformats.org/drawingml/2006/main" l="0" t="37298" r="0" b="37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438150"/>
            <a:ext cx="2362200" cy="600075"/>
          </a:xfrm>
          <a:prstGeom xmlns:a="http://schemas.openxmlformats.org/drawingml/2006/main" prst="rect">
            <a:avLst/>
          </a:prstGeom>
        </p:spPr>
      </p:pic>
      <p:sp>
        <p:nvSpPr>
          <p:cNvPr id="2" name="ru-title">
            <a:extLst xmlns:a="http://schemas.openxmlformats.org/drawingml/2006/main">
              <a:ext uri="{FF2B5EF4-FFF2-40B4-BE49-F238E27FC236}">
                <a16:creationId xmlns:a16="http://schemas.microsoft.com/office/drawing/2014/main" id="{E7FC4E73-1B59-470B-8F95-16A92A2F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9775"/>
            <a:ext cx="1047750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Скоро</a:t>
            </a:r>
          </a:p>
        </p:txBody>
      </p:sp>
      <p:sp>
        <p:nvSpPr>
          <p:cNvPr id="3" name="ru-body">
            <a:extLst xmlns:a="http://schemas.openxmlformats.org/drawingml/2006/main">
              <a:ext uri="{FF2B5EF4-FFF2-40B4-BE49-F238E27FC236}">
                <a16:creationId xmlns:a16="http://schemas.microsoft.com/office/drawing/2014/main" id="{2111C8C1-157F-4A15-BB88-B178A71B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1238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Open Consulting готовит платформу</a:t>
            </a:r>
          </a:p>
          <a:p xmlns:a="http://schemas.openxmlformats.org/drawingml/2006/main">
            <a:pPr>
              <a:defRPr sz="2700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для поиска работы и подбора сотрудников.</a:t>
            </a:r>
          </a:p>
        </p:txBody>
      </p:sp>
      <p:sp>
        <p:nvSpPr>
          <p:cNvPr id="4" name="tr-title">
            <a:extLst xmlns:a="http://schemas.openxmlformats.org/drawingml/2006/main">
              <a:ext uri="{FF2B5EF4-FFF2-40B4-BE49-F238E27FC236}">
                <a16:creationId xmlns:a16="http://schemas.microsoft.com/office/drawing/2014/main" id="{6D2BA03B-3198-4B91-9C5D-1AEEEEDE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104775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F665D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F665D"/>
                </a:solidFill>
                <a:latin typeface="Arial"/>
                <a:ea typeface="Arial"/>
                <a:cs typeface="Arial"/>
              </a:rPr>
              <a:t>Yakında</a:t>
            </a:r>
          </a:p>
        </p:txBody>
      </p:sp>
      <p:sp>
        <p:nvSpPr>
          <p:cNvPr id="5" name="tr-body">
            <a:extLst xmlns:a="http://schemas.openxmlformats.org/drawingml/2006/main">
              <a:ext uri="{FF2B5EF4-FFF2-40B4-BE49-F238E27FC236}">
                <a16:creationId xmlns:a16="http://schemas.microsoft.com/office/drawing/2014/main" id="{8E91417E-1046-4B5E-B5F1-9F84F850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05650"/>
            <a:ext cx="12382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Open Consulting, iş arama ve işe alım</a:t>
            </a:r>
          </a:p>
          <a:p xmlns:a="http://schemas.openxmlformats.org/drawingml/2006/main">
            <a:pPr>
              <a:defRPr sz="2250" b="0">
                <a:solidFill>
                  <a:srgbClr val="C3C7C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3C7CD"/>
                </a:solidFill>
                <a:latin typeface="Arial"/>
                <a:ea typeface="Arial"/>
                <a:cs typeface="Arial"/>
              </a:rPr>
              <a:t>için yeni bir platform hazırlıyor.</a:t>
            </a:r>
          </a:p>
        </p:txBody>
      </p:sp>
    </p:spTree>
    <p:extLst>
      <p:ext uri="{BB962C8B-B14F-4D97-AF65-F5344CB8AC3E}">
        <p14:creationId xmlns:p14="http://schemas.microsoft.com/office/powerpoint/2010/main" val="3643890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2026-10-04T11:27:32.1300000Z</dcterms:created>
  <dcterms:modified xsi:type="dcterms:W3CDTF">2026-10-04T11:27:32.1300000Z</dcterms:modified>
</coreProperties>
</file>