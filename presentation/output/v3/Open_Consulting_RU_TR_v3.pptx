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2727e6c9b2431e" /><Relationship Type="http://schemas.openxmlformats.org/officeDocument/2006/relationships/extended-properties" Target="/docProps/app.xml" Id="Rc5c1d404c97a459e" /><Relationship Type="http://schemas.openxmlformats.org/officeDocument/2006/relationships/officeDocument" Target="/ppt/presentation.xml" Id="R32df59ec069445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1a3767406f43b7"/>
  </p:sldMasterIdLst>
  <p:notesMasterIdLst>
    <p:notesMasterId xmlns:r="http://schemas.openxmlformats.org/officeDocument/2006/relationships" r:id="Rb3c8457607914338"/>
  </p:notesMasterIdLst>
  <p:sldIdLst>
    <p:sldId xmlns:r="http://schemas.openxmlformats.org/officeDocument/2006/relationships" id="256" r:id="Rea592c34e832436c"/>
    <p:sldId xmlns:r="http://schemas.openxmlformats.org/officeDocument/2006/relationships" id="257" r:id="Re10ac936b70741be"/>
    <p:sldId xmlns:r="http://schemas.openxmlformats.org/officeDocument/2006/relationships" id="258" r:id="R6792a4d6ac3f4dab"/>
    <p:sldId xmlns:r="http://schemas.openxmlformats.org/officeDocument/2006/relationships" id="259" r:id="R63737373d2b943bf"/>
    <p:sldId xmlns:r="http://schemas.openxmlformats.org/officeDocument/2006/relationships" id="260" r:id="Rcd3938b1a3994eef"/>
    <p:sldId xmlns:r="http://schemas.openxmlformats.org/officeDocument/2006/relationships" id="261" r:id="Ra6f961470f5f406f"/>
    <p:sldId xmlns:r="http://schemas.openxmlformats.org/officeDocument/2006/relationships" id="262" r:id="Ra326f54274f14c1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33e4af09704b38" /><Relationship Type="http://schemas.openxmlformats.org/officeDocument/2006/relationships/slideMaster" Target="/ppt/slideMasters/slideMaster1.xml" Id="R141a3767406f43b7" /><Relationship Type="http://schemas.openxmlformats.org/officeDocument/2006/relationships/notesMaster" Target="/ppt/notesMasters/notesMaster1.xml" Id="Rb3c8457607914338" /><Relationship Type="http://schemas.openxmlformats.org/officeDocument/2006/relationships/presProps" Target="/ppt/presProps.xml" Id="R820ab1037c4240cd" /><Relationship Type="http://schemas.openxmlformats.org/officeDocument/2006/relationships/tableStyles" Target="/ppt/tableStyles.xml" Id="R03b2930d8dc640ab" /><Relationship Type="http://schemas.openxmlformats.org/officeDocument/2006/relationships/slide" Target="/ppt/slides/slide1.xml" Id="Rea592c34e832436c" /><Relationship Type="http://schemas.openxmlformats.org/officeDocument/2006/relationships/slide" Target="/ppt/slides/slide2.xml" Id="Re10ac936b70741be" /><Relationship Type="http://schemas.openxmlformats.org/officeDocument/2006/relationships/slide" Target="/ppt/slides/slide3.xml" Id="R6792a4d6ac3f4dab" /><Relationship Type="http://schemas.openxmlformats.org/officeDocument/2006/relationships/slide" Target="/ppt/slides/slide4.xml" Id="R63737373d2b943bf" /><Relationship Type="http://schemas.openxmlformats.org/officeDocument/2006/relationships/slide" Target="/ppt/slides/slide5.xml" Id="Rcd3938b1a3994eef" /><Relationship Type="http://schemas.openxmlformats.org/officeDocument/2006/relationships/slide" Target="/ppt/slides/slide6.xml" Id="Ra6f961470f5f406f" /><Relationship Type="http://schemas.openxmlformats.org/officeDocument/2006/relationships/slide" Target="/ppt/slides/slide7.xml" Id="Ra326f54274f14c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89efe097fc45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0bf4d1366a491f" /><Relationship Type="http://schemas.openxmlformats.org/officeDocument/2006/relationships/notesMaster" Target="/ppt/notesMasters/notesMaster1.xml" Id="Rcb4e3cd7b14846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59e1057dd94f93" /><Relationship Type="http://schemas.openxmlformats.org/officeDocument/2006/relationships/notesMaster" Target="/ppt/notesMasters/notesMaster1.xml" Id="Rb8aa8594a84a45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d38cdd954049a6" /><Relationship Type="http://schemas.openxmlformats.org/officeDocument/2006/relationships/notesMaster" Target="/ppt/notesMasters/notesMaster1.xml" Id="R22d3ecb888c34f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78e92429724d58" /><Relationship Type="http://schemas.openxmlformats.org/officeDocument/2006/relationships/notesMaster" Target="/ppt/notesMasters/notesMaster1.xml" Id="R13646eabf22b4a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58458013034501" /><Relationship Type="http://schemas.openxmlformats.org/officeDocument/2006/relationships/notesMaster" Target="/ppt/notesMasters/notesMaster1.xml" Id="R2fad21496e2b45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1706a2b35c447d" /><Relationship Type="http://schemas.openxmlformats.org/officeDocument/2006/relationships/notesMaster" Target="/ppt/notesMasters/notesMaster1.xml" Id="R350c03d735984d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0eff86a9dc4798" /><Relationship Type="http://schemas.openxmlformats.org/officeDocument/2006/relationships/notesMaster" Target="/ppt/notesMasters/notesMaster1.xml" Id="Rd0d1ec38d81d40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Open Consulting logo. Generated unbranded laptop support asset. Native website screenshot inserted into its screen. Product is in preparation. Original source: prototypes/single/previews/desktop.jpg. Russian above, Turkish below.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local prototype screenshots: vacancy #job-1 and candidate profile from employer demonstration. Names, salaries, experience and conditions are demonstration data. The candidate picture is generated. Future product, not live listings. Russian above, Turkish below.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local prototype screenshot. Native screenshot cropped to relevant section. Vacancies, companies, salaries and conditions are demonstrations, not live listings. Russian above, Turkish below.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Generated illustration from candidate-demo.png. Not a real candidate or video. Future question selection, recording, preview and re-recording. Video optional. Russian above, Turkish below.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prototype /single/#employers. Demonstration names, experience, applications and candidate illustration. Planned employer features only. Russian above, Turkish below.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Browser product on desktop and phone, not a native mobile app. Planned languages Russian, Kazakh, Turkish, English. Preliminary mobile interface. Planned Kazakhstan, Turkey and unspecified CIS countries. Russian above, Turkish below.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product overview based on owner requirements, no launch date committed. Russian above, Turkish below.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60681c26ee4d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e1be0fefbf481a" /><Relationship Type="http://schemas.openxmlformats.org/officeDocument/2006/relationships/slideLayout" Target="/ppt/slideLayouts/slideLayout1.xml" Id="R2b132bb4bbf946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132bb4bbf946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b83dfcad741d6" /><Relationship Type="http://schemas.openxmlformats.org/officeDocument/2006/relationships/image" Target="/ppt/media/image.png" Id="R8f95326d0eab49a7" /><Relationship Type="http://schemas.openxmlformats.org/officeDocument/2006/relationships/image" Target="/ppt/media/image2.png" Id="R983d536b31094304" /><Relationship Type="http://schemas.openxmlformats.org/officeDocument/2006/relationships/image" Target="/ppt/media/image3.png" Id="Ree7c7820d7254d54" /><Relationship Type="http://schemas.openxmlformats.org/officeDocument/2006/relationships/notesSlide" Target="/ppt/notesSlides/notesSlide1.xml" Id="R4faeca5d052d42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d5084e36d4ca3" /><Relationship Type="http://schemas.openxmlformats.org/officeDocument/2006/relationships/image" Target="/ppt/media/image4.png" Id="Rb27fdcf829c845e6" /><Relationship Type="http://schemas.openxmlformats.org/officeDocument/2006/relationships/image" Target="/ppt/media/image5.png" Id="R4fc36381c5f24bda" /><Relationship Type="http://schemas.openxmlformats.org/officeDocument/2006/relationships/image" Target="/ppt/media/image6.png" Id="R63cc3ef0432e41ea" /><Relationship Type="http://schemas.openxmlformats.org/officeDocument/2006/relationships/notesSlide" Target="/ppt/notesSlides/notesSlide2.xml" Id="Rfa65a3b3525c40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d3ffcfd5446d9" /><Relationship Type="http://schemas.openxmlformats.org/officeDocument/2006/relationships/image" Target="/ppt/media/image7.png" Id="R1db842056f854a04" /><Relationship Type="http://schemas.openxmlformats.org/officeDocument/2006/relationships/image" Target="/ppt/media/image8.png" Id="Rdb7ef09cc6124f14" /><Relationship Type="http://schemas.openxmlformats.org/officeDocument/2006/relationships/notesSlide" Target="/ppt/notesSlides/notesSlide3.xml" Id="Reb65fb71a3a048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f7f67a20f4949" /><Relationship Type="http://schemas.openxmlformats.org/officeDocument/2006/relationships/image" Target="/ppt/media/image9.png" Id="R51df3431ea8740e7" /><Relationship Type="http://schemas.openxmlformats.org/officeDocument/2006/relationships/image" Target="/ppt/media/image10.png" Id="Re12cc239432e4ce1" /><Relationship Type="http://schemas.openxmlformats.org/officeDocument/2006/relationships/notesSlide" Target="/ppt/notesSlides/notesSlide4.xml" Id="R92ba06b746844c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277bfc0c641c4" /><Relationship Type="http://schemas.openxmlformats.org/officeDocument/2006/relationships/image" Target="/ppt/media/image11.png" Id="R228090d5b5024f04" /><Relationship Type="http://schemas.openxmlformats.org/officeDocument/2006/relationships/image" Target="/ppt/media/image12.png" Id="R37b600f667244498" /><Relationship Type="http://schemas.openxmlformats.org/officeDocument/2006/relationships/notesSlide" Target="/ppt/notesSlides/notesSlide5.xml" Id="R218c067bd3d344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9a3e9bc9b4d56" /><Relationship Type="http://schemas.openxmlformats.org/officeDocument/2006/relationships/image" Target="/ppt/media/image13.png" Id="Ra951b5989cd24b34" /><Relationship Type="http://schemas.openxmlformats.org/officeDocument/2006/relationships/image" Target="/ppt/media/image14.png" Id="R59e72cb2de0243d1" /><Relationship Type="http://schemas.openxmlformats.org/officeDocument/2006/relationships/notesSlide" Target="/ppt/notesSlides/notesSlide6.xml" Id="Re4dfb10eb9754c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cc60326e84ccd" /><Relationship Type="http://schemas.openxmlformats.org/officeDocument/2006/relationships/image" Target="/ppt/media/image15.png" Id="Redcbb4eb29144ce0" /><Relationship Type="http://schemas.openxmlformats.org/officeDocument/2006/relationships/notesSlide" Target="/ppt/notesSlides/notesSlide7.xml" Id="R3d0cb343a64547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5326d0eab49a7"/>
          <a:srcRect xmlns:a="http://schemas.openxmlformats.org/drawingml/2006/main" l="0" t="37298" r="0" b="37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438150"/>
            <a:ext cx="2362200" cy="600075"/>
          </a:xfrm>
          <a:prstGeom xmlns:a="http://schemas.openxmlformats.org/drawingml/2006/main" prst="rect">
            <a:avLst/>
          </a:prstGeom>
        </p:spPr>
      </p:pic>
      <p:sp>
        <p:nvSpPr>
          <p:cNvPr id="2" name="ru-title">
            <a:extLst xmlns:a="http://schemas.openxmlformats.org/drawingml/2006/main">
              <a:ext uri="{FF2B5EF4-FFF2-40B4-BE49-F238E27FC236}">
                <a16:creationId xmlns:a16="http://schemas.microsoft.com/office/drawing/2014/main" id="{851148CB-0E83-4202-B782-6510AA42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6381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Поиск работы.</a:t>
            </a:r>
          </a:p>
          <a:p xmlns:a="http://schemas.openxmlformats.org/drawingml/2006/main">
            <a:pPr>
              <a:defRPr sz="487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Знакомство</a:t>
            </a:r>
          </a:p>
          <a:p xmlns:a="http://schemas.openxmlformats.org/drawingml/2006/main">
            <a:pPr>
              <a:defRPr sz="487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с кандидатом.</a:t>
            </a:r>
          </a:p>
        </p:txBody>
      </p:sp>
      <p:sp>
        <p:nvSpPr>
          <p:cNvPr id="3" name="ru-body">
            <a:extLst xmlns:a="http://schemas.openxmlformats.org/drawingml/2006/main">
              <a:ext uri="{FF2B5EF4-FFF2-40B4-BE49-F238E27FC236}">
                <a16:creationId xmlns:a16="http://schemas.microsoft.com/office/drawing/2014/main" id="{148797F1-56BD-4FD6-817D-BFF0F0C3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Мы создаём платформу с вакансиями,</a:t>
            </a:r>
          </a:p>
          <a:p xmlns:a="http://schemas.openxmlformats.org/drawingml/2006/main">
            <a:pPr>
              <a:defRPr sz="2175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анкетами и видеоответами.</a:t>
            </a:r>
          </a:p>
        </p:txBody>
      </p:sp>
      <p:sp>
        <p:nvSpPr>
          <p:cNvPr id="4" name="tr-title">
            <a:extLst xmlns:a="http://schemas.openxmlformats.org/drawingml/2006/main">
              <a:ext uri="{FF2B5EF4-FFF2-40B4-BE49-F238E27FC236}">
                <a16:creationId xmlns:a16="http://schemas.microsoft.com/office/drawing/2014/main" id="{C8A6C96D-A541-448D-ABC5-8FB56A8F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638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İş arama.</a:t>
            </a:r>
          </a:p>
          <a:p xmlns:a="http://schemas.openxmlformats.org/drawingml/2006/main">
            <a:pPr>
              <a:defRPr sz="322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Adaylarla tanışma.</a:t>
            </a:r>
          </a:p>
        </p:txBody>
      </p:sp>
      <p:sp>
        <p:nvSpPr>
          <p:cNvPr id="5" name="tr-body">
            <a:extLst xmlns:a="http://schemas.openxmlformats.org/drawingml/2006/main">
              <a:ext uri="{FF2B5EF4-FFF2-40B4-BE49-F238E27FC236}">
                <a16:creationId xmlns:a16="http://schemas.microsoft.com/office/drawing/2014/main" id="{B0BDF747-9D40-49D5-9C45-A772DB92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62775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İş ilanlarını, aday profillerini ve video</a:t>
            </a:r>
          </a:p>
          <a:p xmlns:a="http://schemas.openxmlformats.org/drawingml/2006/main">
            <a:pPr>
              <a:defRPr sz="1950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yanıtlarını bir araya getiren bir platform.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d536b31094304"/>
          <a:stretch xmlns:a="http://schemas.openxmlformats.org/drawingml/2006/main"/>
        </p:blipFill>
        <p:spPr>
          <a:xfrm xmlns:a="http://schemas.openxmlformats.org/drawingml/2006/main">
            <a:off x="6762750" y="1962150"/>
            <a:ext cx="8286750" cy="55245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c7820d7254d54"/>
          <a:stretch xmlns:a="http://schemas.openxmlformats.org/drawingml/2006/main"/>
        </p:blipFill>
        <p:spPr>
          <a:xfrm xmlns:a="http://schemas.openxmlformats.org/drawingml/2006/main">
            <a:off x="7680315" y="2426018"/>
            <a:ext cx="6451620" cy="3614738"/>
          </a:xfrm>
          <a:prstGeom xmlns:a="http://schemas.openxmlformats.org/drawingml/2006/main" prst="rect">
            <a:avLst/>
          </a:prstGeom>
        </p:spPr>
      </p:pic>
      <p:sp>
        <p:nvSpPr>
          <p:cNvPr id="8" name="disclosure-ru">
            <a:extLst xmlns:a="http://schemas.openxmlformats.org/drawingml/2006/main">
              <a:ext uri="{FF2B5EF4-FFF2-40B4-BE49-F238E27FC236}">
                <a16:creationId xmlns:a16="http://schemas.microsoft.com/office/drawing/2014/main" id="{4D933B75-BD54-4C5E-B67E-7BF3777C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74485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Предварительный интерфейс</a:t>
            </a:r>
          </a:p>
        </p:txBody>
      </p:sp>
      <p:sp>
        <p:nvSpPr>
          <p:cNvPr id="9" name="disclosure-tr">
            <a:extLst xmlns:a="http://schemas.openxmlformats.org/drawingml/2006/main">
              <a:ext uri="{FF2B5EF4-FFF2-40B4-BE49-F238E27FC236}">
                <a16:creationId xmlns:a16="http://schemas.microsoft.com/office/drawing/2014/main" id="{2C55464E-3E66-4034-93BB-26945487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77533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Ön tasarım</a:t>
            </a:r>
          </a:p>
        </p:txBody>
      </p:sp>
    </p:spTree>
    <p:extLst>
      <p:ext uri="{BB962C8B-B14F-4D97-AF65-F5344CB8AC3E}">
        <p14:creationId xmlns:p14="http://schemas.microsoft.com/office/powerpoint/2010/main" val="1259394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022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fdcf829c845e6"/>
          <a:srcRect xmlns:a="http://schemas.openxmlformats.org/drawingml/2006/main" l="0" t="37298" r="0" b="37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438150"/>
            <a:ext cx="2362200" cy="600075"/>
          </a:xfrm>
          <a:prstGeom xmlns:a="http://schemas.openxmlformats.org/drawingml/2006/main" prst="rect">
            <a:avLst/>
          </a:prstGeom>
        </p:spPr>
      </p:pic>
      <p:sp>
        <p:nvSpPr>
          <p:cNvPr id="2" name="ru-title">
            <a:extLst xmlns:a="http://schemas.openxmlformats.org/drawingml/2006/main">
              <a:ext uri="{FF2B5EF4-FFF2-40B4-BE49-F238E27FC236}">
                <a16:creationId xmlns:a16="http://schemas.microsoft.com/office/drawing/2014/main" id="{E38FDEEF-96DB-48C0-8BE5-BC62D26D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23975"/>
            <a:ext cx="13792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Соискатели и работодатели</a:t>
            </a:r>
          </a:p>
        </p:txBody>
      </p:sp>
      <p:sp>
        <p:nvSpPr>
          <p:cNvPr id="3" name="ru-candidate">
            <a:extLst xmlns:a="http://schemas.openxmlformats.org/drawingml/2006/main">
              <a:ext uri="{FF2B5EF4-FFF2-40B4-BE49-F238E27FC236}">
                <a16:creationId xmlns:a16="http://schemas.microsoft.com/office/drawing/2014/main" id="{E04C0391-96F3-48DB-A059-6589782A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665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665D"/>
                </a:solidFill>
                <a:latin typeface="Arial"/>
                <a:ea typeface="Arial"/>
                <a:cs typeface="Arial"/>
              </a:rPr>
              <a:t>Соискатель</a:t>
            </a:r>
          </a:p>
        </p:txBody>
      </p:sp>
      <p:sp>
        <p:nvSpPr>
          <p:cNvPr id="4" name="ru-candidate-body">
            <a:extLst xmlns:a="http://schemas.openxmlformats.org/drawingml/2006/main">
              <a:ext uri="{FF2B5EF4-FFF2-40B4-BE49-F238E27FC236}">
                <a16:creationId xmlns:a16="http://schemas.microsoft.com/office/drawing/2014/main" id="{83FAEAA3-CF7F-42CF-B695-970F6AC3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6572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Найдёт вакансию и расскажет о себе</a:t>
            </a:r>
          </a:p>
          <a:p xmlns:a="http://schemas.openxmlformats.org/drawingml/2006/main">
            <a:pPr>
              <a:defRPr sz="2025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в анкете с видеоответами по желанию.</a:t>
            </a:r>
          </a:p>
        </p:txBody>
      </p:sp>
      <p:sp>
        <p:nvSpPr>
          <p:cNvPr id="5" name="ru-employer">
            <a:extLst xmlns:a="http://schemas.openxmlformats.org/drawingml/2006/main">
              <a:ext uri="{FF2B5EF4-FFF2-40B4-BE49-F238E27FC236}">
                <a16:creationId xmlns:a16="http://schemas.microsoft.com/office/drawing/2014/main" id="{772265A2-68B2-4545-BD2E-2E2EA246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76475"/>
            <a:ext cx="641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665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665D"/>
                </a:solidFill>
                <a:latin typeface="Arial"/>
                <a:ea typeface="Arial"/>
                <a:cs typeface="Arial"/>
              </a:rPr>
              <a:t>Работодатель</a:t>
            </a:r>
          </a:p>
        </p:txBody>
      </p:sp>
      <p:sp>
        <p:nvSpPr>
          <p:cNvPr id="6" name="ru-employer-body">
            <a:extLst xmlns:a="http://schemas.openxmlformats.org/drawingml/2006/main">
              <a:ext uri="{FF2B5EF4-FFF2-40B4-BE49-F238E27FC236}">
                <a16:creationId xmlns:a16="http://schemas.microsoft.com/office/drawing/2014/main" id="{906DD9E3-5204-4225-9389-8B5ADD5A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47975"/>
            <a:ext cx="6419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Посмотрит опыт кандидата</a:t>
            </a:r>
          </a:p>
          <a:p xmlns:a="http://schemas.openxmlformats.org/drawingml/2006/main">
            <a:pPr>
              <a:defRPr sz="2025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и пригласит его на собеседование.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36381c5f24bda"/>
          <a:stretch xmlns:a="http://schemas.openxmlformats.org/drawingml/2006/main"/>
        </p:blipFill>
        <p:spPr>
          <a:xfrm xmlns:a="http://schemas.openxmlformats.org/drawingml/2006/main">
            <a:off x="1203844" y="3695700"/>
            <a:ext cx="5612362" cy="26479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c3ef0432e41ea"/>
          <a:stretch xmlns:a="http://schemas.openxmlformats.org/drawingml/2006/main"/>
        </p:blipFill>
        <p:spPr>
          <a:xfrm xmlns:a="http://schemas.openxmlformats.org/drawingml/2006/main">
            <a:off x="8813792" y="3695700"/>
            <a:ext cx="4984766" cy="2647950"/>
          </a:xfrm>
          <a:prstGeom xmlns:a="http://schemas.openxmlformats.org/drawingml/2006/main" prst="rect">
            <a:avLst/>
          </a:prstGeom>
        </p:spPr>
      </p:pic>
      <p:sp>
        <p:nvSpPr>
          <p:cNvPr id="9" name="ru-disclosure">
            <a:extLst xmlns:a="http://schemas.openxmlformats.org/drawingml/2006/main">
              <a:ext uri="{FF2B5EF4-FFF2-40B4-BE49-F238E27FC236}">
                <a16:creationId xmlns:a16="http://schemas.microsoft.com/office/drawing/2014/main" id="{D479FCFD-FB03-4F23-9E1E-BCCC89A2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905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DB1B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DB1B6"/>
                </a:solidFill>
                <a:latin typeface="Arial"/>
                <a:ea typeface="Arial"/>
                <a:cs typeface="Arial"/>
              </a:rPr>
              <a:t>Предварительный интерфейс. Данные демонстрационные.</a:t>
            </a:r>
          </a:p>
        </p:txBody>
      </p:sp>
      <p:sp>
        <p:nvSpPr>
          <p:cNvPr id="10" name="tr-title">
            <a:extLst xmlns:a="http://schemas.openxmlformats.org/drawingml/2006/main">
              <a:ext uri="{FF2B5EF4-FFF2-40B4-BE49-F238E27FC236}">
                <a16:creationId xmlns:a16="http://schemas.microsoft.com/office/drawing/2014/main" id="{CAC047E8-839D-4797-B396-BA9E65A9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762750"/>
            <a:ext cx="13792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İş arayanlar ve işverenler</a:t>
            </a:r>
          </a:p>
        </p:txBody>
      </p:sp>
      <p:sp>
        <p:nvSpPr>
          <p:cNvPr id="11" name="tr-candidate">
            <a:extLst xmlns:a="http://schemas.openxmlformats.org/drawingml/2006/main">
              <a:ext uri="{FF2B5EF4-FFF2-40B4-BE49-F238E27FC236}">
                <a16:creationId xmlns:a16="http://schemas.microsoft.com/office/drawing/2014/main" id="{3EB34A3C-E69A-480F-A0D6-3D3E23AE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2825"/>
            <a:ext cx="6572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66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665D"/>
                </a:solidFill>
                <a:latin typeface="Arial"/>
                <a:ea typeface="Arial"/>
                <a:cs typeface="Arial"/>
              </a:rPr>
              <a:t>İş arayan</a:t>
            </a:r>
          </a:p>
        </p:txBody>
      </p:sp>
      <p:sp>
        <p:nvSpPr>
          <p:cNvPr id="12" name="tr-candidate-body">
            <a:extLst xmlns:a="http://schemas.openxmlformats.org/drawingml/2006/main">
              <a:ext uri="{FF2B5EF4-FFF2-40B4-BE49-F238E27FC236}">
                <a16:creationId xmlns:a16="http://schemas.microsoft.com/office/drawing/2014/main" id="{5C762207-15B8-41D2-B4E5-471D2B1C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0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İş bulabilecek ve isterse video yanıtlarıyla</a:t>
            </a:r>
          </a:p>
          <a:p xmlns:a="http://schemas.openxmlformats.org/drawingml/2006/main">
            <a:pPr>
              <a:defRPr sz="1800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kendini tanıtabilecek.</a:t>
            </a:r>
          </a:p>
        </p:txBody>
      </p:sp>
      <p:sp>
        <p:nvSpPr>
          <p:cNvPr id="13" name="tr-employer">
            <a:extLst xmlns:a="http://schemas.openxmlformats.org/drawingml/2006/main">
              <a:ext uri="{FF2B5EF4-FFF2-40B4-BE49-F238E27FC236}">
                <a16:creationId xmlns:a16="http://schemas.microsoft.com/office/drawing/2014/main" id="{B7BAC0D5-7728-4F8C-B4EE-7555CC1E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362825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66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665D"/>
                </a:solidFill>
                <a:latin typeface="Arial"/>
                <a:ea typeface="Arial"/>
                <a:cs typeface="Arial"/>
              </a:rPr>
              <a:t>İşveren</a:t>
            </a:r>
          </a:p>
        </p:txBody>
      </p:sp>
      <p:sp>
        <p:nvSpPr>
          <p:cNvPr id="14" name="tr-employer-body">
            <a:extLst xmlns:a="http://schemas.openxmlformats.org/drawingml/2006/main">
              <a:ext uri="{FF2B5EF4-FFF2-40B4-BE49-F238E27FC236}">
                <a16:creationId xmlns:a16="http://schemas.microsoft.com/office/drawing/2014/main" id="{43C03D02-DB0F-40D5-8DA6-7A9BFABB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10500"/>
            <a:ext cx="6419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Adayın deneyimini inceleyebilecek</a:t>
            </a:r>
          </a:p>
          <a:p xmlns:a="http://schemas.openxmlformats.org/drawingml/2006/main">
            <a:pPr>
              <a:defRPr sz="1800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ve mülakata davet edebilecek.</a:t>
            </a:r>
          </a:p>
        </p:txBody>
      </p:sp>
    </p:spTree>
    <p:extLst>
      <p:ext uri="{BB962C8B-B14F-4D97-AF65-F5344CB8AC3E}">
        <p14:creationId xmlns:p14="http://schemas.microsoft.com/office/powerpoint/2010/main" val="7154089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842056f854a04"/>
          <a:srcRect xmlns:a="http://schemas.openxmlformats.org/drawingml/2006/main" l="0" t="37298" r="0" b="37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438150"/>
            <a:ext cx="2362200" cy="600075"/>
          </a:xfrm>
          <a:prstGeom xmlns:a="http://schemas.openxmlformats.org/drawingml/2006/main" prst="rect">
            <a:avLst/>
          </a:prstGeom>
        </p:spPr>
      </p:pic>
      <p:sp>
        <p:nvSpPr>
          <p:cNvPr id="2" name="ru-title">
            <a:extLst xmlns:a="http://schemas.openxmlformats.org/drawingml/2006/main">
              <a:ext uri="{FF2B5EF4-FFF2-40B4-BE49-F238E27FC236}">
                <a16:creationId xmlns:a16="http://schemas.microsoft.com/office/drawing/2014/main" id="{04623F02-F0A8-455E-9D52-98D0EAB4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04925"/>
            <a:ext cx="1362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Вакансии и отклики в одном месте</a:t>
            </a:r>
          </a:p>
        </p:txBody>
      </p:sp>
      <p:sp>
        <p:nvSpPr>
          <p:cNvPr id="3" name="ru-body">
            <a:extLst xmlns:a="http://schemas.openxmlformats.org/drawingml/2006/main">
              <a:ext uri="{FF2B5EF4-FFF2-40B4-BE49-F238E27FC236}">
                <a16:creationId xmlns:a16="http://schemas.microsoft.com/office/drawing/2014/main" id="{915DA33F-9DE9-4EFA-A9FB-2E02E3D3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85975"/>
            <a:ext cx="1362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Поиск по профессии и городу. Одна анкета для разных откликов.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ef09cc6124f14"/>
          <a:stretch xmlns:a="http://schemas.openxmlformats.org/drawingml/2006/main"/>
        </p:blipFill>
        <p:spPr>
          <a:xfrm xmlns:a="http://schemas.openxmlformats.org/drawingml/2006/main">
            <a:off x="1476375" y="2955250"/>
            <a:ext cx="12287250" cy="3204924"/>
          </a:xfrm>
          <a:prstGeom xmlns:a="http://schemas.openxmlformats.org/drawingml/2006/main" prst="rect">
            <a:avLst/>
          </a:prstGeom>
        </p:spPr>
      </p:pic>
      <p:sp>
        <p:nvSpPr>
          <p:cNvPr id="5" name="disclosure-ru">
            <a:extLst xmlns:a="http://schemas.openxmlformats.org/drawingml/2006/main">
              <a:ext uri="{FF2B5EF4-FFF2-40B4-BE49-F238E27FC236}">
                <a16:creationId xmlns:a16="http://schemas.microsoft.com/office/drawing/2014/main" id="{C4F81795-066F-4EEB-B682-8068E1C9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219825"/>
            <a:ext cx="1228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Предварительный интерфейс. Компании и условия демонстрационные.</a:t>
            </a:r>
          </a:p>
        </p:txBody>
      </p:sp>
      <p:sp>
        <p:nvSpPr>
          <p:cNvPr id="6" name="tr-title">
            <a:extLst xmlns:a="http://schemas.openxmlformats.org/drawingml/2006/main">
              <a:ext uri="{FF2B5EF4-FFF2-40B4-BE49-F238E27FC236}">
                <a16:creationId xmlns:a16="http://schemas.microsoft.com/office/drawing/2014/main" id="{81DDC601-E496-487A-81D0-D69D0BCD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0"/>
            <a:ext cx="13620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İş ilanları ve başvurular aynı yerde</a:t>
            </a:r>
          </a:p>
        </p:txBody>
      </p:sp>
      <p:sp>
        <p:nvSpPr>
          <p:cNvPr id="7" name="tr-body">
            <a:extLst xmlns:a="http://schemas.openxmlformats.org/drawingml/2006/main">
              <a:ext uri="{FF2B5EF4-FFF2-40B4-BE49-F238E27FC236}">
                <a16:creationId xmlns:a16="http://schemas.microsoft.com/office/drawing/2014/main" id="{479319E3-2EFA-41AC-953C-69A0A228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05700"/>
            <a:ext cx="1362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Meslek ve şehre göre arama. Farklı başvurular için tek bir aday profili.</a:t>
            </a:r>
          </a:p>
        </p:txBody>
      </p:sp>
    </p:spTree>
    <p:extLst>
      <p:ext uri="{BB962C8B-B14F-4D97-AF65-F5344CB8AC3E}">
        <p14:creationId xmlns:p14="http://schemas.microsoft.com/office/powerpoint/2010/main" val="351291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022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f3431ea8740e7"/>
          <a:srcRect xmlns:a="http://schemas.openxmlformats.org/drawingml/2006/main" l="0" t="37298" r="0" b="37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438150"/>
            <a:ext cx="2362200" cy="600075"/>
          </a:xfrm>
          <a:prstGeom xmlns:a="http://schemas.openxmlformats.org/drawingml/2006/main" prst="rect">
            <a:avLst/>
          </a:prstGeom>
        </p:spPr>
      </p:pic>
      <p:sp>
        <p:nvSpPr>
          <p:cNvPr id="2" name="ru-title">
            <a:extLst xmlns:a="http://schemas.openxmlformats.org/drawingml/2006/main">
              <a:ext uri="{FF2B5EF4-FFF2-40B4-BE49-F238E27FC236}">
                <a16:creationId xmlns:a16="http://schemas.microsoft.com/office/drawing/2014/main" id="{D3B8BE09-793A-422B-B809-0CB82ADB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633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Видеоанкета</a:t>
            </a:r>
          </a:p>
        </p:txBody>
      </p:sp>
      <p:sp>
        <p:nvSpPr>
          <p:cNvPr id="3" name="ru-body">
            <a:extLst xmlns:a="http://schemas.openxmlformats.org/drawingml/2006/main">
              <a:ext uri="{FF2B5EF4-FFF2-40B4-BE49-F238E27FC236}">
                <a16:creationId xmlns:a16="http://schemas.microsoft.com/office/drawing/2014/main" id="{8250CC39-8A52-4BDA-8E09-70A17690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63341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Вопросы будут учитывать профессию</a:t>
            </a:r>
          </a:p>
          <a:p xmlns:a="http://schemas.openxmlformats.org/drawingml/2006/main">
            <a:pPr>
              <a:defRPr sz="2175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и опыт. Ответ можно будет посмотреть</a:t>
            </a:r>
          </a:p>
          <a:p xmlns:a="http://schemas.openxmlformats.org/drawingml/2006/main">
            <a:pPr>
              <a:defRPr sz="2175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и переснять перед отправкой.</a:t>
            </a:r>
          </a:p>
        </p:txBody>
      </p:sp>
      <p:sp>
        <p:nvSpPr>
          <p:cNvPr id="4" name="ru-optional">
            <a:extLst xmlns:a="http://schemas.openxmlformats.org/drawingml/2006/main">
              <a:ext uri="{FF2B5EF4-FFF2-40B4-BE49-F238E27FC236}">
                <a16:creationId xmlns:a16="http://schemas.microsoft.com/office/drawing/2014/main" id="{036F5E69-4FEE-44C0-9F2D-02C2A8D8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9575"/>
            <a:ext cx="633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665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665D"/>
                </a:solidFill>
                <a:latin typeface="Arial"/>
                <a:ea typeface="Arial"/>
                <a:cs typeface="Arial"/>
              </a:rPr>
              <a:t>Видео по желанию</a:t>
            </a:r>
          </a:p>
        </p:txBody>
      </p:sp>
      <p:sp>
        <p:nvSpPr>
          <p:cNvPr id="5" name="tr-title">
            <a:extLst xmlns:a="http://schemas.openxmlformats.org/drawingml/2006/main">
              <a:ext uri="{FF2B5EF4-FFF2-40B4-BE49-F238E27FC236}">
                <a16:creationId xmlns:a16="http://schemas.microsoft.com/office/drawing/2014/main" id="{4B761DB0-ED0E-4AA1-8378-7B312795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647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Video ile kendini tanıtma</a:t>
            </a:r>
          </a:p>
        </p:txBody>
      </p:sp>
      <p:sp>
        <p:nvSpPr>
          <p:cNvPr id="6" name="tr-body">
            <a:extLst xmlns:a="http://schemas.openxmlformats.org/drawingml/2006/main">
              <a:ext uri="{FF2B5EF4-FFF2-40B4-BE49-F238E27FC236}">
                <a16:creationId xmlns:a16="http://schemas.microsoft.com/office/drawing/2014/main" id="{7E232B7D-4BDE-459E-A9E7-258258E6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24625"/>
            <a:ext cx="6477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Sorular meslek ve deneyime göre belirlenecek.</a:t>
            </a:r>
          </a:p>
          <a:p xmlns:a="http://schemas.openxmlformats.org/drawingml/2006/main">
            <a:pPr>
              <a:defRPr sz="1950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Aday yanıtını izleyebilecek ve yeniden çekebilecek.</a:t>
            </a:r>
          </a:p>
        </p:txBody>
      </p:sp>
      <p:sp>
        <p:nvSpPr>
          <p:cNvPr id="7" name="tr-optional">
            <a:extLst xmlns:a="http://schemas.openxmlformats.org/drawingml/2006/main">
              <a:ext uri="{FF2B5EF4-FFF2-40B4-BE49-F238E27FC236}">
                <a16:creationId xmlns:a16="http://schemas.microsoft.com/office/drawing/2014/main" id="{29CC8DAB-529C-41B9-ABE5-6D904E61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39050"/>
            <a:ext cx="633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66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665D"/>
                </a:solidFill>
                <a:latin typeface="Arial"/>
                <a:ea typeface="Arial"/>
                <a:cs typeface="Arial"/>
              </a:rPr>
              <a:t>Video isteğe bağlı olacak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cc239432e4ce1"/>
          <a:stretch xmlns:a="http://schemas.openxmlformats.org/drawingml/2006/main"/>
        </p:blipFill>
        <p:spPr>
          <a:xfrm xmlns:a="http://schemas.openxmlformats.org/drawingml/2006/main">
            <a:off x="7362825" y="1706563"/>
            <a:ext cx="7153275" cy="4768850"/>
          </a:xfrm>
          <a:prstGeom xmlns:a="http://schemas.openxmlformats.org/drawingml/2006/main" prst="rect">
            <a:avLst/>
          </a:prstGeom>
        </p:spPr>
      </p:pic>
      <p:sp>
        <p:nvSpPr>
          <p:cNvPr id="9" name="disclosure-ru">
            <a:extLst xmlns:a="http://schemas.openxmlformats.org/drawingml/2006/main">
              <a:ext uri="{FF2B5EF4-FFF2-40B4-BE49-F238E27FC236}">
                <a16:creationId xmlns:a16="http://schemas.microsoft.com/office/drawing/2014/main" id="{8F44EC15-28A4-4973-B23D-BD255F04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6696075"/>
            <a:ext cx="7153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DB1B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DB1B6"/>
                </a:solidFill>
                <a:latin typeface="Arial"/>
                <a:ea typeface="Arial"/>
                <a:cs typeface="Arial"/>
              </a:rPr>
              <a:t>Иллюстрация формата. Это не реальный кандидат.</a:t>
            </a:r>
          </a:p>
        </p:txBody>
      </p:sp>
      <p:sp>
        <p:nvSpPr>
          <p:cNvPr id="10" name="disclosure-tr">
            <a:extLst xmlns:a="http://schemas.openxmlformats.org/drawingml/2006/main">
              <a:ext uri="{FF2B5EF4-FFF2-40B4-BE49-F238E27FC236}">
                <a16:creationId xmlns:a16="http://schemas.microsoft.com/office/drawing/2014/main" id="{5F5B7565-ACE8-4C35-941B-0F9B4EEE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7000875"/>
            <a:ext cx="7153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DB1B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DB1B6"/>
                </a:solidFill>
                <a:latin typeface="Arial"/>
                <a:ea typeface="Arial"/>
                <a:cs typeface="Arial"/>
              </a:rPr>
              <a:t>Örnek gösterim. Gerçek bir aday değildir.</a:t>
            </a:r>
          </a:p>
        </p:txBody>
      </p:sp>
    </p:spTree>
    <p:extLst>
      <p:ext uri="{BB962C8B-B14F-4D97-AF65-F5344CB8AC3E}">
        <p14:creationId xmlns:p14="http://schemas.microsoft.com/office/powerpoint/2010/main" val="12706410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090d5b5024f04"/>
          <a:srcRect xmlns:a="http://schemas.openxmlformats.org/drawingml/2006/main" l="0" t="37298" r="0" b="37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438150"/>
            <a:ext cx="2362200" cy="600075"/>
          </a:xfrm>
          <a:prstGeom xmlns:a="http://schemas.openxmlformats.org/drawingml/2006/main" prst="rect">
            <a:avLst/>
          </a:prstGeom>
        </p:spPr>
      </p:pic>
      <p:sp>
        <p:nvSpPr>
          <p:cNvPr id="2" name="ru-title">
            <a:extLst xmlns:a="http://schemas.openxmlformats.org/drawingml/2006/main">
              <a:ext uri="{FF2B5EF4-FFF2-40B4-BE49-F238E27FC236}">
                <a16:creationId xmlns:a16="http://schemas.microsoft.com/office/drawing/2014/main" id="{4D3A07D5-61F6-451B-A7C9-4AC24B14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362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Знакомство до собеседования</a:t>
            </a:r>
          </a:p>
        </p:txBody>
      </p:sp>
      <p:sp>
        <p:nvSpPr>
          <p:cNvPr id="3" name="ru-body">
            <a:extLst xmlns:a="http://schemas.openxmlformats.org/drawingml/2006/main">
              <a:ext uri="{FF2B5EF4-FFF2-40B4-BE49-F238E27FC236}">
                <a16:creationId xmlns:a16="http://schemas.microsoft.com/office/drawing/2014/main" id="{E3FD92E1-03BD-48A0-B8EE-D9F97685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362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Опыт, навыки и видеоответы в анкете. Решение о найме принимает работодатель.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600f667244498"/>
          <a:stretch xmlns:a="http://schemas.openxmlformats.org/drawingml/2006/main"/>
        </p:blipFill>
        <p:spPr>
          <a:xfrm xmlns:a="http://schemas.openxmlformats.org/drawingml/2006/main">
            <a:off x="1980596" y="3009900"/>
            <a:ext cx="5201857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ru-step-1">
            <a:extLst xmlns:a="http://schemas.openxmlformats.org/drawingml/2006/main">
              <a:ext uri="{FF2B5EF4-FFF2-40B4-BE49-F238E27FC236}">
                <a16:creationId xmlns:a16="http://schemas.microsoft.com/office/drawing/2014/main" id="{86EDA677-15B2-4712-B575-FF827680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71825"/>
            <a:ext cx="5191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1  Разместить вакансию</a:t>
            </a:r>
          </a:p>
        </p:txBody>
      </p:sp>
      <p:sp>
        <p:nvSpPr>
          <p:cNvPr id="6" name="ru-step-2">
            <a:extLst xmlns:a="http://schemas.openxmlformats.org/drawingml/2006/main">
              <a:ext uri="{FF2B5EF4-FFF2-40B4-BE49-F238E27FC236}">
                <a16:creationId xmlns:a16="http://schemas.microsoft.com/office/drawing/2014/main" id="{A805CCE0-95C8-45A0-BEB0-F8BD1B94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19575"/>
            <a:ext cx="5191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2  Посмотреть анкеты</a:t>
            </a:r>
          </a:p>
        </p:txBody>
      </p:sp>
      <p:sp>
        <p:nvSpPr>
          <p:cNvPr id="7" name="ru-step-3">
            <a:extLst xmlns:a="http://schemas.openxmlformats.org/drawingml/2006/main">
              <a:ext uri="{FF2B5EF4-FFF2-40B4-BE49-F238E27FC236}">
                <a16:creationId xmlns:a16="http://schemas.microsoft.com/office/drawing/2014/main" id="{97ACACE9-62F7-4A2A-921F-E4061376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267325"/>
            <a:ext cx="5191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3  Пригласить на встречу</a:t>
            </a:r>
          </a:p>
        </p:txBody>
      </p:sp>
      <p:sp>
        <p:nvSpPr>
          <p:cNvPr id="8" name="disclosure-ru">
            <a:extLst xmlns:a="http://schemas.openxmlformats.org/drawingml/2006/main">
              <a:ext uri="{FF2B5EF4-FFF2-40B4-BE49-F238E27FC236}">
                <a16:creationId xmlns:a16="http://schemas.microsoft.com/office/drawing/2014/main" id="{162FEACE-9A94-49C9-94EA-2CC2D117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6248400"/>
            <a:ext cx="1282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Предварительный интерфейс. Отклики и данные кандидатов демонстрационные.</a:t>
            </a:r>
          </a:p>
        </p:txBody>
      </p:sp>
      <p:sp>
        <p:nvSpPr>
          <p:cNvPr id="9" name="tr-title">
            <a:extLst xmlns:a="http://schemas.openxmlformats.org/drawingml/2006/main">
              <a:ext uri="{FF2B5EF4-FFF2-40B4-BE49-F238E27FC236}">
                <a16:creationId xmlns:a16="http://schemas.microsoft.com/office/drawing/2014/main" id="{7723BA04-21EE-4264-B6C6-84F99A69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05625"/>
            <a:ext cx="1362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Mülakattan önce adaylarla tanışma</a:t>
            </a:r>
          </a:p>
        </p:txBody>
      </p:sp>
      <p:sp>
        <p:nvSpPr>
          <p:cNvPr id="10" name="tr-body">
            <a:extLst xmlns:a="http://schemas.openxmlformats.org/drawingml/2006/main">
              <a:ext uri="{FF2B5EF4-FFF2-40B4-BE49-F238E27FC236}">
                <a16:creationId xmlns:a16="http://schemas.microsoft.com/office/drawing/2014/main" id="{790F4A6C-A672-4DE8-B39E-0204AD7C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62850"/>
            <a:ext cx="1362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Profilde deneyim, beceriler ve video yanıtları. İşe alım kararını işveren verecek.</a:t>
            </a:r>
          </a:p>
        </p:txBody>
      </p:sp>
    </p:spTree>
    <p:extLst>
      <p:ext uri="{BB962C8B-B14F-4D97-AF65-F5344CB8AC3E}">
        <p14:creationId xmlns:p14="http://schemas.microsoft.com/office/powerpoint/2010/main" val="4884130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1b5989cd24b34"/>
          <a:srcRect xmlns:a="http://schemas.openxmlformats.org/drawingml/2006/main" l="0" t="37298" r="0" b="37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438150"/>
            <a:ext cx="2362200" cy="600075"/>
          </a:xfrm>
          <a:prstGeom xmlns:a="http://schemas.openxmlformats.org/drawingml/2006/main" prst="rect">
            <a:avLst/>
          </a:prstGeom>
        </p:spPr>
      </p:pic>
      <p:sp>
        <p:nvSpPr>
          <p:cNvPr id="2" name="ru-title">
            <a:extLst xmlns:a="http://schemas.openxmlformats.org/drawingml/2006/main">
              <a:ext uri="{FF2B5EF4-FFF2-40B4-BE49-F238E27FC236}">
                <a16:creationId xmlns:a16="http://schemas.microsoft.com/office/drawing/2014/main" id="{56FEE1D2-BC0A-4532-AB6C-B0155337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8572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На телефоне</a:t>
            </a:r>
          </a:p>
          <a:p xmlns:a="http://schemas.openxmlformats.org/drawingml/2006/main">
            <a:pPr>
              <a:defRPr sz="412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и компьютере</a:t>
            </a:r>
          </a:p>
        </p:txBody>
      </p:sp>
      <p:sp>
        <p:nvSpPr>
          <p:cNvPr id="3" name="ru-body">
            <a:extLst xmlns:a="http://schemas.openxmlformats.org/drawingml/2006/main">
              <a:ext uri="{FF2B5EF4-FFF2-40B4-BE49-F238E27FC236}">
                <a16:creationId xmlns:a16="http://schemas.microsoft.com/office/drawing/2014/main" id="{5D4CB296-A703-4045-B4C6-C6C9210A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88582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В браузере, с поиском вакансий и видеоинструкцией</a:t>
            </a:r>
          </a:p>
          <a:p xmlns:a="http://schemas.openxmlformats.org/drawingml/2006/main">
            <a:pPr>
              <a:defRPr sz="2100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по заполнению анкеты.</a:t>
            </a:r>
          </a:p>
        </p:txBody>
      </p:sp>
      <p:sp>
        <p:nvSpPr>
          <p:cNvPr id="4" name="ru-geography">
            <a:extLst xmlns:a="http://schemas.openxmlformats.org/drawingml/2006/main">
              <a:ext uri="{FF2B5EF4-FFF2-40B4-BE49-F238E27FC236}">
                <a16:creationId xmlns:a16="http://schemas.microsoft.com/office/drawing/2014/main" id="{D342EE04-361F-4253-A9AF-39C9242B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Планируемая география</a:t>
            </a:r>
          </a:p>
        </p:txBody>
      </p:sp>
      <p:sp>
        <p:nvSpPr>
          <p:cNvPr id="5" name="ru-countries">
            <a:extLst xmlns:a="http://schemas.openxmlformats.org/drawingml/2006/main">
              <a:ext uri="{FF2B5EF4-FFF2-40B4-BE49-F238E27FC236}">
                <a16:creationId xmlns:a16="http://schemas.microsoft.com/office/drawing/2014/main" id="{BCC71D5C-BD9E-48BA-B34C-D8B38CBB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885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Казахстан, Турция и страны СНГ</a:t>
            </a:r>
          </a:p>
        </p:txBody>
      </p:sp>
      <p:sp>
        <p:nvSpPr>
          <p:cNvPr id="6" name="tr-title">
            <a:extLst xmlns:a="http://schemas.openxmlformats.org/drawingml/2006/main">
              <a:ext uri="{FF2B5EF4-FFF2-40B4-BE49-F238E27FC236}">
                <a16:creationId xmlns:a16="http://schemas.microsoft.com/office/drawing/2014/main" id="{8ADBD74B-C3AF-4378-B24F-6FD53A17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Telefonda ve bilgisayarda</a:t>
            </a:r>
          </a:p>
        </p:txBody>
      </p:sp>
      <p:sp>
        <p:nvSpPr>
          <p:cNvPr id="7" name="tr-body">
            <a:extLst xmlns:a="http://schemas.openxmlformats.org/drawingml/2006/main">
              <a:ext uri="{FF2B5EF4-FFF2-40B4-BE49-F238E27FC236}">
                <a16:creationId xmlns:a16="http://schemas.microsoft.com/office/drawing/2014/main" id="{1665BE2B-2970-461C-9B94-E7EF3C9A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9607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Tarayıcıda iş arama ve profil oluşturmayı</a:t>
            </a:r>
          </a:p>
          <a:p xmlns:a="http://schemas.openxmlformats.org/drawingml/2006/main">
            <a:pPr>
              <a:defRPr sz="1950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anlatan video rehberi.</a:t>
            </a:r>
          </a:p>
        </p:txBody>
      </p:sp>
      <p:sp>
        <p:nvSpPr>
          <p:cNvPr id="8" name="tr-countries">
            <a:extLst xmlns:a="http://schemas.openxmlformats.org/drawingml/2006/main">
              <a:ext uri="{FF2B5EF4-FFF2-40B4-BE49-F238E27FC236}">
                <a16:creationId xmlns:a16="http://schemas.microsoft.com/office/drawing/2014/main" id="{147B6FEC-11EE-4E34-BAFA-74A84FD3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628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Planlanan coğrafya: Kazakistan, Türkiye ve BDT ülkeleri.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72cb2de0243d1"/>
          <a:stretch xmlns:a="http://schemas.openxmlformats.org/drawingml/2006/main"/>
        </p:blipFill>
        <p:spPr>
          <a:xfrm xmlns:a="http://schemas.openxmlformats.org/drawingml/2006/main">
            <a:off x="10668560" y="1533525"/>
            <a:ext cx="2989729" cy="5476875"/>
          </a:xfrm>
          <a:prstGeom xmlns:a="http://schemas.openxmlformats.org/drawingml/2006/main" prst="rect">
            <a:avLst/>
          </a:prstGeom>
        </p:spPr>
      </p:pic>
      <p:sp>
        <p:nvSpPr>
          <p:cNvPr id="10" name="ru-languages">
            <a:extLst xmlns:a="http://schemas.openxmlformats.org/drawingml/2006/main">
              <a:ext uri="{FF2B5EF4-FFF2-40B4-BE49-F238E27FC236}">
                <a16:creationId xmlns:a16="http://schemas.microsoft.com/office/drawing/2014/main" id="{F5079855-BFD6-4D50-ADEE-A3A2CABC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25805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Русский, қазақша, Türkçe, English</a:t>
            </a:r>
          </a:p>
        </p:txBody>
      </p:sp>
      <p:sp>
        <p:nvSpPr>
          <p:cNvPr id="11" name="tr-languages">
            <a:extLst xmlns:a="http://schemas.openxmlformats.org/drawingml/2006/main">
              <a:ext uri="{FF2B5EF4-FFF2-40B4-BE49-F238E27FC236}">
                <a16:creationId xmlns:a16="http://schemas.microsoft.com/office/drawing/2014/main" id="{04F3D72C-858A-41A3-B801-AAD6D833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6771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Planlanan arayüz dilleri</a:t>
            </a:r>
          </a:p>
        </p:txBody>
      </p:sp>
    </p:spTree>
    <p:extLst>
      <p:ext uri="{BB962C8B-B14F-4D97-AF65-F5344CB8AC3E}">
        <p14:creationId xmlns:p14="http://schemas.microsoft.com/office/powerpoint/2010/main" val="6309439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022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bb4eb29144ce0"/>
          <a:srcRect xmlns:a="http://schemas.openxmlformats.org/drawingml/2006/main" l="0" t="37298" r="0" b="37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438150"/>
            <a:ext cx="2362200" cy="600075"/>
          </a:xfrm>
          <a:prstGeom xmlns:a="http://schemas.openxmlformats.org/drawingml/2006/main" prst="rect">
            <a:avLst/>
          </a:prstGeom>
        </p:spPr>
      </p:pic>
      <p:sp>
        <p:nvSpPr>
          <p:cNvPr id="2" name="ru-title">
            <a:extLst xmlns:a="http://schemas.openxmlformats.org/drawingml/2006/main">
              <a:ext uri="{FF2B5EF4-FFF2-40B4-BE49-F238E27FC236}">
                <a16:creationId xmlns:a16="http://schemas.microsoft.com/office/drawing/2014/main" id="{512B20DA-06F8-4452-A314-F36BA50C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9775"/>
            <a:ext cx="1047750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Скоро</a:t>
            </a:r>
          </a:p>
        </p:txBody>
      </p:sp>
      <p:sp>
        <p:nvSpPr>
          <p:cNvPr id="3" name="ru-body">
            <a:extLst xmlns:a="http://schemas.openxmlformats.org/drawingml/2006/main">
              <a:ext uri="{FF2B5EF4-FFF2-40B4-BE49-F238E27FC236}">
                <a16:creationId xmlns:a16="http://schemas.microsoft.com/office/drawing/2014/main" id="{9D6BF0F8-20AA-41B6-AE47-04038E3A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1238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Open Consulting готовит платформу</a:t>
            </a:r>
          </a:p>
          <a:p xmlns:a="http://schemas.openxmlformats.org/drawingml/2006/main">
            <a:pPr>
              <a:defRPr sz="2700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для поиска работы и подбора сотрудников.</a:t>
            </a:r>
          </a:p>
        </p:txBody>
      </p:sp>
      <p:sp>
        <p:nvSpPr>
          <p:cNvPr id="4" name="tr-title">
            <a:extLst xmlns:a="http://schemas.openxmlformats.org/drawingml/2006/main">
              <a:ext uri="{FF2B5EF4-FFF2-40B4-BE49-F238E27FC236}">
                <a16:creationId xmlns:a16="http://schemas.microsoft.com/office/drawing/2014/main" id="{9998434C-2EF7-47B3-A1FF-4B9A2A48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104775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F665D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F665D"/>
                </a:solidFill>
                <a:latin typeface="Arial"/>
                <a:ea typeface="Arial"/>
                <a:cs typeface="Arial"/>
              </a:rPr>
              <a:t>Yakında</a:t>
            </a:r>
          </a:p>
        </p:txBody>
      </p:sp>
      <p:sp>
        <p:nvSpPr>
          <p:cNvPr id="5" name="tr-body">
            <a:extLst xmlns:a="http://schemas.openxmlformats.org/drawingml/2006/main">
              <a:ext uri="{FF2B5EF4-FFF2-40B4-BE49-F238E27FC236}">
                <a16:creationId xmlns:a16="http://schemas.microsoft.com/office/drawing/2014/main" id="{FFB42006-C448-46F5-A986-C69D62C0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05650"/>
            <a:ext cx="12382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Open Consulting, iş arama ve işe alım</a:t>
            </a:r>
          </a:p>
          <a:p xmlns:a="http://schemas.openxmlformats.org/drawingml/2006/main">
            <a:pPr>
              <a:defRPr sz="2250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için yeni bir platform hazırlıyor.</a:t>
            </a:r>
          </a:p>
        </p:txBody>
      </p:sp>
    </p:spTree>
    <p:extLst>
      <p:ext uri="{BB962C8B-B14F-4D97-AF65-F5344CB8AC3E}">
        <p14:creationId xmlns:p14="http://schemas.microsoft.com/office/powerpoint/2010/main" val="2756475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2026-10-04T11:40:53.7920000Z</dcterms:created>
  <dcterms:modified xsi:type="dcterms:W3CDTF">2026-10-04T11:40:53.7920000Z</dcterms:modified>
</coreProperties>
</file>